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584" r:id="rId3"/>
    <p:sldId id="586" r:id="rId4"/>
    <p:sldId id="258" r:id="rId5"/>
    <p:sldId id="608" r:id="rId6"/>
    <p:sldId id="260" r:id="rId7"/>
    <p:sldId id="591" r:id="rId8"/>
    <p:sldId id="259" r:id="rId9"/>
    <p:sldId id="592" r:id="rId10"/>
    <p:sldId id="261" r:id="rId11"/>
    <p:sldId id="587" r:id="rId12"/>
    <p:sldId id="588" r:id="rId13"/>
    <p:sldId id="262" r:id="rId14"/>
    <p:sldId id="263" r:id="rId15"/>
    <p:sldId id="265" r:id="rId16"/>
    <p:sldId id="609" r:id="rId17"/>
    <p:sldId id="266" r:id="rId18"/>
    <p:sldId id="589" r:id="rId19"/>
    <p:sldId id="300" r:id="rId20"/>
    <p:sldId id="268" r:id="rId21"/>
    <p:sldId id="610" r:id="rId22"/>
    <p:sldId id="611" r:id="rId23"/>
    <p:sldId id="604" r:id="rId24"/>
    <p:sldId id="603" r:id="rId25"/>
    <p:sldId id="605" r:id="rId26"/>
    <p:sldId id="269" r:id="rId27"/>
    <p:sldId id="612" r:id="rId28"/>
    <p:sldId id="270" r:id="rId29"/>
    <p:sldId id="590" r:id="rId30"/>
    <p:sldId id="613" r:id="rId31"/>
    <p:sldId id="281" r:id="rId32"/>
    <p:sldId id="607" r:id="rId33"/>
    <p:sldId id="276" r:id="rId34"/>
    <p:sldId id="271" r:id="rId35"/>
    <p:sldId id="596" r:id="rId36"/>
    <p:sldId id="606" r:id="rId37"/>
    <p:sldId id="599" r:id="rId38"/>
    <p:sldId id="598" r:id="rId39"/>
    <p:sldId id="600" r:id="rId40"/>
    <p:sldId id="593" r:id="rId41"/>
    <p:sldId id="601" r:id="rId42"/>
    <p:sldId id="595" r:id="rId43"/>
    <p:sldId id="60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0"/>
    <p:restoredTop sz="78980"/>
  </p:normalViewPr>
  <p:slideViewPr>
    <p:cSldViewPr snapToGrid="0">
      <p:cViewPr>
        <p:scale>
          <a:sx n="90" d="100"/>
          <a:sy n="90" d="100"/>
        </p:scale>
        <p:origin x="111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7AF1A-FF8E-EC4A-9A48-C9845A044AC3}" type="datetimeFigureOut">
              <a:rPr lang="en-US" smtClean="0"/>
              <a:t>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27A70F-33C7-F340-BD1C-F4C10BA1D780}" type="slidenum">
              <a:rPr lang="en-US" smtClean="0"/>
              <a:t>‹#›</a:t>
            </a:fld>
            <a:endParaRPr lang="en-US"/>
          </a:p>
        </p:txBody>
      </p:sp>
    </p:spTree>
    <p:extLst>
      <p:ext uri="{BB962C8B-B14F-4D97-AF65-F5344CB8AC3E}">
        <p14:creationId xmlns:p14="http://schemas.microsoft.com/office/powerpoint/2010/main" val="3774222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welcome to the afternoon lab for the CRISPR screening workshop. I thought it would be a good idea to make an interactive </a:t>
            </a:r>
            <a:r>
              <a:rPr lang="en-US" dirty="0" err="1"/>
              <a:t>colab</a:t>
            </a:r>
            <a:r>
              <a:rPr lang="en-US" dirty="0"/>
              <a:t> notebook for you all to go through that takes a deep dive into a CRISPR screen our lab has recently conducted and published a preprint on. On the </a:t>
            </a:r>
            <a:r>
              <a:rPr lang="en-US" dirty="0" err="1"/>
              <a:t>github</a:t>
            </a:r>
            <a:r>
              <a:rPr lang="en-US" dirty="0"/>
              <a:t> page, under materials, you can find a hyperlink to a </a:t>
            </a:r>
            <a:r>
              <a:rPr lang="en-US" dirty="0" err="1"/>
              <a:t>colab</a:t>
            </a:r>
            <a:r>
              <a:rPr lang="en-US" dirty="0"/>
              <a:t> notebook that we will use today. </a:t>
            </a:r>
          </a:p>
        </p:txBody>
      </p:sp>
      <p:sp>
        <p:nvSpPr>
          <p:cNvPr id="4" name="Slide Number Placeholder 3"/>
          <p:cNvSpPr>
            <a:spLocks noGrp="1"/>
          </p:cNvSpPr>
          <p:nvPr>
            <p:ph type="sldNum" sz="quarter" idx="5"/>
          </p:nvPr>
        </p:nvSpPr>
        <p:spPr/>
        <p:txBody>
          <a:bodyPr/>
          <a:lstStyle/>
          <a:p>
            <a:fld id="{D427A70F-33C7-F340-BD1C-F4C10BA1D780}" type="slidenum">
              <a:rPr lang="en-US" smtClean="0"/>
              <a:t>1</a:t>
            </a:fld>
            <a:endParaRPr lang="en-US"/>
          </a:p>
        </p:txBody>
      </p:sp>
    </p:spTree>
    <p:extLst>
      <p:ext uri="{BB962C8B-B14F-4D97-AF65-F5344CB8AC3E}">
        <p14:creationId xmlns:p14="http://schemas.microsoft.com/office/powerpoint/2010/main" val="1916660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6E08F-80EF-27D3-989B-E68FC1DBA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BB70E-9755-0D4F-3C4A-FD611573B0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E7D4EC-50CC-2FDE-E4B7-3265B19829CC}"/>
              </a:ext>
            </a:extLst>
          </p:cNvPr>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t>
            </a:r>
            <a:r>
              <a:rPr lang="en-US" sz="1200" dirty="0">
                <a:latin typeface="Calibri" panose="020F0502020204030204" pitchFamily="34" charset="0"/>
                <a:cs typeface="Calibri" panose="020F0502020204030204" pitchFamily="34" charset="0"/>
              </a:rPr>
              <a:t>Association methods (GWAS, QTLs, coding burden) not sufficiently powered to uncover variant effect even if we sequenced the genome of every human alive. </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LDLR is a protein that is essential in conversations surrounding heart disease because it removes “bad cholesterol”, or low density lipoprotein-associated cholesterol from the bloodstream. </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Specifically, what it does is it grabs onto cholesterol-containing particles called low density lipoproteins or LDLs and promotes the formation of a </a:t>
            </a:r>
            <a:r>
              <a:rPr lang="en-US" sz="1200" b="0" i="0" u="none" strike="noStrike" kern="1200" dirty="0" err="1">
                <a:solidFill>
                  <a:schemeClr val="tx1"/>
                </a:solidFill>
                <a:effectLst/>
                <a:latin typeface="+mn-lt"/>
                <a:ea typeface="+mn-ea"/>
                <a:cs typeface="+mn-cs"/>
              </a:rPr>
              <a:t>clathrin</a:t>
            </a:r>
            <a:r>
              <a:rPr lang="en-US" sz="1200" b="0" i="0" u="none" strike="noStrike" kern="1200" dirty="0">
                <a:solidFill>
                  <a:schemeClr val="tx1"/>
                </a:solidFill>
                <a:effectLst/>
                <a:latin typeface="+mn-lt"/>
                <a:ea typeface="+mn-ea"/>
                <a:cs typeface="+mn-cs"/>
              </a:rPr>
              <a:t>-coated vesicle which eventually fuses with an endosome, at which point the LDLR disengages from the LDL and gets brought back to the cell surface, thus recycling it and allowing it to be used again.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Because of LDLR’s key role in cholesterol homeostasis, any mutations that prevent its function could lead to a disease called familial hypercholesterolemia, which affects 1 in 300 people worldwide. Most FH cases are caused by LDLR mutations, but for various reasons about half of FH cases are undiagnosed. People with untreated heterozygous FH, which is a milder form of the disease than homozygous FH, have a 10-20 fold increased risk for premature coronary artery disease. Improved detection of FH would thus play a key role in improving the quality of life of anyone with the disease.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We are particularly interested in studying LDLR not only because of the potential medical applications but also because we have expertise in CRISPR screens, which would enable us to understand each LDLR variant’s effect on cholesterol uptake.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___________________________________________</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https://</a:t>
            </a:r>
            <a:r>
              <a:rPr lang="en-US" sz="1200" b="0" i="0" u="none" strike="noStrike" kern="1200" dirty="0" err="1">
                <a:solidFill>
                  <a:schemeClr val="tx1"/>
                </a:solidFill>
                <a:effectLst/>
                <a:latin typeface="+mn-lt"/>
                <a:ea typeface="+mn-ea"/>
                <a:cs typeface="+mn-cs"/>
              </a:rPr>
              <a:t>www.acc.org</a:t>
            </a:r>
            <a:r>
              <a:rPr lang="en-US" sz="1200" b="0" i="0" u="none" strike="noStrike" kern="1200" dirty="0">
                <a:solidFill>
                  <a:schemeClr val="tx1"/>
                </a:solidFill>
                <a:effectLst/>
                <a:latin typeface="+mn-lt"/>
                <a:ea typeface="+mn-ea"/>
                <a:cs typeface="+mn-cs"/>
              </a:rPr>
              <a:t>/Latest-in-Cardiology/Articles/2020/06/01/13/54/Familial-Hypercholesterolemia</a:t>
            </a:r>
          </a:p>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C0BF989-FBEE-39F1-90BC-532A6002634C}"/>
              </a:ext>
            </a:extLst>
          </p:cNvPr>
          <p:cNvSpPr>
            <a:spLocks noGrp="1"/>
          </p:cNvSpPr>
          <p:nvPr>
            <p:ph type="sldNum" sz="quarter" idx="5"/>
          </p:nvPr>
        </p:nvSpPr>
        <p:spPr/>
        <p:txBody>
          <a:bodyPr/>
          <a:lstStyle/>
          <a:p>
            <a:fld id="{37288A8C-2819-D342-800A-E5520481D198}" type="slidenum">
              <a:rPr lang="en-US" smtClean="0"/>
              <a:t>2</a:t>
            </a:fld>
            <a:endParaRPr lang="en-US"/>
          </a:p>
        </p:txBody>
      </p:sp>
    </p:spTree>
    <p:extLst>
      <p:ext uri="{BB962C8B-B14F-4D97-AF65-F5344CB8AC3E}">
        <p14:creationId xmlns:p14="http://schemas.microsoft.com/office/powerpoint/2010/main" val="4123531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Edit, sort, analyze</a:t>
            </a:r>
          </a:p>
          <a:p>
            <a:endParaRPr lang="en-US" dirty="0"/>
          </a:p>
          <a:p>
            <a:r>
              <a:rPr lang="en-US" dirty="0"/>
              <a:t>Edit: </a:t>
            </a:r>
            <a:br>
              <a:rPr lang="en-US" dirty="0"/>
            </a:br>
            <a:r>
              <a:rPr lang="en-US" dirty="0"/>
              <a:t>We generate a collection of lentiviruses, each encoding a different </a:t>
            </a:r>
            <a:r>
              <a:rPr lang="en-US" dirty="0" err="1"/>
              <a:t>pegRNA</a:t>
            </a:r>
            <a:r>
              <a:rPr lang="en-US" dirty="0"/>
              <a:t>, or prime editing guide RNA, that installs a different LDLR variant into the endogenous genome of human cells (HCT116). </a:t>
            </a:r>
          </a:p>
          <a:p>
            <a:endParaRPr lang="en-US" dirty="0"/>
          </a:p>
          <a:p>
            <a:r>
              <a:rPr lang="en-US" dirty="0"/>
              <a:t>Sort:</a:t>
            </a:r>
          </a:p>
          <a:p>
            <a:r>
              <a:rPr lang="en-US" dirty="0"/>
              <a:t>We feed HCT116 cells with fluorescent cholesterol, and these cells differentially uptake fluorescent cholesterol via endocytosis based on their different LDLR variants. We then sort the cells based on how fluorescent they are, and extract genomic DNA from these cells, to PCR amplify a segment of DNA that tells you what edit occurred and what </a:t>
            </a:r>
            <a:r>
              <a:rPr lang="en-US" dirty="0" err="1"/>
              <a:t>pegRNA</a:t>
            </a:r>
            <a:r>
              <a:rPr lang="en-US" dirty="0"/>
              <a:t> drove that edit. </a:t>
            </a:r>
          </a:p>
          <a:p>
            <a:endParaRPr lang="en-US" dirty="0"/>
          </a:p>
          <a:p>
            <a:r>
              <a:rPr lang="en-US" dirty="0"/>
              <a:t>Analyze:</a:t>
            </a:r>
          </a:p>
          <a:p>
            <a:r>
              <a:rPr lang="en-US" dirty="0"/>
              <a:t>Once we get the counts of each </a:t>
            </a:r>
            <a:r>
              <a:rPr lang="en-US" dirty="0" err="1"/>
              <a:t>pegRNA</a:t>
            </a:r>
            <a:r>
              <a:rPr lang="en-US" dirty="0"/>
              <a:t> in each of our sorted bins, we can take that data and feed it into a machine-learning based pipeline called BEAN which we will talk a little bit more about later, and </a:t>
            </a:r>
          </a:p>
        </p:txBody>
      </p:sp>
      <p:sp>
        <p:nvSpPr>
          <p:cNvPr id="4" name="Slide Number Placeholder 3"/>
          <p:cNvSpPr>
            <a:spLocks noGrp="1"/>
          </p:cNvSpPr>
          <p:nvPr>
            <p:ph type="sldNum" sz="quarter" idx="5"/>
          </p:nvPr>
        </p:nvSpPr>
        <p:spPr/>
        <p:txBody>
          <a:bodyPr/>
          <a:lstStyle/>
          <a:p>
            <a:fld id="{D427A70F-33C7-F340-BD1C-F4C10BA1D780}" type="slidenum">
              <a:rPr lang="en-US" smtClean="0"/>
              <a:t>3</a:t>
            </a:fld>
            <a:endParaRPr lang="en-US"/>
          </a:p>
        </p:txBody>
      </p:sp>
    </p:spTree>
    <p:extLst>
      <p:ext uri="{BB962C8B-B14F-4D97-AF65-F5344CB8AC3E}">
        <p14:creationId xmlns:p14="http://schemas.microsoft.com/office/powerpoint/2010/main" val="4168921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6</a:t>
            </a:fld>
            <a:endParaRPr lang="en-US"/>
          </a:p>
        </p:txBody>
      </p:sp>
    </p:spTree>
    <p:extLst>
      <p:ext uri="{BB962C8B-B14F-4D97-AF65-F5344CB8AC3E}">
        <p14:creationId xmlns:p14="http://schemas.microsoft.com/office/powerpoint/2010/main" val="4052925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Synonymous and </a:t>
            </a:r>
            <a:r>
              <a:rPr lang="en-US" dirty="0" err="1"/>
              <a:t>ClinVar</a:t>
            </a:r>
            <a:r>
              <a:rPr lang="en-US" dirty="0"/>
              <a:t> benign variants are negative controls</a:t>
            </a:r>
          </a:p>
          <a:p>
            <a:endParaRPr lang="en-US" dirty="0"/>
          </a:p>
          <a:p>
            <a:r>
              <a:rPr lang="en-US" dirty="0"/>
              <a:t>How did we decide on the specific </a:t>
            </a:r>
            <a:r>
              <a:rPr lang="en-US" dirty="0" err="1"/>
              <a:t>pegRNAs</a:t>
            </a:r>
            <a:r>
              <a:rPr lang="en-US" dirty="0"/>
              <a:t> used? </a:t>
            </a:r>
          </a:p>
        </p:txBody>
      </p:sp>
      <p:sp>
        <p:nvSpPr>
          <p:cNvPr id="4" name="Slide Number Placeholder 3"/>
          <p:cNvSpPr>
            <a:spLocks noGrp="1"/>
          </p:cNvSpPr>
          <p:nvPr>
            <p:ph type="sldNum" sz="quarter" idx="5"/>
          </p:nvPr>
        </p:nvSpPr>
        <p:spPr/>
        <p:txBody>
          <a:bodyPr/>
          <a:lstStyle/>
          <a:p>
            <a:fld id="{D427A70F-33C7-F340-BD1C-F4C10BA1D780}" type="slidenum">
              <a:rPr lang="en-US" smtClean="0"/>
              <a:t>7</a:t>
            </a:fld>
            <a:endParaRPr lang="en-US"/>
          </a:p>
        </p:txBody>
      </p:sp>
    </p:spTree>
    <p:extLst>
      <p:ext uri="{BB962C8B-B14F-4D97-AF65-F5344CB8AC3E}">
        <p14:creationId xmlns:p14="http://schemas.microsoft.com/office/powerpoint/2010/main" val="1401412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Given the prime edits we want to induce, what is the best one for the job? </a:t>
            </a:r>
          </a:p>
          <a:p>
            <a:endParaRPr lang="en-US" dirty="0"/>
          </a:p>
          <a:p>
            <a:r>
              <a:rPr lang="en-US" dirty="0"/>
              <a:t>MMR is a determinant of prime editing efficiency </a:t>
            </a:r>
          </a:p>
          <a:p>
            <a:r>
              <a:rPr lang="en-US" dirty="0"/>
              <a:t>Notice that the MMR proficient PRIDICT scores are substantially lower than the MMR deficient ones</a:t>
            </a:r>
          </a:p>
        </p:txBody>
      </p:sp>
      <p:sp>
        <p:nvSpPr>
          <p:cNvPr id="4" name="Slide Number Placeholder 3"/>
          <p:cNvSpPr>
            <a:spLocks noGrp="1"/>
          </p:cNvSpPr>
          <p:nvPr>
            <p:ph type="sldNum" sz="quarter" idx="5"/>
          </p:nvPr>
        </p:nvSpPr>
        <p:spPr/>
        <p:txBody>
          <a:bodyPr/>
          <a:lstStyle/>
          <a:p>
            <a:fld id="{D427A70F-33C7-F340-BD1C-F4C10BA1D780}" type="slidenum">
              <a:rPr lang="en-US" smtClean="0"/>
              <a:t>8</a:t>
            </a:fld>
            <a:endParaRPr lang="en-US"/>
          </a:p>
        </p:txBody>
      </p:sp>
    </p:spTree>
    <p:extLst>
      <p:ext uri="{BB962C8B-B14F-4D97-AF65-F5344CB8AC3E}">
        <p14:creationId xmlns:p14="http://schemas.microsoft.com/office/powerpoint/2010/main" val="3437728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lot of points that have high PRIDICT scores, yet low editing. </a:t>
            </a:r>
          </a:p>
        </p:txBody>
      </p:sp>
      <p:sp>
        <p:nvSpPr>
          <p:cNvPr id="4" name="Slide Number Placeholder 3"/>
          <p:cNvSpPr>
            <a:spLocks noGrp="1"/>
          </p:cNvSpPr>
          <p:nvPr>
            <p:ph type="sldNum" sz="quarter" idx="5"/>
          </p:nvPr>
        </p:nvSpPr>
        <p:spPr/>
        <p:txBody>
          <a:bodyPr/>
          <a:lstStyle/>
          <a:p>
            <a:fld id="{D427A70F-33C7-F340-BD1C-F4C10BA1D780}" type="slidenum">
              <a:rPr lang="en-US" smtClean="0"/>
              <a:t>9</a:t>
            </a:fld>
            <a:endParaRPr lang="en-US"/>
          </a:p>
        </p:txBody>
      </p:sp>
    </p:spTree>
    <p:extLst>
      <p:ext uri="{BB962C8B-B14F-4D97-AF65-F5344CB8AC3E}">
        <p14:creationId xmlns:p14="http://schemas.microsoft.com/office/powerpoint/2010/main" val="149935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Variant information</a:t>
            </a:r>
          </a:p>
          <a:p>
            <a:endParaRPr lang="en-US" dirty="0"/>
          </a:p>
          <a:p>
            <a:r>
              <a:rPr lang="en-US" dirty="0"/>
              <a:t>What is the mutation induced?</a:t>
            </a:r>
          </a:p>
          <a:p>
            <a:r>
              <a:rPr lang="en-US" dirty="0"/>
              <a:t>Domain info: Is the mutation occurring within a well-defined structural domain of LDLR? </a:t>
            </a:r>
          </a:p>
        </p:txBody>
      </p:sp>
      <p:sp>
        <p:nvSpPr>
          <p:cNvPr id="4" name="Slide Number Placeholder 3"/>
          <p:cNvSpPr>
            <a:spLocks noGrp="1"/>
          </p:cNvSpPr>
          <p:nvPr>
            <p:ph type="sldNum" sz="quarter" idx="5"/>
          </p:nvPr>
        </p:nvSpPr>
        <p:spPr/>
        <p:txBody>
          <a:bodyPr/>
          <a:lstStyle/>
          <a:p>
            <a:fld id="{D427A70F-33C7-F340-BD1C-F4C10BA1D780}" type="slidenum">
              <a:rPr lang="en-US" smtClean="0"/>
              <a:t>13</a:t>
            </a:fld>
            <a:endParaRPr lang="en-US"/>
          </a:p>
        </p:txBody>
      </p:sp>
    </p:spTree>
    <p:extLst>
      <p:ext uri="{BB962C8B-B14F-4D97-AF65-F5344CB8AC3E}">
        <p14:creationId xmlns:p14="http://schemas.microsoft.com/office/powerpoint/2010/main" val="1760500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14</a:t>
            </a:fld>
            <a:endParaRPr lang="en-US"/>
          </a:p>
        </p:txBody>
      </p:sp>
    </p:spTree>
    <p:extLst>
      <p:ext uri="{BB962C8B-B14F-4D97-AF65-F5344CB8AC3E}">
        <p14:creationId xmlns:p14="http://schemas.microsoft.com/office/powerpoint/2010/main" val="970857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79K proteins containing LDLR class A repeat used to generate PFAM motif representing the probability of finding each AA at each position</a:t>
            </a:r>
          </a:p>
          <a:p>
            <a:pPr marL="285750" indent="-285750">
              <a:buFont typeface="Arial" panose="020B0604020202020204" pitchFamily="34" charset="0"/>
              <a:buChar char="•"/>
            </a:pPr>
            <a:r>
              <a:rPr lang="en-US" dirty="0"/>
              <a:t>In the PFAM scoring matrix, 0 means every single sequence has residue X at position N. 6 means residue X is never observed at position N.  </a:t>
            </a:r>
          </a:p>
          <a:p>
            <a:pPr marL="285750" indent="-285750">
              <a:buFont typeface="Arial" panose="020B0604020202020204" pitchFamily="34" charset="0"/>
              <a:buChar char="•"/>
            </a:pPr>
            <a:r>
              <a:rPr lang="en-US" dirty="0"/>
              <a:t>Differential PFAM = Variant score – WT score</a:t>
            </a:r>
          </a:p>
          <a:p>
            <a:pPr marL="742950" lvl="1" indent="-285750">
              <a:buFont typeface="Arial" panose="020B0604020202020204" pitchFamily="34" charset="0"/>
              <a:buChar char="•"/>
            </a:pPr>
            <a:r>
              <a:rPr lang="en-US" dirty="0"/>
              <a:t>Negative DPFAM =&gt; Increased conservation</a:t>
            </a:r>
          </a:p>
          <a:p>
            <a:pPr marL="742950" lvl="1" indent="-285750">
              <a:buFont typeface="Arial" panose="020B0604020202020204" pitchFamily="34" charset="0"/>
              <a:buChar char="•"/>
            </a:pPr>
            <a:r>
              <a:rPr lang="en-US" dirty="0"/>
              <a:t>Positive DPFAM =&gt; Decreased conservation</a:t>
            </a:r>
          </a:p>
          <a:p>
            <a:pPr marL="285750" indent="-285750">
              <a:buFont typeface="Arial" panose="020B0604020202020204" pitchFamily="34" charset="0"/>
              <a:buChar char="•"/>
            </a:pPr>
            <a:r>
              <a:rPr lang="en-US" dirty="0"/>
              <a:t>Differential PFAM correlates with our functional scores</a:t>
            </a:r>
          </a:p>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15</a:t>
            </a:fld>
            <a:endParaRPr lang="en-US"/>
          </a:p>
        </p:txBody>
      </p:sp>
    </p:spTree>
    <p:extLst>
      <p:ext uri="{BB962C8B-B14F-4D97-AF65-F5344CB8AC3E}">
        <p14:creationId xmlns:p14="http://schemas.microsoft.com/office/powerpoint/2010/main" val="4212913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A583-04BA-DD19-4B31-E27FFF3AC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623FB-59B5-4A0C-05F5-8920E4E9E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F2E66-1A14-FC2C-E73E-AA0138F2BF4D}"/>
              </a:ext>
            </a:extLst>
          </p:cNvPr>
          <p:cNvSpPr>
            <a:spLocks noGrp="1"/>
          </p:cNvSpPr>
          <p:nvPr>
            <p:ph type="body" idx="1"/>
          </p:nvPr>
        </p:nvSpPr>
        <p:spPr/>
        <p:txBody>
          <a:bodyPr/>
          <a:lstStyle/>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PCSK9 binds to LDLR and targets it for degradation (preventing SNX17-mediated LDLR recycling)</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MYLIP ubiquitinates LDLR and targets it for degradation</a:t>
            </a:r>
          </a:p>
        </p:txBody>
      </p:sp>
      <p:sp>
        <p:nvSpPr>
          <p:cNvPr id="4" name="Slide Number Placeholder 3">
            <a:extLst>
              <a:ext uri="{FF2B5EF4-FFF2-40B4-BE49-F238E27FC236}">
                <a16:creationId xmlns:a16="http://schemas.microsoft.com/office/drawing/2014/main" id="{692044A8-7D50-5BD2-BDD2-A722FB901529}"/>
              </a:ext>
            </a:extLst>
          </p:cNvPr>
          <p:cNvSpPr>
            <a:spLocks noGrp="1"/>
          </p:cNvSpPr>
          <p:nvPr>
            <p:ph type="sldNum" sz="quarter" idx="5"/>
          </p:nvPr>
        </p:nvSpPr>
        <p:spPr/>
        <p:txBody>
          <a:bodyPr/>
          <a:lstStyle/>
          <a:p>
            <a:fld id="{66FDC576-0133-6D42-87C0-26DAD32F550B}" type="slidenum">
              <a:t>19</a:t>
            </a:fld>
            <a:endParaRPr lang="en-GB"/>
          </a:p>
        </p:txBody>
      </p:sp>
    </p:spTree>
    <p:extLst>
      <p:ext uri="{BB962C8B-B14F-4D97-AF65-F5344CB8AC3E}">
        <p14:creationId xmlns:p14="http://schemas.microsoft.com/office/powerpoint/2010/main" val="2039444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solved co-structure of LDLR-APOB</a:t>
            </a:r>
          </a:p>
          <a:p>
            <a:r>
              <a:rPr lang="en-US" dirty="0"/>
              <a:t>There is not a solved co-structure of LDLR-APOE, which precludes structural analysis</a:t>
            </a:r>
          </a:p>
        </p:txBody>
      </p:sp>
      <p:sp>
        <p:nvSpPr>
          <p:cNvPr id="4" name="Slide Number Placeholder 3"/>
          <p:cNvSpPr>
            <a:spLocks noGrp="1"/>
          </p:cNvSpPr>
          <p:nvPr>
            <p:ph type="sldNum" sz="quarter" idx="5"/>
          </p:nvPr>
        </p:nvSpPr>
        <p:spPr/>
        <p:txBody>
          <a:bodyPr/>
          <a:lstStyle/>
          <a:p>
            <a:fld id="{D427A70F-33C7-F340-BD1C-F4C10BA1D780}" type="slidenum">
              <a:rPr lang="en-US" smtClean="0"/>
              <a:t>20</a:t>
            </a:fld>
            <a:endParaRPr lang="en-US"/>
          </a:p>
        </p:txBody>
      </p:sp>
    </p:spTree>
    <p:extLst>
      <p:ext uri="{BB962C8B-B14F-4D97-AF65-F5344CB8AC3E}">
        <p14:creationId xmlns:p14="http://schemas.microsoft.com/office/powerpoint/2010/main" val="2747033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Deep mutational scanning draws on high-throughput DNA sequencing to assess the functional capacity of a large number of variants of a protein simultaneously. First, a library of protein variants is created and introduced into a system where the genotype of each variant is linked to a selectable phenotype. Second, a selection for the function of the protein is imposed. Variants with high activity increase in frequency, whereas variants with low activity decrease in frequency. High-throughput DNA sequencing is used to measure the frequency of each variant before and after selection. These frequency data are analyzed to generate functional score for each of the protein variants.</a:t>
            </a:r>
            <a:endParaRPr lang="en-US" dirty="0"/>
          </a:p>
          <a:p>
            <a:endParaRPr lang="en-US" dirty="0"/>
          </a:p>
          <a:p>
            <a:r>
              <a:rPr lang="en-US" dirty="0"/>
              <a:t>Simpler to do compared to the other approaches</a:t>
            </a:r>
          </a:p>
          <a:p>
            <a:endParaRPr lang="en-US" dirty="0"/>
          </a:p>
          <a:p>
            <a:r>
              <a:rPr lang="en-US" dirty="0"/>
              <a:t>Downside: </a:t>
            </a:r>
          </a:p>
          <a:p>
            <a:r>
              <a:rPr lang="en-US" dirty="0"/>
              <a:t>If you have a lot of points per position, it may be hard to distinguish individual variants</a:t>
            </a:r>
          </a:p>
          <a:p>
            <a:r>
              <a:rPr lang="en-US" dirty="0"/>
              <a:t>This is a convenient way to highlight top GOF variants because they all lie roughly about a BEAN z score of 5, which you can easily see</a:t>
            </a:r>
          </a:p>
        </p:txBody>
      </p:sp>
      <p:sp>
        <p:nvSpPr>
          <p:cNvPr id="4" name="Slide Number Placeholder 3"/>
          <p:cNvSpPr>
            <a:spLocks noGrp="1"/>
          </p:cNvSpPr>
          <p:nvPr>
            <p:ph type="sldNum" sz="quarter" idx="5"/>
          </p:nvPr>
        </p:nvSpPr>
        <p:spPr/>
        <p:txBody>
          <a:bodyPr/>
          <a:lstStyle/>
          <a:p>
            <a:fld id="{D427A70F-33C7-F340-BD1C-F4C10BA1D780}" type="slidenum">
              <a:rPr lang="en-US" smtClean="0"/>
              <a:t>23</a:t>
            </a:fld>
            <a:endParaRPr lang="en-US"/>
          </a:p>
        </p:txBody>
      </p:sp>
    </p:spTree>
    <p:extLst>
      <p:ext uri="{BB962C8B-B14F-4D97-AF65-F5344CB8AC3E}">
        <p14:creationId xmlns:p14="http://schemas.microsoft.com/office/powerpoint/2010/main" val="1830366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Particularly good if you want to plot data for all 20 amino acids at one time. </a:t>
            </a:r>
          </a:p>
          <a:p>
            <a:endParaRPr lang="en-US" dirty="0"/>
          </a:p>
          <a:p>
            <a:r>
              <a:rPr lang="en-US" dirty="0"/>
              <a:t>This is a figure from a paper that also came out on LDLR DMS </a:t>
            </a:r>
          </a:p>
          <a:p>
            <a:endParaRPr lang="en-US" dirty="0"/>
          </a:p>
          <a:p>
            <a:r>
              <a:rPr lang="en-US" dirty="0"/>
              <a:t>Really nicely illustrates that </a:t>
            </a:r>
          </a:p>
        </p:txBody>
      </p:sp>
      <p:sp>
        <p:nvSpPr>
          <p:cNvPr id="4" name="Slide Number Placeholder 3"/>
          <p:cNvSpPr>
            <a:spLocks noGrp="1"/>
          </p:cNvSpPr>
          <p:nvPr>
            <p:ph type="sldNum" sz="quarter" idx="5"/>
          </p:nvPr>
        </p:nvSpPr>
        <p:spPr/>
        <p:txBody>
          <a:bodyPr/>
          <a:lstStyle/>
          <a:p>
            <a:fld id="{D427A70F-33C7-F340-BD1C-F4C10BA1D780}" type="slidenum">
              <a:rPr lang="en-US" smtClean="0"/>
              <a:t>24</a:t>
            </a:fld>
            <a:endParaRPr lang="en-US"/>
          </a:p>
        </p:txBody>
      </p:sp>
    </p:spTree>
    <p:extLst>
      <p:ext uri="{BB962C8B-B14F-4D97-AF65-F5344CB8AC3E}">
        <p14:creationId xmlns:p14="http://schemas.microsoft.com/office/powerpoint/2010/main" val="2652941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this in </a:t>
            </a:r>
            <a:r>
              <a:rPr lang="en-US" dirty="0" err="1"/>
              <a:t>PyMOL</a:t>
            </a:r>
            <a:r>
              <a:rPr lang="en-US" dirty="0"/>
              <a:t>. Not sure if you can do this in </a:t>
            </a:r>
            <a:r>
              <a:rPr lang="en-US" dirty="0" err="1"/>
              <a:t>ChimeraX</a:t>
            </a:r>
            <a:endParaRPr lang="en-US" dirty="0"/>
          </a:p>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25</a:t>
            </a:fld>
            <a:endParaRPr lang="en-US"/>
          </a:p>
        </p:txBody>
      </p:sp>
    </p:spTree>
    <p:extLst>
      <p:ext uri="{BB962C8B-B14F-4D97-AF65-F5344CB8AC3E}">
        <p14:creationId xmlns:p14="http://schemas.microsoft.com/office/powerpoint/2010/main" val="1808923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paradigms for protein structure prediction/protein design</a:t>
            </a:r>
          </a:p>
          <a:p>
            <a:endParaRPr lang="en-US" dirty="0"/>
          </a:p>
          <a:p>
            <a:r>
              <a:rPr lang="en-US" dirty="0"/>
              <a:t>Physics-based </a:t>
            </a:r>
          </a:p>
          <a:p>
            <a:r>
              <a:rPr lang="en-US" dirty="0"/>
              <a:t>Rosetta (David Baker/physics-based algorithm design). Old school</a:t>
            </a:r>
          </a:p>
          <a:p>
            <a:r>
              <a:rPr lang="en-US" dirty="0" err="1"/>
              <a:t>FoldX</a:t>
            </a:r>
            <a:endParaRPr lang="en-US" dirty="0"/>
          </a:p>
          <a:p>
            <a:endParaRPr lang="en-US" dirty="0"/>
          </a:p>
          <a:p>
            <a:r>
              <a:rPr lang="en-US" dirty="0"/>
              <a:t>ML-based</a:t>
            </a:r>
          </a:p>
          <a:p>
            <a:r>
              <a:rPr lang="en-US" dirty="0"/>
              <a:t>Ligand MPNN, </a:t>
            </a:r>
            <a:r>
              <a:rPr lang="en-US" dirty="0" err="1"/>
              <a:t>ProteinMPNN</a:t>
            </a:r>
            <a:r>
              <a:rPr lang="en-US" dirty="0"/>
              <a:t>, etc.</a:t>
            </a:r>
          </a:p>
          <a:p>
            <a:r>
              <a:rPr lang="en-US" dirty="0" err="1"/>
              <a:t>DDMut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26</a:t>
            </a:fld>
            <a:endParaRPr lang="en-US"/>
          </a:p>
        </p:txBody>
      </p:sp>
    </p:spTree>
    <p:extLst>
      <p:ext uri="{BB962C8B-B14F-4D97-AF65-F5344CB8AC3E}">
        <p14:creationId xmlns:p14="http://schemas.microsoft.com/office/powerpoint/2010/main" val="37534478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2190-E848-5F5F-3524-86F3D08E6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C1A55-E787-DF90-5113-50A95E93C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EC182-00B9-AA0E-42D4-47F713B9B595}"/>
              </a:ext>
            </a:extLst>
          </p:cNvPr>
          <p:cNvSpPr>
            <a:spLocks noGrp="1"/>
          </p:cNvSpPr>
          <p:nvPr>
            <p:ph type="body" idx="1"/>
          </p:nvPr>
        </p:nvSpPr>
        <p:spPr/>
        <p:txBody>
          <a:bodyPr/>
          <a:lstStyle/>
          <a:p>
            <a:r>
              <a:rPr lang="en-US" dirty="0"/>
              <a:t>Beta-barrel binds to LDL and helps mediate conformational changes during LDLR internalization into the endosome. </a:t>
            </a:r>
          </a:p>
          <a:p>
            <a:r>
              <a:rPr lang="en-US" dirty="0"/>
              <a:t>NPXY motif is essential for LDL internalization </a:t>
            </a:r>
          </a:p>
        </p:txBody>
      </p:sp>
      <p:sp>
        <p:nvSpPr>
          <p:cNvPr id="4" name="Slide Number Placeholder 3">
            <a:extLst>
              <a:ext uri="{FF2B5EF4-FFF2-40B4-BE49-F238E27FC236}">
                <a16:creationId xmlns:a16="http://schemas.microsoft.com/office/drawing/2014/main" id="{6534FE0A-AFA5-3169-0863-9D41AD41116B}"/>
              </a:ext>
            </a:extLst>
          </p:cNvPr>
          <p:cNvSpPr>
            <a:spLocks noGrp="1"/>
          </p:cNvSpPr>
          <p:nvPr>
            <p:ph type="sldNum" sz="quarter" idx="5"/>
          </p:nvPr>
        </p:nvSpPr>
        <p:spPr/>
        <p:txBody>
          <a:bodyPr/>
          <a:lstStyle/>
          <a:p>
            <a:fld id="{0DEFD50C-7D88-424E-B92B-99D8CA57E3F5}" type="slidenum">
              <a:rPr lang="en-US" smtClean="0"/>
              <a:t>31</a:t>
            </a:fld>
            <a:endParaRPr lang="en-US"/>
          </a:p>
        </p:txBody>
      </p:sp>
    </p:spTree>
    <p:extLst>
      <p:ext uri="{BB962C8B-B14F-4D97-AF65-F5344CB8AC3E}">
        <p14:creationId xmlns:p14="http://schemas.microsoft.com/office/powerpoint/2010/main" val="1817330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 ratios of post/pre-selection frequency calculated for each barcode</a:t>
            </a:r>
          </a:p>
          <a:p>
            <a:endParaRPr lang="en-US" dirty="0"/>
          </a:p>
          <a:p>
            <a:r>
              <a:rPr lang="en-US" dirty="0"/>
              <a:t>Log ratios for BEAN</a:t>
            </a:r>
          </a:p>
        </p:txBody>
      </p:sp>
      <p:sp>
        <p:nvSpPr>
          <p:cNvPr id="4" name="Slide Number Placeholder 3"/>
          <p:cNvSpPr>
            <a:spLocks noGrp="1"/>
          </p:cNvSpPr>
          <p:nvPr>
            <p:ph type="sldNum" sz="quarter" idx="5"/>
          </p:nvPr>
        </p:nvSpPr>
        <p:spPr/>
        <p:txBody>
          <a:bodyPr/>
          <a:lstStyle/>
          <a:p>
            <a:fld id="{0DEFD50C-7D88-424E-B92B-99D8CA57E3F5}" type="slidenum">
              <a:rPr lang="en-US" smtClean="0"/>
              <a:t>33</a:t>
            </a:fld>
            <a:endParaRPr lang="en-US"/>
          </a:p>
        </p:txBody>
      </p:sp>
    </p:spTree>
    <p:extLst>
      <p:ext uri="{BB962C8B-B14F-4D97-AF65-F5344CB8AC3E}">
        <p14:creationId xmlns:p14="http://schemas.microsoft.com/office/powerpoint/2010/main" val="2708811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model trained on human and mouse genomes</a:t>
            </a:r>
          </a:p>
          <a:p>
            <a:endParaRPr lang="en-US" dirty="0"/>
          </a:p>
          <a:p>
            <a:r>
              <a:rPr lang="en-US" dirty="0"/>
              <a:t>Takes as input 1 megabase of DNA sequence and predicts epigenetic features of the input of many different modalities, such as gene expression, chromatin contact maps, and splice site usage. </a:t>
            </a:r>
          </a:p>
          <a:p>
            <a:endParaRPr lang="en-US" dirty="0"/>
          </a:p>
          <a:p>
            <a:r>
              <a:rPr lang="en-US" dirty="0"/>
              <a:t>In particular, we wanted to use splice site usage prediction for our study. </a:t>
            </a:r>
          </a:p>
        </p:txBody>
      </p:sp>
      <p:sp>
        <p:nvSpPr>
          <p:cNvPr id="4" name="Slide Number Placeholder 3"/>
          <p:cNvSpPr>
            <a:spLocks noGrp="1"/>
          </p:cNvSpPr>
          <p:nvPr>
            <p:ph type="sldNum" sz="quarter" idx="5"/>
          </p:nvPr>
        </p:nvSpPr>
        <p:spPr/>
        <p:txBody>
          <a:bodyPr/>
          <a:lstStyle/>
          <a:p>
            <a:fld id="{D427A70F-33C7-F340-BD1C-F4C10BA1D780}" type="slidenum">
              <a:rPr lang="en-US" smtClean="0"/>
              <a:t>35</a:t>
            </a:fld>
            <a:endParaRPr lang="en-US"/>
          </a:p>
        </p:txBody>
      </p:sp>
    </p:spTree>
    <p:extLst>
      <p:ext uri="{BB962C8B-B14F-4D97-AF65-F5344CB8AC3E}">
        <p14:creationId xmlns:p14="http://schemas.microsoft.com/office/powerpoint/2010/main" val="682514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27A70F-33C7-F340-BD1C-F4C10BA1D780}" type="slidenum">
              <a:rPr lang="en-US" smtClean="0"/>
              <a:t>36</a:t>
            </a:fld>
            <a:endParaRPr lang="en-US"/>
          </a:p>
        </p:txBody>
      </p:sp>
    </p:spTree>
    <p:extLst>
      <p:ext uri="{BB962C8B-B14F-4D97-AF65-F5344CB8AC3E}">
        <p14:creationId xmlns:p14="http://schemas.microsoft.com/office/powerpoint/2010/main" val="2368483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F2252-6A47-617B-8C1A-873589FA5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205BA-D779-048D-96C4-9E60555B3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CF5D1-7D35-2ACE-A50E-1DAC8620CD15}"/>
              </a:ext>
            </a:extLst>
          </p:cNvPr>
          <p:cNvSpPr>
            <a:spLocks noGrp="1"/>
          </p:cNvSpPr>
          <p:nvPr>
            <p:ph type="body" idx="1"/>
          </p:nvPr>
        </p:nvSpPr>
        <p:spPr/>
        <p:txBody>
          <a:bodyPr/>
          <a:lstStyle/>
          <a:p>
            <a:r>
              <a:rPr lang="en-US" dirty="0"/>
              <a:t>https://</a:t>
            </a:r>
            <a:r>
              <a:rPr lang="en-US" dirty="0" err="1"/>
              <a:t>oncodaily.com</a:t>
            </a:r>
            <a:r>
              <a:rPr lang="en-US" dirty="0"/>
              <a:t>/insight/26987</a:t>
            </a:r>
          </a:p>
        </p:txBody>
      </p:sp>
      <p:sp>
        <p:nvSpPr>
          <p:cNvPr id="4" name="Slide Number Placeholder 3">
            <a:extLst>
              <a:ext uri="{FF2B5EF4-FFF2-40B4-BE49-F238E27FC236}">
                <a16:creationId xmlns:a16="http://schemas.microsoft.com/office/drawing/2014/main" id="{67B02EF3-47F0-2303-4D8F-7134098A3BC1}"/>
              </a:ext>
            </a:extLst>
          </p:cNvPr>
          <p:cNvSpPr>
            <a:spLocks noGrp="1"/>
          </p:cNvSpPr>
          <p:nvPr>
            <p:ph type="sldNum" sz="quarter" idx="5"/>
          </p:nvPr>
        </p:nvSpPr>
        <p:spPr/>
        <p:txBody>
          <a:bodyPr/>
          <a:lstStyle/>
          <a:p>
            <a:fld id="{D427A70F-33C7-F340-BD1C-F4C10BA1D780}" type="slidenum">
              <a:rPr lang="en-US" smtClean="0"/>
              <a:t>37</a:t>
            </a:fld>
            <a:endParaRPr lang="en-US"/>
          </a:p>
        </p:txBody>
      </p:sp>
    </p:spTree>
    <p:extLst>
      <p:ext uri="{BB962C8B-B14F-4D97-AF65-F5344CB8AC3E}">
        <p14:creationId xmlns:p14="http://schemas.microsoft.com/office/powerpoint/2010/main" val="18328070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696A-6595-346D-B1D3-FB025D7C8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DE22E-9555-3D0D-729D-4BC26FF40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44F70-946E-44D3-F654-9C84571FE33C}"/>
              </a:ext>
            </a:extLst>
          </p:cNvPr>
          <p:cNvSpPr>
            <a:spLocks noGrp="1"/>
          </p:cNvSpPr>
          <p:nvPr>
            <p:ph type="body" idx="1"/>
          </p:nvPr>
        </p:nvSpPr>
        <p:spPr/>
        <p:txBody>
          <a:bodyPr/>
          <a:lstStyle/>
          <a:p>
            <a:r>
              <a:rPr lang="en-US" dirty="0"/>
              <a:t>https://</a:t>
            </a:r>
            <a:r>
              <a:rPr lang="en-US" dirty="0" err="1"/>
              <a:t>oncodaily.com</a:t>
            </a:r>
            <a:r>
              <a:rPr lang="en-US" dirty="0"/>
              <a:t>/insight/26987</a:t>
            </a:r>
          </a:p>
        </p:txBody>
      </p:sp>
      <p:sp>
        <p:nvSpPr>
          <p:cNvPr id="4" name="Slide Number Placeholder 3">
            <a:extLst>
              <a:ext uri="{FF2B5EF4-FFF2-40B4-BE49-F238E27FC236}">
                <a16:creationId xmlns:a16="http://schemas.microsoft.com/office/drawing/2014/main" id="{BFA0829A-F5CB-D897-731D-FD403118FA96}"/>
              </a:ext>
            </a:extLst>
          </p:cNvPr>
          <p:cNvSpPr>
            <a:spLocks noGrp="1"/>
          </p:cNvSpPr>
          <p:nvPr>
            <p:ph type="sldNum" sz="quarter" idx="5"/>
          </p:nvPr>
        </p:nvSpPr>
        <p:spPr/>
        <p:txBody>
          <a:bodyPr/>
          <a:lstStyle/>
          <a:p>
            <a:fld id="{D427A70F-33C7-F340-BD1C-F4C10BA1D780}" type="slidenum">
              <a:rPr lang="en-US" smtClean="0"/>
              <a:t>38</a:t>
            </a:fld>
            <a:endParaRPr lang="en-US"/>
          </a:p>
        </p:txBody>
      </p:sp>
    </p:spTree>
    <p:extLst>
      <p:ext uri="{BB962C8B-B14F-4D97-AF65-F5344CB8AC3E}">
        <p14:creationId xmlns:p14="http://schemas.microsoft.com/office/powerpoint/2010/main" val="3270682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3DEB-1A7F-30AA-41B6-CDF33AB1B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5217C-B660-5485-16D7-6F25C7AB0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21E8C-D4C3-6611-2459-DBBDC4372B63}"/>
              </a:ext>
            </a:extLst>
          </p:cNvPr>
          <p:cNvSpPr>
            <a:spLocks noGrp="1"/>
          </p:cNvSpPr>
          <p:nvPr>
            <p:ph type="body" idx="1"/>
          </p:nvPr>
        </p:nvSpPr>
        <p:spPr/>
        <p:txBody>
          <a:bodyPr/>
          <a:lstStyle/>
          <a:p>
            <a:r>
              <a:rPr lang="en-US" dirty="0"/>
              <a:t>https://</a:t>
            </a:r>
            <a:r>
              <a:rPr lang="en-US" dirty="0" err="1"/>
              <a:t>oncodaily.com</a:t>
            </a:r>
            <a:r>
              <a:rPr lang="en-US" dirty="0"/>
              <a:t>/insight/26987</a:t>
            </a:r>
          </a:p>
        </p:txBody>
      </p:sp>
      <p:sp>
        <p:nvSpPr>
          <p:cNvPr id="4" name="Slide Number Placeholder 3">
            <a:extLst>
              <a:ext uri="{FF2B5EF4-FFF2-40B4-BE49-F238E27FC236}">
                <a16:creationId xmlns:a16="http://schemas.microsoft.com/office/drawing/2014/main" id="{5CB2E8AE-2985-C379-A512-1286C00BD65C}"/>
              </a:ext>
            </a:extLst>
          </p:cNvPr>
          <p:cNvSpPr>
            <a:spLocks noGrp="1"/>
          </p:cNvSpPr>
          <p:nvPr>
            <p:ph type="sldNum" sz="quarter" idx="5"/>
          </p:nvPr>
        </p:nvSpPr>
        <p:spPr/>
        <p:txBody>
          <a:bodyPr/>
          <a:lstStyle/>
          <a:p>
            <a:fld id="{D427A70F-33C7-F340-BD1C-F4C10BA1D780}" type="slidenum">
              <a:rPr lang="en-US" smtClean="0"/>
              <a:t>39</a:t>
            </a:fld>
            <a:endParaRPr lang="en-US"/>
          </a:p>
        </p:txBody>
      </p:sp>
    </p:spTree>
    <p:extLst>
      <p:ext uri="{BB962C8B-B14F-4D97-AF65-F5344CB8AC3E}">
        <p14:creationId xmlns:p14="http://schemas.microsoft.com/office/powerpoint/2010/main" val="2461427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1F20-C8B1-FFB5-304C-7706C28BB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D4E12-00DE-DCB5-3760-9474B98929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DD170-A92E-9122-19E9-25331BC7AEC0}"/>
              </a:ext>
            </a:extLst>
          </p:cNvPr>
          <p:cNvSpPr>
            <a:spLocks noGrp="1"/>
          </p:cNvSpPr>
          <p:nvPr>
            <p:ph type="body" idx="1"/>
          </p:nvPr>
        </p:nvSpPr>
        <p:spPr/>
        <p:txBody>
          <a:bodyPr/>
          <a:lstStyle/>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p:txBody>
      </p:sp>
      <p:sp>
        <p:nvSpPr>
          <p:cNvPr id="4" name="Slide Number Placeholder 3">
            <a:extLst>
              <a:ext uri="{FF2B5EF4-FFF2-40B4-BE49-F238E27FC236}">
                <a16:creationId xmlns:a16="http://schemas.microsoft.com/office/drawing/2014/main" id="{79EE2337-43BF-E7E2-2AEB-DAE96BBBE01A}"/>
              </a:ext>
            </a:extLst>
          </p:cNvPr>
          <p:cNvSpPr>
            <a:spLocks noGrp="1"/>
          </p:cNvSpPr>
          <p:nvPr>
            <p:ph type="sldNum" sz="quarter" idx="5"/>
          </p:nvPr>
        </p:nvSpPr>
        <p:spPr/>
        <p:txBody>
          <a:bodyPr/>
          <a:lstStyle/>
          <a:p>
            <a:fld id="{66FDC576-0133-6D42-87C0-26DAD32F550B}" type="slidenum">
              <a:t>43</a:t>
            </a:fld>
            <a:endParaRPr lang="en-GB"/>
          </a:p>
        </p:txBody>
      </p:sp>
    </p:spTree>
    <p:extLst>
      <p:ext uri="{BB962C8B-B14F-4D97-AF65-F5344CB8AC3E}">
        <p14:creationId xmlns:p14="http://schemas.microsoft.com/office/powerpoint/2010/main" val="1570346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5981-D6A1-3F66-A4EE-79966D021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B51B91-FF09-A592-4AFF-ED615A91D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5723-D24F-1DFD-FAF3-CE3B83435495}"/>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06E27D29-9E19-2ED0-3C09-0072ADE07C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FC436D-0843-4F0B-5D93-C659D7C4B4C0}"/>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4110387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1A4C-CEF4-74C1-0FC7-5F3DAAE573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EFAF57-B6F0-40C3-2894-42105515F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8233A4-1DD1-8F35-CD3B-48C9BF667400}"/>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F9614939-12EF-A625-4454-4949CA40A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2AA79-ECFF-2545-B2F7-363E1EBA1647}"/>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389643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333D-7F67-A8D4-69E2-0157FD8182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3F5B9C-39A1-3AA9-9B87-5ED594A96E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075E0A-665D-E524-EF3D-9C551194F347}"/>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A474C3D2-8C45-D461-EC50-978B957042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82A68-7EF6-A469-68C2-AFCFDA1BAEC3}"/>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260705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A66C-D967-CC2F-C536-55792898E3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411094-0C46-0DC4-3621-B5948B03E7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7DE8A-30CB-A04E-D658-217434D708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487ED3-4832-21EE-A736-4DB5F67EB1BB}"/>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6" name="Footer Placeholder 5">
            <a:extLst>
              <a:ext uri="{FF2B5EF4-FFF2-40B4-BE49-F238E27FC236}">
                <a16:creationId xmlns:a16="http://schemas.microsoft.com/office/drawing/2014/main" id="{42AFBAE1-B897-FAE6-28F2-A5742BA98F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011817-9A28-5C50-4AA6-A478F8A8821E}"/>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815195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8B9D4-D494-DF40-A6F2-F6DB0FADDF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D40265-2B25-B556-4C88-7DB38B6711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B2079B-43E1-CF7C-0CB2-D758CA2141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866C32-382A-0C04-A614-DA5A08A315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E43E2-76BF-0382-9E97-4A91C75247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0414FA-B9E7-153C-407F-3D247084E503}"/>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8" name="Footer Placeholder 7">
            <a:extLst>
              <a:ext uri="{FF2B5EF4-FFF2-40B4-BE49-F238E27FC236}">
                <a16:creationId xmlns:a16="http://schemas.microsoft.com/office/drawing/2014/main" id="{593C2637-2354-A0C0-4E4F-74065CFEE6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3BDEE2-5BB7-7274-C72E-3F2C28B2C046}"/>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230429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3C28-75A1-8D6E-AE2C-E9B50DD05F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A14C96-8664-1376-A802-21572903B039}"/>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4" name="Footer Placeholder 3">
            <a:extLst>
              <a:ext uri="{FF2B5EF4-FFF2-40B4-BE49-F238E27FC236}">
                <a16:creationId xmlns:a16="http://schemas.microsoft.com/office/drawing/2014/main" id="{338EC626-0643-50E0-9ABD-3E0282008F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568440-B0AA-706B-9FEA-D4EC1EBE61E5}"/>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137860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FE0A7C-50B2-FDD2-4EA0-917CE220ECAF}"/>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3" name="Footer Placeholder 2">
            <a:extLst>
              <a:ext uri="{FF2B5EF4-FFF2-40B4-BE49-F238E27FC236}">
                <a16:creationId xmlns:a16="http://schemas.microsoft.com/office/drawing/2014/main" id="{E6A7F1EE-408B-C6A0-E748-917B8120B4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FF63A9-1016-5EC5-F04E-4EF7731259DF}"/>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3751176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A945-DBB5-6443-ADA5-BEBC9DBF8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2AE126-B544-26C2-6FAC-F1A6E1CD0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B9E257-8274-CFC0-33D9-E0B6B7C58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3CC59-77FA-38D1-B7E3-2E557A11BDE2}"/>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6" name="Footer Placeholder 5">
            <a:extLst>
              <a:ext uri="{FF2B5EF4-FFF2-40B4-BE49-F238E27FC236}">
                <a16:creationId xmlns:a16="http://schemas.microsoft.com/office/drawing/2014/main" id="{CE81DF86-FD03-0A81-70D8-DAEC8A104A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6DB64C-8396-9A9F-C56A-226F45B5024C}"/>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3342393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0CB8E-58C9-8788-E0C9-8B3D65C22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304855-BA6A-7C6A-47C2-36D26AF62F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D3752B-5F99-E634-FEC6-0C0ABA217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799DE7-C1C4-198E-FA04-9E4CD7A7726D}"/>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6" name="Footer Placeholder 5">
            <a:extLst>
              <a:ext uri="{FF2B5EF4-FFF2-40B4-BE49-F238E27FC236}">
                <a16:creationId xmlns:a16="http://schemas.microsoft.com/office/drawing/2014/main" id="{8B881BE5-FE14-C4F6-CA95-3C406B7170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3396B3-7529-A5DF-F2DF-83A947CC157D}"/>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166950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1F76-B52C-021D-3807-BAD473C351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D907B2-2546-DA10-AD96-5A5CC60FED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C49613-5A24-6B56-39DC-7ED7D620C6FC}"/>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497D0D07-0BA2-33E2-6904-902C8162A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B2B98-0B3D-CD6E-F114-66448F3CC576}"/>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4061634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83CAD5-401B-F954-850D-D89A453D6E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3348FC-9B04-990E-4D10-53199BBA86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3F1E36-BA26-07DD-47BB-6EF9FE399286}"/>
              </a:ext>
            </a:extLst>
          </p:cNvPr>
          <p:cNvSpPr>
            <a:spLocks noGrp="1"/>
          </p:cNvSpPr>
          <p:nvPr>
            <p:ph type="dt" sz="half" idx="10"/>
          </p:nvPr>
        </p:nvSpPr>
        <p:spPr/>
        <p:txBody>
          <a:body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20F329D1-16ED-9301-B3FE-7967C80B3A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1E506-9894-CD0D-CFA9-89973E157450}"/>
              </a:ext>
            </a:extLst>
          </p:cNvPr>
          <p:cNvSpPr>
            <a:spLocks noGrp="1"/>
          </p:cNvSpPr>
          <p:nvPr>
            <p:ph type="sldNum" sz="quarter" idx="12"/>
          </p:nvPr>
        </p:nvSpPr>
        <p:spPr/>
        <p:txBody>
          <a:bodyPr/>
          <a:lstStyle/>
          <a:p>
            <a:fld id="{53D7300B-ED4E-CC4D-AE41-A3EA882DBCF4}" type="slidenum">
              <a:rPr lang="en-US" smtClean="0"/>
              <a:t>‹#›</a:t>
            </a:fld>
            <a:endParaRPr lang="en-US"/>
          </a:p>
        </p:txBody>
      </p:sp>
    </p:spTree>
    <p:extLst>
      <p:ext uri="{BB962C8B-B14F-4D97-AF65-F5344CB8AC3E}">
        <p14:creationId xmlns:p14="http://schemas.microsoft.com/office/powerpoint/2010/main" val="159346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97D33D-E09B-3D5E-92C7-B1033E67F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DB4BDF-990E-6EE5-EE49-724B04E762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8F3E56-084A-930B-8642-2D165B887D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907024-8FD9-1640-A990-1B5C3D3B026B}" type="datetimeFigureOut">
              <a:rPr lang="en-US" smtClean="0"/>
              <a:t>1/7/26</a:t>
            </a:fld>
            <a:endParaRPr lang="en-US"/>
          </a:p>
        </p:txBody>
      </p:sp>
      <p:sp>
        <p:nvSpPr>
          <p:cNvPr id="5" name="Footer Placeholder 4">
            <a:extLst>
              <a:ext uri="{FF2B5EF4-FFF2-40B4-BE49-F238E27FC236}">
                <a16:creationId xmlns:a16="http://schemas.microsoft.com/office/drawing/2014/main" id="{EE42F7C2-0C22-D117-61F3-977630109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141F4F-4798-B7A2-7B6F-FF49147AFE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D7300B-ED4E-CC4D-AE41-A3EA882DBCF4}" type="slidenum">
              <a:rPr lang="en-US" smtClean="0"/>
              <a:t>‹#›</a:t>
            </a:fld>
            <a:endParaRPr lang="en-US"/>
          </a:p>
        </p:txBody>
      </p:sp>
    </p:spTree>
    <p:extLst>
      <p:ext uri="{BB962C8B-B14F-4D97-AF65-F5344CB8AC3E}">
        <p14:creationId xmlns:p14="http://schemas.microsoft.com/office/powerpoint/2010/main" val="3694690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notesSlide" Target="../notesSlides/notesSlide3.xml"/><Relationship Id="rId26" Type="http://schemas.openxmlformats.org/officeDocument/2006/relationships/image" Target="../media/image9.png"/><Relationship Id="rId3" Type="http://schemas.openxmlformats.org/officeDocument/2006/relationships/tags" Target="../tags/tag3.xml"/><Relationship Id="rId21" Type="http://schemas.openxmlformats.org/officeDocument/2006/relationships/image" Target="../media/image4.png"/><Relationship Id="rId34" Type="http://schemas.openxmlformats.org/officeDocument/2006/relationships/image" Target="../media/image17.emf"/><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5" Type="http://schemas.openxmlformats.org/officeDocument/2006/relationships/image" Target="../media/image8.png"/><Relationship Id="rId33" Type="http://schemas.openxmlformats.org/officeDocument/2006/relationships/image" Target="../media/image16.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png"/><Relationship Id="rId29" Type="http://schemas.openxmlformats.org/officeDocument/2006/relationships/image" Target="../media/image12.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7.png"/><Relationship Id="rId32" Type="http://schemas.openxmlformats.org/officeDocument/2006/relationships/image" Target="../media/image15.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6.png"/><Relationship Id="rId28" Type="http://schemas.openxmlformats.org/officeDocument/2006/relationships/image" Target="../media/image11.png"/><Relationship Id="rId10" Type="http://schemas.openxmlformats.org/officeDocument/2006/relationships/tags" Target="../tags/tag10.xml"/><Relationship Id="rId19" Type="http://schemas.openxmlformats.org/officeDocument/2006/relationships/image" Target="../media/image2.png"/><Relationship Id="rId31" Type="http://schemas.openxmlformats.org/officeDocument/2006/relationships/image" Target="../media/image1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5.png"/><Relationship Id="rId27" Type="http://schemas.openxmlformats.org/officeDocument/2006/relationships/image" Target="../media/image10.png"/><Relationship Id="rId30" Type="http://schemas.openxmlformats.org/officeDocument/2006/relationships/image" Target="../media/image13.png"/><Relationship Id="rId8" Type="http://schemas.openxmlformats.org/officeDocument/2006/relationships/tags" Target="../tags/tag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olab.research.google.com/github/pzhou1729/2026_CRISPRscreen_GeneticsBootcamp/blob/main/LDLR_PE_tutorial.ipynb#scrollTo=b20a9f4f-fef1-40cd-8b79-b14e7108f58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s://pdb101.rcsb.org/motm/304"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document/d/1lAxwZUEkV8GpNSXg4xXBNlE_kQiXG6mqKCy0oObddrQ/edit?usp=shar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biosig.lab.uq.edu.au/ddmut_ppi/"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cs.google.com/document/d/1mFC0vfvee-XC5rKJQ4ekIon5kcQhqJVNd65S0V8I-J0/edit?usp=sharing" TargetMode="External"/><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s://biosig.lab.uq.edu.au/ddmut_ppi/" TargetMode="External"/><Relationship Id="rId3" Type="http://schemas.openxmlformats.org/officeDocument/2006/relationships/hyperlink" Target="https://github.com/pinellolab/crispr-bean" TargetMode="External"/><Relationship Id="rId7" Type="http://schemas.openxmlformats.org/officeDocument/2006/relationships/hyperlink" Target="https://biosig.lab.uq.edu.au/ddmut/" TargetMode="External"/><Relationship Id="rId2" Type="http://schemas.openxmlformats.org/officeDocument/2006/relationships/hyperlink" Target="https://www.pridict.it/" TargetMode="External"/><Relationship Id="rId1" Type="http://schemas.openxmlformats.org/officeDocument/2006/relationships/slideLayout" Target="../slideLayouts/slideLayout2.xml"/><Relationship Id="rId6" Type="http://schemas.openxmlformats.org/officeDocument/2006/relationships/hyperlink" Target="https://biosig.lab.uq.edu.au/arpeggioweb/" TargetMode="External"/><Relationship Id="rId5" Type="http://schemas.openxmlformats.org/officeDocument/2006/relationships/hyperlink" Target="https://alphamissense.hegelab.org/" TargetMode="External"/><Relationship Id="rId4" Type="http://schemas.openxmlformats.org/officeDocument/2006/relationships/hyperlink" Target="https://github.com/TYTYBU/FUSE-pipeline" TargetMode="External"/><Relationship Id="rId9" Type="http://schemas.openxmlformats.org/officeDocument/2006/relationships/hyperlink" Target="https://www.alphagenomedocs.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1EA3-94F7-C963-075B-AC7654D5529D}"/>
              </a:ext>
            </a:extLst>
          </p:cNvPr>
          <p:cNvSpPr>
            <a:spLocks noGrp="1"/>
          </p:cNvSpPr>
          <p:nvPr>
            <p:ph type="ctrTitle"/>
          </p:nvPr>
        </p:nvSpPr>
        <p:spPr>
          <a:xfrm>
            <a:off x="1524000" y="1409261"/>
            <a:ext cx="9144000" cy="2387600"/>
          </a:xfrm>
        </p:spPr>
        <p:txBody>
          <a:bodyPr>
            <a:normAutofit fontScale="90000"/>
          </a:bodyPr>
          <a:lstStyle/>
          <a:p>
            <a:r>
              <a:rPr lang="en-US" dirty="0"/>
              <a:t>Identifying LDLR variant effects using prime editing screening</a:t>
            </a:r>
          </a:p>
        </p:txBody>
      </p:sp>
      <p:sp>
        <p:nvSpPr>
          <p:cNvPr id="8" name="Title 1">
            <a:extLst>
              <a:ext uri="{FF2B5EF4-FFF2-40B4-BE49-F238E27FC236}">
                <a16:creationId xmlns:a16="http://schemas.microsoft.com/office/drawing/2014/main" id="{6BB3A3C3-4705-01A4-F6BB-D4B0CEAE5EAE}"/>
              </a:ext>
            </a:extLst>
          </p:cNvPr>
          <p:cNvSpPr txBox="1">
            <a:spLocks/>
          </p:cNvSpPr>
          <p:nvPr/>
        </p:nvSpPr>
        <p:spPr>
          <a:xfrm>
            <a:off x="1524000" y="3796861"/>
            <a:ext cx="9144000" cy="852407"/>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000" dirty="0"/>
              <a:t>Afternoon Lab: CRISPR Screening Workshop 2026</a:t>
            </a:r>
          </a:p>
        </p:txBody>
      </p:sp>
    </p:spTree>
    <p:extLst>
      <p:ext uri="{BB962C8B-B14F-4D97-AF65-F5344CB8AC3E}">
        <p14:creationId xmlns:p14="http://schemas.microsoft.com/office/powerpoint/2010/main" val="1339770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25354-E85C-D3C7-F56E-539918559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B5A13-4671-2986-7628-CCF008E5E618}"/>
              </a:ext>
            </a:extLst>
          </p:cNvPr>
          <p:cNvSpPr>
            <a:spLocks noGrp="1"/>
          </p:cNvSpPr>
          <p:nvPr>
            <p:ph type="title"/>
          </p:nvPr>
        </p:nvSpPr>
        <p:spPr>
          <a:xfrm>
            <a:off x="838200" y="365125"/>
            <a:ext cx="11049000" cy="1325563"/>
          </a:xfrm>
        </p:spPr>
        <p:txBody>
          <a:bodyPr/>
          <a:lstStyle/>
          <a:p>
            <a:r>
              <a:rPr lang="en-US" dirty="0"/>
              <a:t>LDLR is the main player in removing cholesterol from the bloodstream</a:t>
            </a:r>
          </a:p>
        </p:txBody>
      </p:sp>
      <p:sp>
        <p:nvSpPr>
          <p:cNvPr id="3" name="Content Placeholder 2">
            <a:extLst>
              <a:ext uri="{FF2B5EF4-FFF2-40B4-BE49-F238E27FC236}">
                <a16:creationId xmlns:a16="http://schemas.microsoft.com/office/drawing/2014/main" id="{9C27A4BF-3A0A-89B0-3B09-196E8FADB6B9}"/>
              </a:ext>
            </a:extLst>
          </p:cNvPr>
          <p:cNvSpPr>
            <a:spLocks noGrp="1"/>
          </p:cNvSpPr>
          <p:nvPr>
            <p:ph idx="1"/>
          </p:nvPr>
        </p:nvSpPr>
        <p:spPr>
          <a:xfrm>
            <a:off x="4447309" y="2135639"/>
            <a:ext cx="7619999" cy="4536623"/>
          </a:xfrm>
        </p:spPr>
        <p:txBody>
          <a:bodyPr>
            <a:normAutofit/>
          </a:bodyPr>
          <a:lstStyle/>
          <a:p>
            <a:r>
              <a:rPr lang="en-US" dirty="0"/>
              <a:t>LDLR facilitates lipoprotein degradation via receptor mediated endocytosis</a:t>
            </a:r>
          </a:p>
          <a:p>
            <a:r>
              <a:rPr lang="en-US" dirty="0"/>
              <a:t>LDLR variants are most common cause of familial hypercholesterolemia (FH)</a:t>
            </a:r>
          </a:p>
          <a:p>
            <a:pPr lvl="1"/>
            <a:r>
              <a:rPr lang="en-US" dirty="0"/>
              <a:t>FH known to affect ~1:300 people worldwide (Hu et al., 2020)</a:t>
            </a:r>
          </a:p>
          <a:p>
            <a:pPr lvl="1"/>
            <a:r>
              <a:rPr lang="en-US" dirty="0"/>
              <a:t>We have observed a limited number of LDLR variants (e.g. 452 out of 18060 possible variants in UK Biobank)</a:t>
            </a:r>
          </a:p>
          <a:p>
            <a:r>
              <a:rPr lang="en-US" dirty="0"/>
              <a:t>Prime editing provides evidence for variant effect on cholesterol uptake</a:t>
            </a:r>
          </a:p>
        </p:txBody>
      </p:sp>
      <p:pic>
        <p:nvPicPr>
          <p:cNvPr id="6" name="Picture 5">
            <a:extLst>
              <a:ext uri="{FF2B5EF4-FFF2-40B4-BE49-F238E27FC236}">
                <a16:creationId xmlns:a16="http://schemas.microsoft.com/office/drawing/2014/main" id="{98DBE9C6-F514-B96B-B7EB-F6853AE265D4}"/>
              </a:ext>
            </a:extLst>
          </p:cNvPr>
          <p:cNvPicPr>
            <a:picLocks noChangeAspect="1"/>
          </p:cNvPicPr>
          <p:nvPr/>
        </p:nvPicPr>
        <p:blipFill>
          <a:blip r:embed="rId3"/>
          <a:srcRect l="50963"/>
          <a:stretch/>
        </p:blipFill>
        <p:spPr>
          <a:xfrm>
            <a:off x="806569" y="1542130"/>
            <a:ext cx="3451477" cy="4950745"/>
          </a:xfrm>
          <a:prstGeom prst="rect">
            <a:avLst/>
          </a:prstGeom>
        </p:spPr>
      </p:pic>
      <p:sp>
        <p:nvSpPr>
          <p:cNvPr id="4" name="Content Placeholder 2">
            <a:extLst>
              <a:ext uri="{FF2B5EF4-FFF2-40B4-BE49-F238E27FC236}">
                <a16:creationId xmlns:a16="http://schemas.microsoft.com/office/drawing/2014/main" id="{ABFB32EA-A3FA-548B-4DEE-CD16B0477BA1}"/>
              </a:ext>
            </a:extLst>
          </p:cNvPr>
          <p:cNvSpPr txBox="1">
            <a:spLocks/>
          </p:cNvSpPr>
          <p:nvPr/>
        </p:nvSpPr>
        <p:spPr>
          <a:xfrm>
            <a:off x="806569" y="6495009"/>
            <a:ext cx="1080541" cy="4068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t>Biorender</a:t>
            </a:r>
          </a:p>
        </p:txBody>
      </p:sp>
    </p:spTree>
    <p:extLst>
      <p:ext uri="{BB962C8B-B14F-4D97-AF65-F5344CB8AC3E}">
        <p14:creationId xmlns:p14="http://schemas.microsoft.com/office/powerpoint/2010/main" val="1536791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0C9AB-6A5A-DA68-C48F-5BA81281F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1DA45-EF4E-B02D-376C-4D4CEDAFA64A}"/>
              </a:ext>
            </a:extLst>
          </p:cNvPr>
          <p:cNvSpPr>
            <a:spLocks noGrp="1"/>
          </p:cNvSpPr>
          <p:nvPr>
            <p:ph type="title"/>
          </p:nvPr>
        </p:nvSpPr>
        <p:spPr>
          <a:xfrm>
            <a:off x="419099" y="347642"/>
            <a:ext cx="11353801" cy="1325563"/>
          </a:xfrm>
        </p:spPr>
        <p:txBody>
          <a:bodyPr/>
          <a:lstStyle/>
          <a:p>
            <a:r>
              <a:rPr lang="en-US" dirty="0"/>
              <a:t>Prime editing (PE) screening reveals variant effect</a:t>
            </a:r>
          </a:p>
        </p:txBody>
      </p:sp>
      <p:grpSp>
        <p:nvGrpSpPr>
          <p:cNvPr id="20" name="Group 19">
            <a:extLst>
              <a:ext uri="{FF2B5EF4-FFF2-40B4-BE49-F238E27FC236}">
                <a16:creationId xmlns:a16="http://schemas.microsoft.com/office/drawing/2014/main" id="{59BB37DF-8E62-6301-37C7-8B59ABC7454C}"/>
              </a:ext>
            </a:extLst>
          </p:cNvPr>
          <p:cNvGrpSpPr/>
          <p:nvPr/>
        </p:nvGrpSpPr>
        <p:grpSpPr>
          <a:xfrm>
            <a:off x="1828800" y="1279055"/>
            <a:ext cx="5449481" cy="4943286"/>
            <a:chOff x="1993963" y="691810"/>
            <a:chExt cx="5595252" cy="5075516"/>
          </a:xfrm>
        </p:grpSpPr>
        <p:pic>
          <p:nvPicPr>
            <p:cNvPr id="21" name="Image 0" descr="preencoded.png">
              <a:extLst>
                <a:ext uri="{FF2B5EF4-FFF2-40B4-BE49-F238E27FC236}">
                  <a16:creationId xmlns:a16="http://schemas.microsoft.com/office/drawing/2014/main" id="{BC2995D5-8016-5FEE-C06A-7675A8A986B7}"/>
                </a:ext>
              </a:extLst>
            </p:cNvPr>
            <p:cNvPicPr>
              <a:picLocks noChangeAspect="1"/>
            </p:cNvPicPr>
            <p:nvPr>
              <p:custDataLst>
                <p:tags r:id="rId1"/>
              </p:custDataLst>
            </p:nvPr>
          </p:nvPicPr>
          <p:blipFill>
            <a:blip r:embed="rId19"/>
            <a:stretch>
              <a:fillRect/>
            </a:stretch>
          </p:blipFill>
          <p:spPr>
            <a:xfrm>
              <a:off x="2203494" y="1173674"/>
              <a:ext cx="2148840" cy="3089366"/>
            </a:xfrm>
            <a:prstGeom prst="rect">
              <a:avLst/>
            </a:prstGeom>
          </p:spPr>
        </p:pic>
        <p:pic>
          <p:nvPicPr>
            <p:cNvPr id="22" name="Image 1" descr="preencoded.png">
              <a:extLst>
                <a:ext uri="{FF2B5EF4-FFF2-40B4-BE49-F238E27FC236}">
                  <a16:creationId xmlns:a16="http://schemas.microsoft.com/office/drawing/2014/main" id="{7A64EE76-1656-E796-17D8-88B01C1D4DCE}"/>
                </a:ext>
              </a:extLst>
            </p:cNvPr>
            <p:cNvPicPr>
              <a:picLocks noChangeAspect="1"/>
            </p:cNvPicPr>
            <p:nvPr>
              <p:custDataLst>
                <p:tags r:id="rId2"/>
              </p:custDataLst>
            </p:nvPr>
          </p:nvPicPr>
          <p:blipFill>
            <a:blip r:embed="rId20"/>
            <a:stretch>
              <a:fillRect/>
            </a:stretch>
          </p:blipFill>
          <p:spPr>
            <a:xfrm>
              <a:off x="6132339" y="2066172"/>
              <a:ext cx="182880" cy="418011"/>
            </a:xfrm>
            <a:prstGeom prst="rect">
              <a:avLst/>
            </a:prstGeom>
          </p:spPr>
        </p:pic>
        <p:pic>
          <p:nvPicPr>
            <p:cNvPr id="23" name="Image 2" descr="preencoded.png">
              <a:extLst>
                <a:ext uri="{FF2B5EF4-FFF2-40B4-BE49-F238E27FC236}">
                  <a16:creationId xmlns:a16="http://schemas.microsoft.com/office/drawing/2014/main" id="{23B50F7E-D4FA-E7DC-F738-DDE68C92A4BA}"/>
                </a:ext>
              </a:extLst>
            </p:cNvPr>
            <p:cNvPicPr>
              <a:picLocks noChangeAspect="1"/>
            </p:cNvPicPr>
            <p:nvPr>
              <p:custDataLst>
                <p:tags r:id="rId3"/>
              </p:custDataLst>
            </p:nvPr>
          </p:nvPicPr>
          <p:blipFill>
            <a:blip r:embed="rId21"/>
            <a:stretch>
              <a:fillRect/>
            </a:stretch>
          </p:blipFill>
          <p:spPr>
            <a:xfrm>
              <a:off x="5702896" y="2443424"/>
              <a:ext cx="1041763" cy="708660"/>
            </a:xfrm>
            <a:prstGeom prst="rect">
              <a:avLst/>
            </a:prstGeom>
          </p:spPr>
        </p:pic>
        <p:pic>
          <p:nvPicPr>
            <p:cNvPr id="24" name="Image 3" descr="preencoded.png">
              <a:extLst>
                <a:ext uri="{FF2B5EF4-FFF2-40B4-BE49-F238E27FC236}">
                  <a16:creationId xmlns:a16="http://schemas.microsoft.com/office/drawing/2014/main" id="{6B3064BD-9380-552D-56AC-D51782170063}"/>
                </a:ext>
              </a:extLst>
            </p:cNvPr>
            <p:cNvPicPr>
              <a:picLocks noChangeAspect="1"/>
            </p:cNvPicPr>
            <p:nvPr>
              <p:custDataLst>
                <p:tags r:id="rId4"/>
              </p:custDataLst>
            </p:nvPr>
          </p:nvPicPr>
          <p:blipFill>
            <a:blip r:embed="rId22"/>
            <a:stretch>
              <a:fillRect/>
            </a:stretch>
          </p:blipFill>
          <p:spPr>
            <a:xfrm>
              <a:off x="5337139" y="691810"/>
              <a:ext cx="1773283" cy="1463040"/>
            </a:xfrm>
            <a:prstGeom prst="rect">
              <a:avLst/>
            </a:prstGeom>
          </p:spPr>
        </p:pic>
        <p:pic>
          <p:nvPicPr>
            <p:cNvPr id="25" name="Image 4" descr="preencoded.png">
              <a:extLst>
                <a:ext uri="{FF2B5EF4-FFF2-40B4-BE49-F238E27FC236}">
                  <a16:creationId xmlns:a16="http://schemas.microsoft.com/office/drawing/2014/main" id="{0204D676-FAAD-AB21-D678-DDADFF9657E7}"/>
                </a:ext>
              </a:extLst>
            </p:cNvPr>
            <p:cNvPicPr>
              <a:picLocks noChangeAspect="1"/>
            </p:cNvPicPr>
            <p:nvPr>
              <p:custDataLst>
                <p:tags r:id="rId5"/>
              </p:custDataLst>
            </p:nvPr>
          </p:nvPicPr>
          <p:blipFill>
            <a:blip r:embed="rId23"/>
            <a:stretch>
              <a:fillRect/>
            </a:stretch>
          </p:blipFill>
          <p:spPr>
            <a:xfrm>
              <a:off x="6609501" y="4790871"/>
              <a:ext cx="979714" cy="976449"/>
            </a:xfrm>
            <a:prstGeom prst="rect">
              <a:avLst/>
            </a:prstGeom>
          </p:spPr>
        </p:pic>
        <p:pic>
          <p:nvPicPr>
            <p:cNvPr id="26" name="Image 5" descr="preencoded.png">
              <a:extLst>
                <a:ext uri="{FF2B5EF4-FFF2-40B4-BE49-F238E27FC236}">
                  <a16:creationId xmlns:a16="http://schemas.microsoft.com/office/drawing/2014/main" id="{92FE1A17-F1BF-9D00-6BE1-D8CDC7D6C86B}"/>
                </a:ext>
              </a:extLst>
            </p:cNvPr>
            <p:cNvPicPr>
              <a:picLocks noChangeAspect="1"/>
            </p:cNvPicPr>
            <p:nvPr>
              <p:custDataLst>
                <p:tags r:id="rId6"/>
              </p:custDataLst>
            </p:nvPr>
          </p:nvPicPr>
          <p:blipFill>
            <a:blip r:embed="rId24"/>
            <a:stretch>
              <a:fillRect/>
            </a:stretch>
          </p:blipFill>
          <p:spPr>
            <a:xfrm>
              <a:off x="6036262" y="4790877"/>
              <a:ext cx="979714" cy="976449"/>
            </a:xfrm>
            <a:prstGeom prst="rect">
              <a:avLst/>
            </a:prstGeom>
          </p:spPr>
        </p:pic>
        <p:pic>
          <p:nvPicPr>
            <p:cNvPr id="27" name="Image 6" descr="preencoded.png">
              <a:extLst>
                <a:ext uri="{FF2B5EF4-FFF2-40B4-BE49-F238E27FC236}">
                  <a16:creationId xmlns:a16="http://schemas.microsoft.com/office/drawing/2014/main" id="{01403782-758E-5ED3-12AB-3206897FFB4B}"/>
                </a:ext>
              </a:extLst>
            </p:cNvPr>
            <p:cNvPicPr>
              <a:picLocks noChangeAspect="1"/>
            </p:cNvPicPr>
            <p:nvPr>
              <p:custDataLst>
                <p:tags r:id="rId7"/>
              </p:custDataLst>
            </p:nvPr>
          </p:nvPicPr>
          <p:blipFill>
            <a:blip r:embed="rId25"/>
            <a:stretch>
              <a:fillRect/>
            </a:stretch>
          </p:blipFill>
          <p:spPr>
            <a:xfrm>
              <a:off x="5431672" y="4790871"/>
              <a:ext cx="979714" cy="976449"/>
            </a:xfrm>
            <a:prstGeom prst="rect">
              <a:avLst/>
            </a:prstGeom>
          </p:spPr>
        </p:pic>
        <p:pic>
          <p:nvPicPr>
            <p:cNvPr id="28" name="Image 7" descr="preencoded.png">
              <a:extLst>
                <a:ext uri="{FF2B5EF4-FFF2-40B4-BE49-F238E27FC236}">
                  <a16:creationId xmlns:a16="http://schemas.microsoft.com/office/drawing/2014/main" id="{0CA9423F-BD36-BABD-DE7F-08372C830A87}"/>
                </a:ext>
              </a:extLst>
            </p:cNvPr>
            <p:cNvPicPr>
              <a:picLocks noChangeAspect="1"/>
            </p:cNvPicPr>
            <p:nvPr>
              <p:custDataLst>
                <p:tags r:id="rId8"/>
              </p:custDataLst>
            </p:nvPr>
          </p:nvPicPr>
          <p:blipFill>
            <a:blip r:embed="rId26"/>
            <a:stretch>
              <a:fillRect/>
            </a:stretch>
          </p:blipFill>
          <p:spPr>
            <a:xfrm>
              <a:off x="4846442" y="4790876"/>
              <a:ext cx="979714" cy="976449"/>
            </a:xfrm>
            <a:prstGeom prst="rect">
              <a:avLst/>
            </a:prstGeom>
          </p:spPr>
        </p:pic>
        <p:pic>
          <p:nvPicPr>
            <p:cNvPr id="29" name="Image 8" descr="preencoded.png">
              <a:extLst>
                <a:ext uri="{FF2B5EF4-FFF2-40B4-BE49-F238E27FC236}">
                  <a16:creationId xmlns:a16="http://schemas.microsoft.com/office/drawing/2014/main" id="{F98F730A-FEAF-A14B-FE63-BB5DCDE486FA}"/>
                </a:ext>
              </a:extLst>
            </p:cNvPr>
            <p:cNvPicPr>
              <a:picLocks noChangeAspect="1"/>
            </p:cNvPicPr>
            <p:nvPr>
              <p:custDataLst>
                <p:tags r:id="rId9"/>
              </p:custDataLst>
            </p:nvPr>
          </p:nvPicPr>
          <p:blipFill>
            <a:blip r:embed="rId27"/>
            <a:stretch>
              <a:fillRect/>
            </a:stretch>
          </p:blipFill>
          <p:spPr>
            <a:xfrm>
              <a:off x="5216305" y="3446203"/>
              <a:ext cx="2014946" cy="1345474"/>
            </a:xfrm>
            <a:prstGeom prst="rect">
              <a:avLst/>
            </a:prstGeom>
          </p:spPr>
        </p:pic>
        <p:pic>
          <p:nvPicPr>
            <p:cNvPr id="30" name="Image 9" descr="preencoded.png">
              <a:extLst>
                <a:ext uri="{FF2B5EF4-FFF2-40B4-BE49-F238E27FC236}">
                  <a16:creationId xmlns:a16="http://schemas.microsoft.com/office/drawing/2014/main" id="{EBE93C3F-6521-C0E8-B499-365CC631A10E}"/>
                </a:ext>
              </a:extLst>
            </p:cNvPr>
            <p:cNvPicPr>
              <a:picLocks noChangeAspect="1"/>
            </p:cNvPicPr>
            <p:nvPr>
              <p:custDataLst>
                <p:tags r:id="rId10"/>
              </p:custDataLst>
            </p:nvPr>
          </p:nvPicPr>
          <p:blipFill>
            <a:blip r:embed="rId28"/>
            <a:stretch>
              <a:fillRect/>
            </a:stretch>
          </p:blipFill>
          <p:spPr>
            <a:xfrm>
              <a:off x="2414170" y="3868156"/>
              <a:ext cx="1724297" cy="630283"/>
            </a:xfrm>
            <a:prstGeom prst="rect">
              <a:avLst/>
            </a:prstGeom>
          </p:spPr>
        </p:pic>
        <p:pic>
          <p:nvPicPr>
            <p:cNvPr id="31" name="Image 10" descr="preencoded.png">
              <a:extLst>
                <a:ext uri="{FF2B5EF4-FFF2-40B4-BE49-F238E27FC236}">
                  <a16:creationId xmlns:a16="http://schemas.microsoft.com/office/drawing/2014/main" id="{DCFC6F84-BF24-1B23-60C8-605BEFDA5B43}"/>
                </a:ext>
              </a:extLst>
            </p:cNvPr>
            <p:cNvPicPr>
              <a:picLocks noChangeAspect="1"/>
            </p:cNvPicPr>
            <p:nvPr>
              <p:custDataLst>
                <p:tags r:id="rId11"/>
              </p:custDataLst>
            </p:nvPr>
          </p:nvPicPr>
          <p:blipFill>
            <a:blip r:embed="rId29"/>
            <a:stretch>
              <a:fillRect/>
            </a:stretch>
          </p:blipFill>
          <p:spPr>
            <a:xfrm>
              <a:off x="1993963" y="4371967"/>
              <a:ext cx="2041071" cy="581297"/>
            </a:xfrm>
            <a:prstGeom prst="rect">
              <a:avLst/>
            </a:prstGeom>
          </p:spPr>
        </p:pic>
        <p:pic>
          <p:nvPicPr>
            <p:cNvPr id="32" name="Image 11" descr="preencoded.png">
              <a:extLst>
                <a:ext uri="{FF2B5EF4-FFF2-40B4-BE49-F238E27FC236}">
                  <a16:creationId xmlns:a16="http://schemas.microsoft.com/office/drawing/2014/main" id="{48F08178-CDEE-013C-1312-3E8943582ABB}"/>
                </a:ext>
              </a:extLst>
            </p:cNvPr>
            <p:cNvPicPr>
              <a:picLocks noChangeAspect="1"/>
            </p:cNvPicPr>
            <p:nvPr>
              <p:custDataLst>
                <p:tags r:id="rId12"/>
              </p:custDataLst>
            </p:nvPr>
          </p:nvPicPr>
          <p:blipFill>
            <a:blip r:embed="rId30"/>
            <a:stretch>
              <a:fillRect/>
            </a:stretch>
          </p:blipFill>
          <p:spPr>
            <a:xfrm>
              <a:off x="2915489" y="4446627"/>
              <a:ext cx="1534886" cy="1237706"/>
            </a:xfrm>
            <a:prstGeom prst="rect">
              <a:avLst/>
            </a:prstGeom>
          </p:spPr>
        </p:pic>
        <p:pic>
          <p:nvPicPr>
            <p:cNvPr id="33" name="Image 12" descr="preencoded.png">
              <a:extLst>
                <a:ext uri="{FF2B5EF4-FFF2-40B4-BE49-F238E27FC236}">
                  <a16:creationId xmlns:a16="http://schemas.microsoft.com/office/drawing/2014/main" id="{550EAB5E-5BDC-DEC8-F243-0EAB12A1FEAA}"/>
                </a:ext>
              </a:extLst>
            </p:cNvPr>
            <p:cNvPicPr>
              <a:picLocks noChangeAspect="1"/>
            </p:cNvPicPr>
            <p:nvPr>
              <p:custDataLst>
                <p:tags r:id="rId13"/>
              </p:custDataLst>
            </p:nvPr>
          </p:nvPicPr>
          <p:blipFill>
            <a:blip r:embed="rId31"/>
            <a:stretch>
              <a:fillRect/>
            </a:stretch>
          </p:blipFill>
          <p:spPr>
            <a:xfrm>
              <a:off x="5319629" y="3036778"/>
              <a:ext cx="421277" cy="421277"/>
            </a:xfrm>
            <a:prstGeom prst="rect">
              <a:avLst/>
            </a:prstGeom>
          </p:spPr>
        </p:pic>
        <p:pic>
          <p:nvPicPr>
            <p:cNvPr id="34" name="Image 13" descr="preencoded.png">
              <a:extLst>
                <a:ext uri="{FF2B5EF4-FFF2-40B4-BE49-F238E27FC236}">
                  <a16:creationId xmlns:a16="http://schemas.microsoft.com/office/drawing/2014/main" id="{E6149E43-5146-9FBC-8DAB-F96B80E10C09}"/>
                </a:ext>
              </a:extLst>
            </p:cNvPr>
            <p:cNvPicPr>
              <a:picLocks noChangeAspect="1"/>
            </p:cNvPicPr>
            <p:nvPr>
              <p:custDataLst>
                <p:tags r:id="rId14"/>
              </p:custDataLst>
            </p:nvPr>
          </p:nvPicPr>
          <p:blipFill>
            <a:blip r:embed="rId32"/>
            <a:stretch>
              <a:fillRect/>
            </a:stretch>
          </p:blipFill>
          <p:spPr>
            <a:xfrm>
              <a:off x="6701863" y="3036778"/>
              <a:ext cx="421277" cy="421277"/>
            </a:xfrm>
            <a:prstGeom prst="rect">
              <a:avLst/>
            </a:prstGeom>
          </p:spPr>
        </p:pic>
        <p:pic>
          <p:nvPicPr>
            <p:cNvPr id="35" name="Image 14" descr="preencoded.png">
              <a:extLst>
                <a:ext uri="{FF2B5EF4-FFF2-40B4-BE49-F238E27FC236}">
                  <a16:creationId xmlns:a16="http://schemas.microsoft.com/office/drawing/2014/main" id="{6DCA6C74-273B-D985-0EB8-CD8E001DD50F}"/>
                </a:ext>
              </a:extLst>
            </p:cNvPr>
            <p:cNvPicPr>
              <a:picLocks noChangeAspect="1"/>
            </p:cNvPicPr>
            <p:nvPr>
              <p:custDataLst>
                <p:tags r:id="rId15"/>
              </p:custDataLst>
            </p:nvPr>
          </p:nvPicPr>
          <p:blipFill>
            <a:blip r:embed="rId33"/>
            <a:stretch>
              <a:fillRect/>
            </a:stretch>
          </p:blipFill>
          <p:spPr>
            <a:xfrm>
              <a:off x="6422273" y="3070948"/>
              <a:ext cx="182880" cy="411480"/>
            </a:xfrm>
            <a:prstGeom prst="rect">
              <a:avLst/>
            </a:prstGeom>
          </p:spPr>
        </p:pic>
        <p:pic>
          <p:nvPicPr>
            <p:cNvPr id="36" name="Image 15" descr="preencoded.png">
              <a:extLst>
                <a:ext uri="{FF2B5EF4-FFF2-40B4-BE49-F238E27FC236}">
                  <a16:creationId xmlns:a16="http://schemas.microsoft.com/office/drawing/2014/main" id="{CBD2F4DA-3C1D-B276-A69F-64973AD7898C}"/>
                </a:ext>
              </a:extLst>
            </p:cNvPr>
            <p:cNvPicPr>
              <a:picLocks noChangeAspect="1"/>
            </p:cNvPicPr>
            <p:nvPr>
              <p:custDataLst>
                <p:tags r:id="rId16"/>
              </p:custDataLst>
            </p:nvPr>
          </p:nvPicPr>
          <p:blipFill>
            <a:blip r:embed="rId33"/>
            <a:stretch>
              <a:fillRect/>
            </a:stretch>
          </p:blipFill>
          <p:spPr>
            <a:xfrm>
              <a:off x="5805628" y="3070944"/>
              <a:ext cx="182880" cy="411480"/>
            </a:xfrm>
            <a:prstGeom prst="rect">
              <a:avLst/>
            </a:prstGeom>
          </p:spPr>
        </p:pic>
      </p:grpSp>
      <p:sp>
        <p:nvSpPr>
          <p:cNvPr id="38" name="Content Placeholder 37">
            <a:extLst>
              <a:ext uri="{FF2B5EF4-FFF2-40B4-BE49-F238E27FC236}">
                <a16:creationId xmlns:a16="http://schemas.microsoft.com/office/drawing/2014/main" id="{993B7F94-569D-6B0F-8C0C-D39AD53B037F}"/>
              </a:ext>
            </a:extLst>
          </p:cNvPr>
          <p:cNvSpPr>
            <a:spLocks noGrp="1"/>
          </p:cNvSpPr>
          <p:nvPr>
            <p:ph idx="1"/>
          </p:nvPr>
        </p:nvSpPr>
        <p:spPr>
          <a:xfrm>
            <a:off x="2529916" y="6279813"/>
            <a:ext cx="1095661" cy="578187"/>
          </a:xfrm>
        </p:spPr>
        <p:txBody>
          <a:bodyPr/>
          <a:lstStyle/>
          <a:p>
            <a:pPr marL="0" indent="0" algn="ctr">
              <a:buNone/>
            </a:pPr>
            <a:r>
              <a:rPr lang="en-US" dirty="0"/>
              <a:t>Edit</a:t>
            </a:r>
          </a:p>
        </p:txBody>
      </p:sp>
      <p:sp>
        <p:nvSpPr>
          <p:cNvPr id="39" name="Content Placeholder 37">
            <a:extLst>
              <a:ext uri="{FF2B5EF4-FFF2-40B4-BE49-F238E27FC236}">
                <a16:creationId xmlns:a16="http://schemas.microsoft.com/office/drawing/2014/main" id="{E31066BC-B2FD-09C9-BD90-D66CCFB02861}"/>
              </a:ext>
            </a:extLst>
          </p:cNvPr>
          <p:cNvSpPr txBox="1">
            <a:spLocks/>
          </p:cNvSpPr>
          <p:nvPr/>
        </p:nvSpPr>
        <p:spPr>
          <a:xfrm>
            <a:off x="5360067" y="6279813"/>
            <a:ext cx="1095661" cy="578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Sort</a:t>
            </a:r>
          </a:p>
        </p:txBody>
      </p:sp>
      <p:sp>
        <p:nvSpPr>
          <p:cNvPr id="40" name="Content Placeholder 37">
            <a:extLst>
              <a:ext uri="{FF2B5EF4-FFF2-40B4-BE49-F238E27FC236}">
                <a16:creationId xmlns:a16="http://schemas.microsoft.com/office/drawing/2014/main" id="{91A82F04-DF2F-6E7A-B02E-0A6E1FFFA374}"/>
              </a:ext>
            </a:extLst>
          </p:cNvPr>
          <p:cNvSpPr txBox="1">
            <a:spLocks/>
          </p:cNvSpPr>
          <p:nvPr/>
        </p:nvSpPr>
        <p:spPr>
          <a:xfrm>
            <a:off x="8740023" y="6258469"/>
            <a:ext cx="1432014" cy="578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Analyze</a:t>
            </a:r>
          </a:p>
        </p:txBody>
      </p:sp>
      <p:pic>
        <p:nvPicPr>
          <p:cNvPr id="3" name="Picture 2">
            <a:extLst>
              <a:ext uri="{FF2B5EF4-FFF2-40B4-BE49-F238E27FC236}">
                <a16:creationId xmlns:a16="http://schemas.microsoft.com/office/drawing/2014/main" id="{1D313B9F-FB97-C524-6263-0942C265D310}"/>
              </a:ext>
            </a:extLst>
          </p:cNvPr>
          <p:cNvPicPr>
            <a:picLocks noChangeAspect="1"/>
          </p:cNvPicPr>
          <p:nvPr/>
        </p:nvPicPr>
        <p:blipFill>
          <a:blip r:embed="rId34"/>
          <a:stretch>
            <a:fillRect/>
          </a:stretch>
        </p:blipFill>
        <p:spPr>
          <a:xfrm>
            <a:off x="7385930" y="2540825"/>
            <a:ext cx="4140200" cy="2730500"/>
          </a:xfrm>
          <a:prstGeom prst="rect">
            <a:avLst/>
          </a:prstGeom>
        </p:spPr>
      </p:pic>
      <p:sp>
        <p:nvSpPr>
          <p:cNvPr id="5" name="Content Placeholder 37">
            <a:extLst>
              <a:ext uri="{FF2B5EF4-FFF2-40B4-BE49-F238E27FC236}">
                <a16:creationId xmlns:a16="http://schemas.microsoft.com/office/drawing/2014/main" id="{6AC35EF4-2A69-70A5-E85E-1A34A777971F}"/>
              </a:ext>
            </a:extLst>
          </p:cNvPr>
          <p:cNvSpPr txBox="1">
            <a:spLocks/>
          </p:cNvSpPr>
          <p:nvPr/>
        </p:nvSpPr>
        <p:spPr>
          <a:xfrm>
            <a:off x="8740023" y="5186709"/>
            <a:ext cx="1432014" cy="57818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AA Position</a:t>
            </a:r>
          </a:p>
        </p:txBody>
      </p:sp>
      <p:sp>
        <p:nvSpPr>
          <p:cNvPr id="6" name="Content Placeholder 37">
            <a:extLst>
              <a:ext uri="{FF2B5EF4-FFF2-40B4-BE49-F238E27FC236}">
                <a16:creationId xmlns:a16="http://schemas.microsoft.com/office/drawing/2014/main" id="{8DA864A1-4E3D-C651-6890-16F2D12C61A3}"/>
              </a:ext>
            </a:extLst>
          </p:cNvPr>
          <p:cNvSpPr txBox="1">
            <a:spLocks/>
          </p:cNvSpPr>
          <p:nvPr/>
        </p:nvSpPr>
        <p:spPr>
          <a:xfrm rot="16200000">
            <a:off x="6823145" y="3550220"/>
            <a:ext cx="1432014" cy="57818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Effect size</a:t>
            </a:r>
          </a:p>
        </p:txBody>
      </p:sp>
      <p:sp>
        <p:nvSpPr>
          <p:cNvPr id="7" name="Content Placeholder 37">
            <a:extLst>
              <a:ext uri="{FF2B5EF4-FFF2-40B4-BE49-F238E27FC236}">
                <a16:creationId xmlns:a16="http://schemas.microsoft.com/office/drawing/2014/main" id="{3E36DE87-E037-9C58-7477-AF7614AC624C}"/>
              </a:ext>
            </a:extLst>
          </p:cNvPr>
          <p:cNvSpPr txBox="1">
            <a:spLocks/>
          </p:cNvSpPr>
          <p:nvPr/>
        </p:nvSpPr>
        <p:spPr>
          <a:xfrm>
            <a:off x="1390850" y="3383502"/>
            <a:ext cx="1095661" cy="57818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HCT116</a:t>
            </a:r>
          </a:p>
        </p:txBody>
      </p:sp>
    </p:spTree>
    <p:extLst>
      <p:ext uri="{BB962C8B-B14F-4D97-AF65-F5344CB8AC3E}">
        <p14:creationId xmlns:p14="http://schemas.microsoft.com/office/powerpoint/2010/main" val="230149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1ED0-629E-17CE-6A30-FB2AA1AD2AEA}"/>
              </a:ext>
            </a:extLst>
          </p:cNvPr>
          <p:cNvSpPr>
            <a:spLocks noGrp="1"/>
          </p:cNvSpPr>
          <p:nvPr>
            <p:ph type="title"/>
          </p:nvPr>
        </p:nvSpPr>
        <p:spPr/>
        <p:txBody>
          <a:bodyPr/>
          <a:lstStyle/>
          <a:p>
            <a:r>
              <a:rPr lang="en-US" dirty="0"/>
              <a:t>Objectives of our workshop</a:t>
            </a:r>
          </a:p>
        </p:txBody>
      </p:sp>
      <p:sp>
        <p:nvSpPr>
          <p:cNvPr id="3" name="Content Placeholder 2">
            <a:extLst>
              <a:ext uri="{FF2B5EF4-FFF2-40B4-BE49-F238E27FC236}">
                <a16:creationId xmlns:a16="http://schemas.microsoft.com/office/drawing/2014/main" id="{65DF6D1E-DFE4-48F1-2541-0ACB4F01D26D}"/>
              </a:ext>
            </a:extLst>
          </p:cNvPr>
          <p:cNvSpPr>
            <a:spLocks noGrp="1"/>
          </p:cNvSpPr>
          <p:nvPr>
            <p:ph idx="1"/>
          </p:nvPr>
        </p:nvSpPr>
        <p:spPr/>
        <p:txBody>
          <a:bodyPr/>
          <a:lstStyle/>
          <a:p>
            <a:r>
              <a:rPr lang="en-US" b="1" dirty="0"/>
              <a:t>1. How can we design a library of prime editing guide RNAs to assess LDLR variant effect?</a:t>
            </a:r>
          </a:p>
          <a:p>
            <a:r>
              <a:rPr lang="en-US" dirty="0"/>
              <a:t>2. How well do our functional scores correlate with “common-sense” variant effect measurements?</a:t>
            </a:r>
          </a:p>
          <a:p>
            <a:r>
              <a:rPr lang="en-US" dirty="0"/>
              <a:t>3. How do LDLR variant effects relate to protein structure and protein-protein interactions?</a:t>
            </a:r>
          </a:p>
          <a:p>
            <a:r>
              <a:rPr lang="en-US" dirty="0"/>
              <a:t>4. Why prime editing instead of cDNA overexpression-based deep mutational scanning?</a:t>
            </a:r>
          </a:p>
          <a:p>
            <a:endParaRPr lang="en-US" dirty="0"/>
          </a:p>
        </p:txBody>
      </p:sp>
    </p:spTree>
    <p:extLst>
      <p:ext uri="{BB962C8B-B14F-4D97-AF65-F5344CB8AC3E}">
        <p14:creationId xmlns:p14="http://schemas.microsoft.com/office/powerpoint/2010/main" val="3032380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C3F9-CD7C-9627-B5AF-63BC311EA076}"/>
              </a:ext>
            </a:extLst>
          </p:cNvPr>
          <p:cNvSpPr>
            <a:spLocks noGrp="1"/>
          </p:cNvSpPr>
          <p:nvPr>
            <p:ph type="title"/>
          </p:nvPr>
        </p:nvSpPr>
        <p:spPr/>
        <p:txBody>
          <a:bodyPr/>
          <a:lstStyle/>
          <a:p>
            <a:r>
              <a:rPr lang="en-US" dirty="0"/>
              <a:t>Open the </a:t>
            </a:r>
            <a:r>
              <a:rPr lang="en-US" dirty="0" err="1"/>
              <a:t>Colab</a:t>
            </a:r>
            <a:r>
              <a:rPr lang="en-US" dirty="0"/>
              <a:t> notebook on </a:t>
            </a:r>
            <a:r>
              <a:rPr lang="en-US" dirty="0" err="1"/>
              <a:t>Github</a:t>
            </a:r>
            <a:endParaRPr lang="en-US" dirty="0"/>
          </a:p>
        </p:txBody>
      </p:sp>
      <p:sp>
        <p:nvSpPr>
          <p:cNvPr id="3" name="Content Placeholder 2">
            <a:extLst>
              <a:ext uri="{FF2B5EF4-FFF2-40B4-BE49-F238E27FC236}">
                <a16:creationId xmlns:a16="http://schemas.microsoft.com/office/drawing/2014/main" id="{83414676-0F56-687D-43DF-C76170287240}"/>
              </a:ext>
            </a:extLst>
          </p:cNvPr>
          <p:cNvSpPr>
            <a:spLocks noGrp="1"/>
          </p:cNvSpPr>
          <p:nvPr>
            <p:ph idx="1"/>
          </p:nvPr>
        </p:nvSpPr>
        <p:spPr/>
        <p:txBody>
          <a:bodyPr/>
          <a:lstStyle/>
          <a:p>
            <a:r>
              <a:rPr lang="en-US" dirty="0"/>
              <a:t>Please consult the following link for the afternoon lab: prime editing screening done in our preprint for (Zhou et al. 2025). </a:t>
            </a:r>
            <a:r>
              <a:rPr lang="en-US" u="sng" dirty="0">
                <a:hlinkClick r:id="rId2"/>
              </a:rPr>
              <a:t>https://colab.research.google.com/github/pzhou1729/2026_CRISPRscreen_GeneticsBootcamp/blob/main/LDLR_PE_tutorial.ipynb#scrollTo=b20a9f4f-fef1-40cd-8b79-b14e7108f58e</a:t>
            </a: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3535403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5584-8683-8FA8-1D49-0C618854DCC0}"/>
              </a:ext>
            </a:extLst>
          </p:cNvPr>
          <p:cNvSpPr>
            <a:spLocks noGrp="1"/>
          </p:cNvSpPr>
          <p:nvPr>
            <p:ph type="title"/>
          </p:nvPr>
        </p:nvSpPr>
        <p:spPr/>
        <p:txBody>
          <a:bodyPr/>
          <a:lstStyle/>
          <a:p>
            <a:r>
              <a:rPr lang="en-US" dirty="0"/>
              <a:t>Basic facts about library</a:t>
            </a:r>
          </a:p>
        </p:txBody>
      </p:sp>
      <p:sp>
        <p:nvSpPr>
          <p:cNvPr id="3" name="Content Placeholder 2">
            <a:extLst>
              <a:ext uri="{FF2B5EF4-FFF2-40B4-BE49-F238E27FC236}">
                <a16:creationId xmlns:a16="http://schemas.microsoft.com/office/drawing/2014/main" id="{EF0AB89C-0B3F-5A2C-D4AC-99A25097E8B5}"/>
              </a:ext>
            </a:extLst>
          </p:cNvPr>
          <p:cNvSpPr>
            <a:spLocks noGrp="1"/>
          </p:cNvSpPr>
          <p:nvPr>
            <p:ph idx="1"/>
          </p:nvPr>
        </p:nvSpPr>
        <p:spPr/>
        <p:txBody>
          <a:bodyPr/>
          <a:lstStyle/>
          <a:p>
            <a:r>
              <a:rPr lang="en-US" dirty="0" err="1"/>
              <a:t>pegRNA</a:t>
            </a:r>
            <a:r>
              <a:rPr lang="en-US" dirty="0"/>
              <a:t> count</a:t>
            </a:r>
          </a:p>
          <a:p>
            <a:r>
              <a:rPr lang="en-US" dirty="0"/>
              <a:t>Negative control </a:t>
            </a:r>
            <a:r>
              <a:rPr lang="en-US" dirty="0" err="1"/>
              <a:t>pegRNA</a:t>
            </a:r>
            <a:r>
              <a:rPr lang="en-US" dirty="0"/>
              <a:t> count?</a:t>
            </a:r>
          </a:p>
          <a:p>
            <a:r>
              <a:rPr lang="en-US" dirty="0"/>
              <a:t>Number of LDLR amino acids targeted?</a:t>
            </a:r>
          </a:p>
          <a:p>
            <a:pPr marL="0" indent="0">
              <a:buNone/>
            </a:pPr>
            <a:endParaRPr lang="en-US" dirty="0"/>
          </a:p>
        </p:txBody>
      </p:sp>
    </p:spTree>
    <p:extLst>
      <p:ext uri="{BB962C8B-B14F-4D97-AF65-F5344CB8AC3E}">
        <p14:creationId xmlns:p14="http://schemas.microsoft.com/office/powerpoint/2010/main" val="3731313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D243-B377-7C36-532D-F70A8B93D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55408-EA42-C0CC-B817-FEAC110B1214}"/>
              </a:ext>
            </a:extLst>
          </p:cNvPr>
          <p:cNvSpPr>
            <a:spLocks noGrp="1"/>
          </p:cNvSpPr>
          <p:nvPr>
            <p:ph type="title"/>
          </p:nvPr>
        </p:nvSpPr>
        <p:spPr/>
        <p:txBody>
          <a:bodyPr/>
          <a:lstStyle/>
          <a:p>
            <a:r>
              <a:rPr lang="en-US" dirty="0"/>
              <a:t>Basic facts about library</a:t>
            </a:r>
          </a:p>
        </p:txBody>
      </p:sp>
      <p:sp>
        <p:nvSpPr>
          <p:cNvPr id="3" name="Content Placeholder 2">
            <a:extLst>
              <a:ext uri="{FF2B5EF4-FFF2-40B4-BE49-F238E27FC236}">
                <a16:creationId xmlns:a16="http://schemas.microsoft.com/office/drawing/2014/main" id="{D5A9D3D3-A892-4A89-0AF2-2A79C1634B47}"/>
              </a:ext>
            </a:extLst>
          </p:cNvPr>
          <p:cNvSpPr>
            <a:spLocks noGrp="1"/>
          </p:cNvSpPr>
          <p:nvPr>
            <p:ph idx="1"/>
          </p:nvPr>
        </p:nvSpPr>
        <p:spPr/>
        <p:txBody>
          <a:bodyPr/>
          <a:lstStyle/>
          <a:p>
            <a:r>
              <a:rPr lang="en-US" dirty="0" err="1"/>
              <a:t>pegRNA</a:t>
            </a:r>
            <a:r>
              <a:rPr lang="en-US" dirty="0"/>
              <a:t> count</a:t>
            </a:r>
          </a:p>
          <a:p>
            <a:pPr lvl="1"/>
            <a:r>
              <a:rPr lang="en-US" dirty="0"/>
              <a:t>6000 </a:t>
            </a:r>
            <a:r>
              <a:rPr lang="en-US" dirty="0" err="1"/>
              <a:t>pegRNAs</a:t>
            </a:r>
            <a:endParaRPr lang="en-US" dirty="0"/>
          </a:p>
          <a:p>
            <a:r>
              <a:rPr lang="en-US" dirty="0"/>
              <a:t>Negative control </a:t>
            </a:r>
            <a:r>
              <a:rPr lang="en-US" dirty="0" err="1"/>
              <a:t>pegRNA</a:t>
            </a:r>
            <a:r>
              <a:rPr lang="en-US" dirty="0"/>
              <a:t> count?</a:t>
            </a:r>
          </a:p>
          <a:p>
            <a:pPr lvl="1"/>
            <a:r>
              <a:rPr lang="en-US" dirty="0"/>
              <a:t>305</a:t>
            </a:r>
          </a:p>
          <a:p>
            <a:r>
              <a:rPr lang="en-US" dirty="0"/>
              <a:t> Number of LDLR amino acids targeted?</a:t>
            </a:r>
          </a:p>
          <a:p>
            <a:pPr lvl="1"/>
            <a:r>
              <a:rPr lang="en-US" dirty="0"/>
              <a:t>815</a:t>
            </a:r>
          </a:p>
          <a:p>
            <a:r>
              <a:rPr lang="en-US" dirty="0"/>
              <a:t>We can’t target all 860 amino acids. Why?</a:t>
            </a:r>
          </a:p>
          <a:p>
            <a:r>
              <a:rPr lang="en-US" dirty="0"/>
              <a:t>Why 6000 </a:t>
            </a:r>
            <a:r>
              <a:rPr lang="en-US" dirty="0" err="1"/>
              <a:t>pegRNAs</a:t>
            </a:r>
            <a:r>
              <a:rPr lang="en-US" dirty="0"/>
              <a:t> instead of the full 18060? </a:t>
            </a:r>
          </a:p>
        </p:txBody>
      </p:sp>
    </p:spTree>
    <p:extLst>
      <p:ext uri="{BB962C8B-B14F-4D97-AF65-F5344CB8AC3E}">
        <p14:creationId xmlns:p14="http://schemas.microsoft.com/office/powerpoint/2010/main" val="134024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FE77F-D16E-D7AA-116C-496F3F8547AF}"/>
              </a:ext>
            </a:extLst>
          </p:cNvPr>
          <p:cNvSpPr>
            <a:spLocks noGrp="1"/>
          </p:cNvSpPr>
          <p:nvPr>
            <p:ph type="title"/>
          </p:nvPr>
        </p:nvSpPr>
        <p:spPr/>
        <p:txBody>
          <a:bodyPr/>
          <a:lstStyle/>
          <a:p>
            <a:r>
              <a:rPr lang="en-US" dirty="0"/>
              <a:t>PRIDICT/PRIDICT2.0 estimates PE frequencies </a:t>
            </a:r>
          </a:p>
        </p:txBody>
      </p:sp>
      <p:sp>
        <p:nvSpPr>
          <p:cNvPr id="3" name="Content Placeholder 2">
            <a:extLst>
              <a:ext uri="{FF2B5EF4-FFF2-40B4-BE49-F238E27FC236}">
                <a16:creationId xmlns:a16="http://schemas.microsoft.com/office/drawing/2014/main" id="{689BCE9E-B77F-87F2-C4E2-3ED47931F2D7}"/>
              </a:ext>
            </a:extLst>
          </p:cNvPr>
          <p:cNvSpPr>
            <a:spLocks noGrp="1"/>
          </p:cNvSpPr>
          <p:nvPr>
            <p:ph idx="1"/>
          </p:nvPr>
        </p:nvSpPr>
        <p:spPr/>
        <p:txBody>
          <a:bodyPr/>
          <a:lstStyle/>
          <a:p>
            <a:r>
              <a:rPr lang="en-US" dirty="0"/>
              <a:t>Neural network for predicting prime editing efficiency</a:t>
            </a:r>
          </a:p>
          <a:p>
            <a:r>
              <a:rPr lang="en-US" dirty="0"/>
              <a:t>How well does it work in practice? </a:t>
            </a:r>
          </a:p>
        </p:txBody>
      </p:sp>
      <p:pic>
        <p:nvPicPr>
          <p:cNvPr id="5" name="Picture 4">
            <a:extLst>
              <a:ext uri="{FF2B5EF4-FFF2-40B4-BE49-F238E27FC236}">
                <a16:creationId xmlns:a16="http://schemas.microsoft.com/office/drawing/2014/main" id="{944C58E3-4161-9839-805F-B846E9B9B70A}"/>
              </a:ext>
            </a:extLst>
          </p:cNvPr>
          <p:cNvPicPr>
            <a:picLocks noChangeAspect="1"/>
          </p:cNvPicPr>
          <p:nvPr/>
        </p:nvPicPr>
        <p:blipFill>
          <a:blip r:embed="rId3"/>
          <a:stretch>
            <a:fillRect/>
          </a:stretch>
        </p:blipFill>
        <p:spPr>
          <a:xfrm>
            <a:off x="294604" y="3619693"/>
            <a:ext cx="11602791" cy="2733290"/>
          </a:xfrm>
          <a:prstGeom prst="rect">
            <a:avLst/>
          </a:prstGeom>
        </p:spPr>
      </p:pic>
      <p:sp>
        <p:nvSpPr>
          <p:cNvPr id="6" name="Rectangle 5">
            <a:extLst>
              <a:ext uri="{FF2B5EF4-FFF2-40B4-BE49-F238E27FC236}">
                <a16:creationId xmlns:a16="http://schemas.microsoft.com/office/drawing/2014/main" id="{31D8F3DE-1F61-78E4-A1F8-9494EC38205C}"/>
              </a:ext>
            </a:extLst>
          </p:cNvPr>
          <p:cNvSpPr/>
          <p:nvPr/>
        </p:nvSpPr>
        <p:spPr>
          <a:xfrm>
            <a:off x="10668001" y="3619694"/>
            <a:ext cx="1295400" cy="2733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37">
            <a:extLst>
              <a:ext uri="{FF2B5EF4-FFF2-40B4-BE49-F238E27FC236}">
                <a16:creationId xmlns:a16="http://schemas.microsoft.com/office/drawing/2014/main" id="{D631821D-4109-AC97-3048-835A4D100B8A}"/>
              </a:ext>
            </a:extLst>
          </p:cNvPr>
          <p:cNvSpPr txBox="1">
            <a:spLocks/>
          </p:cNvSpPr>
          <p:nvPr/>
        </p:nvSpPr>
        <p:spPr>
          <a:xfrm>
            <a:off x="9773060" y="2736566"/>
            <a:ext cx="1432014" cy="57818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MMR deficient</a:t>
            </a:r>
          </a:p>
        </p:txBody>
      </p:sp>
      <p:sp>
        <p:nvSpPr>
          <p:cNvPr id="8" name="Content Placeholder 37">
            <a:extLst>
              <a:ext uri="{FF2B5EF4-FFF2-40B4-BE49-F238E27FC236}">
                <a16:creationId xmlns:a16="http://schemas.microsoft.com/office/drawing/2014/main" id="{EC8DF436-F28A-730D-F0F5-A2125F6AF1E3}"/>
              </a:ext>
            </a:extLst>
          </p:cNvPr>
          <p:cNvSpPr txBox="1">
            <a:spLocks/>
          </p:cNvSpPr>
          <p:nvPr/>
        </p:nvSpPr>
        <p:spPr>
          <a:xfrm>
            <a:off x="10902296" y="2684943"/>
            <a:ext cx="1432014" cy="57818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MMR proficient</a:t>
            </a:r>
          </a:p>
        </p:txBody>
      </p:sp>
      <p:cxnSp>
        <p:nvCxnSpPr>
          <p:cNvPr id="10" name="Straight Arrow Connector 9">
            <a:extLst>
              <a:ext uri="{FF2B5EF4-FFF2-40B4-BE49-F238E27FC236}">
                <a16:creationId xmlns:a16="http://schemas.microsoft.com/office/drawing/2014/main" id="{3D123D0C-1533-1E27-C0DD-AB2C72C099B4}"/>
              </a:ext>
            </a:extLst>
          </p:cNvPr>
          <p:cNvCxnSpPr/>
          <p:nvPr/>
        </p:nvCxnSpPr>
        <p:spPr>
          <a:xfrm>
            <a:off x="10567447" y="3263130"/>
            <a:ext cx="375147" cy="45103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3D5AE70-27A3-8306-3CA9-3314115C31E3}"/>
              </a:ext>
            </a:extLst>
          </p:cNvPr>
          <p:cNvCxnSpPr>
            <a:cxnSpLocks/>
          </p:cNvCxnSpPr>
          <p:nvPr/>
        </p:nvCxnSpPr>
        <p:spPr>
          <a:xfrm>
            <a:off x="11618303" y="3225123"/>
            <a:ext cx="0" cy="4890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E55BE93-9920-3F12-496D-1A0E8BAB6FB1}"/>
              </a:ext>
            </a:extLst>
          </p:cNvPr>
          <p:cNvCxnSpPr>
            <a:cxnSpLocks/>
          </p:cNvCxnSpPr>
          <p:nvPr/>
        </p:nvCxnSpPr>
        <p:spPr>
          <a:xfrm>
            <a:off x="9122445" y="3781630"/>
            <a:ext cx="1665579" cy="4364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Content Placeholder 37">
            <a:extLst>
              <a:ext uri="{FF2B5EF4-FFF2-40B4-BE49-F238E27FC236}">
                <a16:creationId xmlns:a16="http://schemas.microsoft.com/office/drawing/2014/main" id="{B1B3482C-F333-B138-0DD0-80485C82745A}"/>
              </a:ext>
            </a:extLst>
          </p:cNvPr>
          <p:cNvSpPr txBox="1">
            <a:spLocks/>
          </p:cNvSpPr>
          <p:nvPr/>
        </p:nvSpPr>
        <p:spPr>
          <a:xfrm>
            <a:off x="7792999" y="3126407"/>
            <a:ext cx="2413439" cy="6300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Predicted editing efficiency (%)</a:t>
            </a:r>
          </a:p>
        </p:txBody>
      </p:sp>
    </p:spTree>
    <p:extLst>
      <p:ext uri="{BB962C8B-B14F-4D97-AF65-F5344CB8AC3E}">
        <p14:creationId xmlns:p14="http://schemas.microsoft.com/office/powerpoint/2010/main" val="2578833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DE869-4C05-BEFA-2D59-BE01349F9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D0D9D-DAE8-DECD-E20F-359426BBF2BD}"/>
              </a:ext>
            </a:extLst>
          </p:cNvPr>
          <p:cNvSpPr>
            <a:spLocks noGrp="1"/>
          </p:cNvSpPr>
          <p:nvPr>
            <p:ph type="title"/>
          </p:nvPr>
        </p:nvSpPr>
        <p:spPr>
          <a:xfrm>
            <a:off x="514350" y="238798"/>
            <a:ext cx="11163300" cy="1325563"/>
          </a:xfrm>
        </p:spPr>
        <p:txBody>
          <a:bodyPr/>
          <a:lstStyle/>
          <a:p>
            <a:r>
              <a:rPr lang="en-US" dirty="0"/>
              <a:t>How well does PRIDICT2.0 work? Try changing RT length!</a:t>
            </a:r>
          </a:p>
        </p:txBody>
      </p:sp>
      <p:pic>
        <p:nvPicPr>
          <p:cNvPr id="5" name="Content Placeholder 4">
            <a:extLst>
              <a:ext uri="{FF2B5EF4-FFF2-40B4-BE49-F238E27FC236}">
                <a16:creationId xmlns:a16="http://schemas.microsoft.com/office/drawing/2014/main" id="{4C87A73D-702E-9EAD-4F8A-5AEDD2DFE501}"/>
              </a:ext>
            </a:extLst>
          </p:cNvPr>
          <p:cNvPicPr>
            <a:picLocks noGrp="1" noChangeAspect="1"/>
          </p:cNvPicPr>
          <p:nvPr>
            <p:ph idx="1"/>
          </p:nvPr>
        </p:nvPicPr>
        <p:blipFill>
          <a:blip r:embed="rId3"/>
          <a:stretch>
            <a:fillRect/>
          </a:stretch>
        </p:blipFill>
        <p:spPr>
          <a:xfrm>
            <a:off x="2873264" y="1749305"/>
            <a:ext cx="6445472" cy="3359389"/>
          </a:xfrm>
        </p:spPr>
      </p:pic>
      <p:sp>
        <p:nvSpPr>
          <p:cNvPr id="6" name="Content Placeholder 2">
            <a:extLst>
              <a:ext uri="{FF2B5EF4-FFF2-40B4-BE49-F238E27FC236}">
                <a16:creationId xmlns:a16="http://schemas.microsoft.com/office/drawing/2014/main" id="{81F414E2-F6BF-FA4A-11AC-3D92ACBBC68A}"/>
              </a:ext>
            </a:extLst>
          </p:cNvPr>
          <p:cNvSpPr txBox="1">
            <a:spLocks/>
          </p:cNvSpPr>
          <p:nvPr/>
        </p:nvSpPr>
        <p:spPr>
          <a:xfrm>
            <a:off x="838200" y="5478581"/>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might make predicting </a:t>
            </a:r>
            <a:r>
              <a:rPr lang="en-US" dirty="0" err="1"/>
              <a:t>pegRNA</a:t>
            </a:r>
            <a:r>
              <a:rPr lang="en-US" dirty="0"/>
              <a:t> efficiency difficult?</a:t>
            </a:r>
          </a:p>
        </p:txBody>
      </p:sp>
    </p:spTree>
    <p:extLst>
      <p:ext uri="{BB962C8B-B14F-4D97-AF65-F5344CB8AC3E}">
        <p14:creationId xmlns:p14="http://schemas.microsoft.com/office/powerpoint/2010/main" val="3385824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258CAD-E035-0648-7156-7872BAFDF49F}"/>
              </a:ext>
            </a:extLst>
          </p:cNvPr>
          <p:cNvPicPr>
            <a:picLocks noGrp="1" noChangeAspect="1"/>
          </p:cNvPicPr>
          <p:nvPr>
            <p:ph idx="1"/>
          </p:nvPr>
        </p:nvPicPr>
        <p:blipFill>
          <a:blip r:embed="rId2"/>
          <a:stretch>
            <a:fillRect/>
          </a:stretch>
        </p:blipFill>
        <p:spPr>
          <a:xfrm>
            <a:off x="2873264" y="1749305"/>
            <a:ext cx="6445472" cy="3359389"/>
          </a:xfrm>
        </p:spPr>
      </p:pic>
      <p:sp>
        <p:nvSpPr>
          <p:cNvPr id="6" name="Content Placeholder 2">
            <a:extLst>
              <a:ext uri="{FF2B5EF4-FFF2-40B4-BE49-F238E27FC236}">
                <a16:creationId xmlns:a16="http://schemas.microsoft.com/office/drawing/2014/main" id="{81E4836C-7B90-21CE-EAA8-D442496BD4E4}"/>
              </a:ext>
            </a:extLst>
          </p:cNvPr>
          <p:cNvSpPr txBox="1">
            <a:spLocks/>
          </p:cNvSpPr>
          <p:nvPr/>
        </p:nvSpPr>
        <p:spPr>
          <a:xfrm>
            <a:off x="838200" y="5478581"/>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might make predicting </a:t>
            </a:r>
            <a:r>
              <a:rPr lang="en-US" dirty="0" err="1"/>
              <a:t>pegRNA</a:t>
            </a:r>
            <a:r>
              <a:rPr lang="en-US" dirty="0"/>
              <a:t> efficiency difficult?</a:t>
            </a:r>
          </a:p>
          <a:p>
            <a:pPr marL="0" indent="0" algn="ctr">
              <a:buNone/>
            </a:pPr>
            <a:r>
              <a:rPr lang="en-US" dirty="0"/>
              <a:t>Protospacer design, RT template design, chromatin context</a:t>
            </a:r>
          </a:p>
        </p:txBody>
      </p:sp>
      <p:sp>
        <p:nvSpPr>
          <p:cNvPr id="10" name="Title 1">
            <a:extLst>
              <a:ext uri="{FF2B5EF4-FFF2-40B4-BE49-F238E27FC236}">
                <a16:creationId xmlns:a16="http://schemas.microsoft.com/office/drawing/2014/main" id="{A818BF0B-E513-5DD4-AB11-41E90779146D}"/>
              </a:ext>
            </a:extLst>
          </p:cNvPr>
          <p:cNvSpPr>
            <a:spLocks noGrp="1"/>
          </p:cNvSpPr>
          <p:nvPr>
            <p:ph type="title"/>
          </p:nvPr>
        </p:nvSpPr>
        <p:spPr>
          <a:xfrm>
            <a:off x="514350" y="238798"/>
            <a:ext cx="11163300" cy="1325563"/>
          </a:xfrm>
        </p:spPr>
        <p:txBody>
          <a:bodyPr/>
          <a:lstStyle/>
          <a:p>
            <a:r>
              <a:rPr lang="en-US" dirty="0"/>
              <a:t>How well does PRIDICT2.0 work? Try changing RT length!</a:t>
            </a:r>
          </a:p>
        </p:txBody>
      </p:sp>
    </p:spTree>
    <p:extLst>
      <p:ext uri="{BB962C8B-B14F-4D97-AF65-F5344CB8AC3E}">
        <p14:creationId xmlns:p14="http://schemas.microsoft.com/office/powerpoint/2010/main" val="338433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CEAA9-DF68-8519-AC6D-E8B704C50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A59EF-E6C5-36BB-A0A3-4CACE92796D7}"/>
              </a:ext>
            </a:extLst>
          </p:cNvPr>
          <p:cNvSpPr>
            <a:spLocks noGrp="1"/>
          </p:cNvSpPr>
          <p:nvPr>
            <p:ph type="title"/>
          </p:nvPr>
        </p:nvSpPr>
        <p:spPr/>
        <p:txBody>
          <a:bodyPr/>
          <a:lstStyle/>
          <a:p>
            <a:pPr algn="ctr"/>
            <a:r>
              <a:rPr lang="en-US" dirty="0"/>
              <a:t>Varying RT length changes editing efficiency</a:t>
            </a:r>
          </a:p>
        </p:txBody>
      </p:sp>
      <p:pic>
        <p:nvPicPr>
          <p:cNvPr id="5" name="Picture 4" descr="A graph showing a number of dots&#10;&#10;AI-generated content may be incorrect.">
            <a:extLst>
              <a:ext uri="{FF2B5EF4-FFF2-40B4-BE49-F238E27FC236}">
                <a16:creationId xmlns:a16="http://schemas.microsoft.com/office/drawing/2014/main" id="{C25D62D8-58B5-D5E0-2912-DC74F92E9F4D}"/>
              </a:ext>
            </a:extLst>
          </p:cNvPr>
          <p:cNvPicPr>
            <a:picLocks noChangeAspect="1"/>
          </p:cNvPicPr>
          <p:nvPr/>
        </p:nvPicPr>
        <p:blipFill>
          <a:blip r:embed="rId2"/>
          <a:stretch>
            <a:fillRect/>
          </a:stretch>
        </p:blipFill>
        <p:spPr>
          <a:xfrm>
            <a:off x="260349" y="1690688"/>
            <a:ext cx="5760357" cy="2502594"/>
          </a:xfrm>
          <a:prstGeom prst="rect">
            <a:avLst/>
          </a:prstGeom>
        </p:spPr>
      </p:pic>
      <p:pic>
        <p:nvPicPr>
          <p:cNvPr id="9" name="Picture 8" descr="A graph showing a number of green dots&#10;&#10;AI-generated content may be incorrect.">
            <a:extLst>
              <a:ext uri="{FF2B5EF4-FFF2-40B4-BE49-F238E27FC236}">
                <a16:creationId xmlns:a16="http://schemas.microsoft.com/office/drawing/2014/main" id="{92193ED5-02FE-D63F-AAA6-5264B0E53FAA}"/>
              </a:ext>
            </a:extLst>
          </p:cNvPr>
          <p:cNvPicPr>
            <a:picLocks noChangeAspect="1"/>
          </p:cNvPicPr>
          <p:nvPr/>
        </p:nvPicPr>
        <p:blipFill>
          <a:blip r:embed="rId3"/>
          <a:stretch>
            <a:fillRect/>
          </a:stretch>
        </p:blipFill>
        <p:spPr>
          <a:xfrm>
            <a:off x="6230257" y="1690688"/>
            <a:ext cx="5760357" cy="2502594"/>
          </a:xfrm>
          <a:prstGeom prst="rect">
            <a:avLst/>
          </a:prstGeom>
        </p:spPr>
      </p:pic>
      <p:sp>
        <p:nvSpPr>
          <p:cNvPr id="10" name="Oval 9">
            <a:extLst>
              <a:ext uri="{FF2B5EF4-FFF2-40B4-BE49-F238E27FC236}">
                <a16:creationId xmlns:a16="http://schemas.microsoft.com/office/drawing/2014/main" id="{974E5C3D-3000-C515-50B8-ECCAF4ABA81C}"/>
              </a:ext>
            </a:extLst>
          </p:cNvPr>
          <p:cNvSpPr/>
          <p:nvPr/>
        </p:nvSpPr>
        <p:spPr>
          <a:xfrm>
            <a:off x="4196443" y="2060242"/>
            <a:ext cx="1143000" cy="75111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13FA375-A198-C18E-C97B-F447039F2FE7}"/>
              </a:ext>
            </a:extLst>
          </p:cNvPr>
          <p:cNvSpPr/>
          <p:nvPr/>
        </p:nvSpPr>
        <p:spPr>
          <a:xfrm>
            <a:off x="6389914" y="2060242"/>
            <a:ext cx="1143000" cy="75111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C22BF15D-F8AB-DB84-3BD2-E0DAB30D0DF5}"/>
              </a:ext>
            </a:extLst>
          </p:cNvPr>
          <p:cNvSpPr txBox="1">
            <a:spLocks/>
          </p:cNvSpPr>
          <p:nvPr/>
        </p:nvSpPr>
        <p:spPr>
          <a:xfrm>
            <a:off x="838200" y="5227985"/>
            <a:ext cx="10515600" cy="68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RT length is the strongest predictor of editing efficiency</a:t>
            </a:r>
          </a:p>
        </p:txBody>
      </p:sp>
      <p:sp>
        <p:nvSpPr>
          <p:cNvPr id="13" name="Content Placeholder 2">
            <a:extLst>
              <a:ext uri="{FF2B5EF4-FFF2-40B4-BE49-F238E27FC236}">
                <a16:creationId xmlns:a16="http://schemas.microsoft.com/office/drawing/2014/main" id="{A4CC7A09-3052-1B7F-E804-4A6ACF620DBE}"/>
              </a:ext>
            </a:extLst>
          </p:cNvPr>
          <p:cNvSpPr txBox="1">
            <a:spLocks/>
          </p:cNvSpPr>
          <p:nvPr/>
        </p:nvSpPr>
        <p:spPr>
          <a:xfrm>
            <a:off x="1423758" y="4304741"/>
            <a:ext cx="3433537" cy="68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RT length = 11 nt</a:t>
            </a:r>
          </a:p>
        </p:txBody>
      </p:sp>
      <p:sp>
        <p:nvSpPr>
          <p:cNvPr id="14" name="Content Placeholder 2">
            <a:extLst>
              <a:ext uri="{FF2B5EF4-FFF2-40B4-BE49-F238E27FC236}">
                <a16:creationId xmlns:a16="http://schemas.microsoft.com/office/drawing/2014/main" id="{5372A87E-D19C-D058-CFD0-50F2F1A0745B}"/>
              </a:ext>
            </a:extLst>
          </p:cNvPr>
          <p:cNvSpPr txBox="1">
            <a:spLocks/>
          </p:cNvSpPr>
          <p:nvPr/>
        </p:nvSpPr>
        <p:spPr>
          <a:xfrm>
            <a:off x="7393666" y="4304741"/>
            <a:ext cx="3433537" cy="68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RT length = 28 nt</a:t>
            </a:r>
          </a:p>
        </p:txBody>
      </p:sp>
      <p:sp>
        <p:nvSpPr>
          <p:cNvPr id="15" name="Content Placeholder 2">
            <a:extLst>
              <a:ext uri="{FF2B5EF4-FFF2-40B4-BE49-F238E27FC236}">
                <a16:creationId xmlns:a16="http://schemas.microsoft.com/office/drawing/2014/main" id="{6154E552-D74C-20E0-0FF8-FF0A45BED179}"/>
              </a:ext>
            </a:extLst>
          </p:cNvPr>
          <p:cNvSpPr txBox="1">
            <a:spLocks/>
          </p:cNvSpPr>
          <p:nvPr/>
        </p:nvSpPr>
        <p:spPr>
          <a:xfrm>
            <a:off x="4143261" y="2891418"/>
            <a:ext cx="1249363" cy="43728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High editing</a:t>
            </a:r>
          </a:p>
        </p:txBody>
      </p:sp>
      <p:sp>
        <p:nvSpPr>
          <p:cNvPr id="16" name="Content Placeholder 2">
            <a:extLst>
              <a:ext uri="{FF2B5EF4-FFF2-40B4-BE49-F238E27FC236}">
                <a16:creationId xmlns:a16="http://schemas.microsoft.com/office/drawing/2014/main" id="{2DB9AABA-62B9-16B8-27C5-FB949923440A}"/>
              </a:ext>
            </a:extLst>
          </p:cNvPr>
          <p:cNvSpPr txBox="1">
            <a:spLocks/>
          </p:cNvSpPr>
          <p:nvPr/>
        </p:nvSpPr>
        <p:spPr>
          <a:xfrm>
            <a:off x="7067436" y="2862843"/>
            <a:ext cx="1249363" cy="437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t>Low editing</a:t>
            </a:r>
          </a:p>
        </p:txBody>
      </p:sp>
    </p:spTree>
    <p:extLst>
      <p:ext uri="{BB962C8B-B14F-4D97-AF65-F5344CB8AC3E}">
        <p14:creationId xmlns:p14="http://schemas.microsoft.com/office/powerpoint/2010/main" val="140337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9F20A-7F75-4624-0EF9-45D4D820D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DCC51-467B-4D63-9D2D-B41E57EF7FF4}"/>
              </a:ext>
            </a:extLst>
          </p:cNvPr>
          <p:cNvSpPr>
            <a:spLocks noGrp="1"/>
          </p:cNvSpPr>
          <p:nvPr>
            <p:ph type="title"/>
          </p:nvPr>
        </p:nvSpPr>
        <p:spPr/>
        <p:txBody>
          <a:bodyPr/>
          <a:lstStyle/>
          <a:p>
            <a:r>
              <a:rPr lang="en-US" dirty="0"/>
              <a:t>Objectives of our workshop</a:t>
            </a:r>
          </a:p>
        </p:txBody>
      </p:sp>
      <p:sp>
        <p:nvSpPr>
          <p:cNvPr id="3" name="Content Placeholder 2">
            <a:extLst>
              <a:ext uri="{FF2B5EF4-FFF2-40B4-BE49-F238E27FC236}">
                <a16:creationId xmlns:a16="http://schemas.microsoft.com/office/drawing/2014/main" id="{404078C3-64C5-43E6-8907-1F17D2F85707}"/>
              </a:ext>
            </a:extLst>
          </p:cNvPr>
          <p:cNvSpPr>
            <a:spLocks noGrp="1"/>
          </p:cNvSpPr>
          <p:nvPr>
            <p:ph idx="1"/>
          </p:nvPr>
        </p:nvSpPr>
        <p:spPr/>
        <p:txBody>
          <a:bodyPr/>
          <a:lstStyle/>
          <a:p>
            <a:r>
              <a:rPr lang="en-US" dirty="0"/>
              <a:t>1. How can we design a library of prime editing guide RNAs to assess LDLR variant effect?</a:t>
            </a:r>
          </a:p>
          <a:p>
            <a:r>
              <a:rPr lang="en-US" b="1" dirty="0"/>
              <a:t>2. How well do our functional scores correlate with “common-sense” variant effect measurements?</a:t>
            </a:r>
          </a:p>
          <a:p>
            <a:r>
              <a:rPr lang="en-US" dirty="0"/>
              <a:t>3. How do LDLR variant effects relate to protein structure and protein-protein interactions?</a:t>
            </a:r>
          </a:p>
          <a:p>
            <a:r>
              <a:rPr lang="en-US" dirty="0"/>
              <a:t>4. Why prime editing instead of cDNA overexpression-based deep mutational scanning?</a:t>
            </a:r>
          </a:p>
          <a:p>
            <a:endParaRPr lang="en-US" dirty="0"/>
          </a:p>
        </p:txBody>
      </p:sp>
    </p:spTree>
    <p:extLst>
      <p:ext uri="{BB962C8B-B14F-4D97-AF65-F5344CB8AC3E}">
        <p14:creationId xmlns:p14="http://schemas.microsoft.com/office/powerpoint/2010/main" val="40965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91A06-CC95-B2EF-7FDE-669284717F3D}"/>
              </a:ext>
            </a:extLst>
          </p:cNvPr>
          <p:cNvSpPr>
            <a:spLocks noGrp="1"/>
          </p:cNvSpPr>
          <p:nvPr>
            <p:ph type="title"/>
          </p:nvPr>
        </p:nvSpPr>
        <p:spPr/>
        <p:txBody>
          <a:bodyPr/>
          <a:lstStyle/>
          <a:p>
            <a:r>
              <a:rPr lang="en-US" dirty="0"/>
              <a:t>Overview of LDLR-FL spreadsheet</a:t>
            </a:r>
          </a:p>
        </p:txBody>
      </p:sp>
      <p:pic>
        <p:nvPicPr>
          <p:cNvPr id="5" name="Picture 4" descr="A screenshot of a document&#10;&#10;AI-generated content may be incorrect.">
            <a:extLst>
              <a:ext uri="{FF2B5EF4-FFF2-40B4-BE49-F238E27FC236}">
                <a16:creationId xmlns:a16="http://schemas.microsoft.com/office/drawing/2014/main" id="{1911BF26-616B-BAE8-EB40-AF9FB4DDE033}"/>
              </a:ext>
            </a:extLst>
          </p:cNvPr>
          <p:cNvPicPr>
            <a:picLocks noChangeAspect="1"/>
          </p:cNvPicPr>
          <p:nvPr/>
        </p:nvPicPr>
        <p:blipFill>
          <a:blip r:embed="rId3"/>
          <a:stretch>
            <a:fillRect/>
          </a:stretch>
        </p:blipFill>
        <p:spPr>
          <a:xfrm>
            <a:off x="0" y="3394364"/>
            <a:ext cx="12192000" cy="3290932"/>
          </a:xfrm>
          <a:prstGeom prst="rect">
            <a:avLst/>
          </a:prstGeom>
        </p:spPr>
      </p:pic>
      <p:sp>
        <p:nvSpPr>
          <p:cNvPr id="6" name="Rectangle 5">
            <a:extLst>
              <a:ext uri="{FF2B5EF4-FFF2-40B4-BE49-F238E27FC236}">
                <a16:creationId xmlns:a16="http://schemas.microsoft.com/office/drawing/2014/main" id="{DF8274B5-8F62-008E-810B-151EB3370C3F}"/>
              </a:ext>
            </a:extLst>
          </p:cNvPr>
          <p:cNvSpPr/>
          <p:nvPr/>
        </p:nvSpPr>
        <p:spPr>
          <a:xfrm>
            <a:off x="386366" y="3620992"/>
            <a:ext cx="1865290" cy="406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F28B14B-BB7D-318A-8060-06E3376FE0BA}"/>
              </a:ext>
            </a:extLst>
          </p:cNvPr>
          <p:cNvSpPr/>
          <p:nvPr/>
        </p:nvSpPr>
        <p:spPr>
          <a:xfrm>
            <a:off x="2286000" y="3532909"/>
            <a:ext cx="983673" cy="5825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8127EE6-C17C-68A1-6574-F040B10D981F}"/>
              </a:ext>
            </a:extLst>
          </p:cNvPr>
          <p:cNvSpPr/>
          <p:nvPr/>
        </p:nvSpPr>
        <p:spPr>
          <a:xfrm>
            <a:off x="3323771" y="3664857"/>
            <a:ext cx="1525320" cy="2830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5E135B1-2940-E511-A46C-538209FD57D2}"/>
              </a:ext>
            </a:extLst>
          </p:cNvPr>
          <p:cNvSpPr/>
          <p:nvPr/>
        </p:nvSpPr>
        <p:spPr>
          <a:xfrm>
            <a:off x="4909786" y="3664857"/>
            <a:ext cx="1730499" cy="2830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02C90B-6AFA-ACAB-639C-65500F5A70D5}"/>
              </a:ext>
            </a:extLst>
          </p:cNvPr>
          <p:cNvSpPr/>
          <p:nvPr/>
        </p:nvSpPr>
        <p:spPr>
          <a:xfrm>
            <a:off x="7295409" y="3590307"/>
            <a:ext cx="1060862" cy="4370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6570592-A624-2B76-2E4C-64906D03D0BD}"/>
              </a:ext>
            </a:extLst>
          </p:cNvPr>
          <p:cNvSpPr/>
          <p:nvPr/>
        </p:nvSpPr>
        <p:spPr>
          <a:xfrm>
            <a:off x="6893628" y="3491345"/>
            <a:ext cx="342403" cy="5825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F9B090D-ED70-653F-FC0D-5DC96900502C}"/>
              </a:ext>
            </a:extLst>
          </p:cNvPr>
          <p:cNvSpPr/>
          <p:nvPr/>
        </p:nvSpPr>
        <p:spPr>
          <a:xfrm>
            <a:off x="8415649" y="3590307"/>
            <a:ext cx="983673" cy="4077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AC5DD-681F-DE70-15F0-9C603FD595B8}"/>
              </a:ext>
            </a:extLst>
          </p:cNvPr>
          <p:cNvSpPr/>
          <p:nvPr/>
        </p:nvSpPr>
        <p:spPr>
          <a:xfrm>
            <a:off x="9428813" y="3532909"/>
            <a:ext cx="522432" cy="4944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CB59C2-CCAB-22BF-B9DE-0C0EFD39DB80}"/>
              </a:ext>
            </a:extLst>
          </p:cNvPr>
          <p:cNvSpPr/>
          <p:nvPr/>
        </p:nvSpPr>
        <p:spPr>
          <a:xfrm>
            <a:off x="10072141" y="3429000"/>
            <a:ext cx="2071886" cy="7232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00C220D2-37E7-E3FC-8FED-62A46DDE93F9}"/>
              </a:ext>
            </a:extLst>
          </p:cNvPr>
          <p:cNvSpPr txBox="1">
            <a:spLocks/>
          </p:cNvSpPr>
          <p:nvPr/>
        </p:nvSpPr>
        <p:spPr>
          <a:xfrm>
            <a:off x="645887" y="2894108"/>
            <a:ext cx="1254786" cy="68579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Variant</a:t>
            </a:r>
          </a:p>
          <a:p>
            <a:pPr marL="0" indent="0" algn="ctr">
              <a:buNone/>
            </a:pPr>
            <a:r>
              <a:rPr lang="en-US" b="1" dirty="0"/>
              <a:t>info</a:t>
            </a:r>
          </a:p>
        </p:txBody>
      </p:sp>
      <p:sp>
        <p:nvSpPr>
          <p:cNvPr id="16" name="Content Placeholder 2">
            <a:extLst>
              <a:ext uri="{FF2B5EF4-FFF2-40B4-BE49-F238E27FC236}">
                <a16:creationId xmlns:a16="http://schemas.microsoft.com/office/drawing/2014/main" id="{C5205294-6877-F129-BDA9-B2309CEDB1AA}"/>
              </a:ext>
            </a:extLst>
          </p:cNvPr>
          <p:cNvSpPr txBox="1">
            <a:spLocks/>
          </p:cNvSpPr>
          <p:nvPr/>
        </p:nvSpPr>
        <p:spPr>
          <a:xfrm>
            <a:off x="2150443" y="2777837"/>
            <a:ext cx="1254786" cy="68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Domain info</a:t>
            </a:r>
          </a:p>
        </p:txBody>
      </p:sp>
      <p:sp>
        <p:nvSpPr>
          <p:cNvPr id="17" name="Content Placeholder 2">
            <a:extLst>
              <a:ext uri="{FF2B5EF4-FFF2-40B4-BE49-F238E27FC236}">
                <a16:creationId xmlns:a16="http://schemas.microsoft.com/office/drawing/2014/main" id="{FE2C5AD2-9A33-6A9C-22BA-A4BD62CF8C01}"/>
              </a:ext>
            </a:extLst>
          </p:cNvPr>
          <p:cNvSpPr txBox="1">
            <a:spLocks/>
          </p:cNvSpPr>
          <p:nvPr/>
        </p:nvSpPr>
        <p:spPr>
          <a:xfrm>
            <a:off x="3405229" y="2767116"/>
            <a:ext cx="1254786" cy="78451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Variant effect predictors</a:t>
            </a:r>
          </a:p>
        </p:txBody>
      </p:sp>
      <p:sp>
        <p:nvSpPr>
          <p:cNvPr id="18" name="Content Placeholder 2">
            <a:extLst>
              <a:ext uri="{FF2B5EF4-FFF2-40B4-BE49-F238E27FC236}">
                <a16:creationId xmlns:a16="http://schemas.microsoft.com/office/drawing/2014/main" id="{DF9DA751-EC3E-A326-FF49-880153B573E1}"/>
              </a:ext>
            </a:extLst>
          </p:cNvPr>
          <p:cNvSpPr txBox="1">
            <a:spLocks/>
          </p:cNvSpPr>
          <p:nvPr/>
        </p:nvSpPr>
        <p:spPr>
          <a:xfrm>
            <a:off x="5099634" y="2947921"/>
            <a:ext cx="1254786" cy="6423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Clinical info</a:t>
            </a:r>
          </a:p>
        </p:txBody>
      </p:sp>
      <p:sp>
        <p:nvSpPr>
          <p:cNvPr id="19" name="Content Placeholder 2">
            <a:extLst>
              <a:ext uri="{FF2B5EF4-FFF2-40B4-BE49-F238E27FC236}">
                <a16:creationId xmlns:a16="http://schemas.microsoft.com/office/drawing/2014/main" id="{367E5969-0D19-FDA8-25F0-BCFE0308EB5C}"/>
              </a:ext>
            </a:extLst>
          </p:cNvPr>
          <p:cNvSpPr txBox="1">
            <a:spLocks/>
          </p:cNvSpPr>
          <p:nvPr/>
        </p:nvSpPr>
        <p:spPr>
          <a:xfrm>
            <a:off x="6437436" y="2821250"/>
            <a:ext cx="1254786" cy="64238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Scores from our BE paper</a:t>
            </a:r>
          </a:p>
        </p:txBody>
      </p:sp>
      <p:sp>
        <p:nvSpPr>
          <p:cNvPr id="20" name="Content Placeholder 2">
            <a:extLst>
              <a:ext uri="{FF2B5EF4-FFF2-40B4-BE49-F238E27FC236}">
                <a16:creationId xmlns:a16="http://schemas.microsoft.com/office/drawing/2014/main" id="{0CFF1661-BCFA-1F8E-C497-2C29DDA7DAA9}"/>
              </a:ext>
            </a:extLst>
          </p:cNvPr>
          <p:cNvSpPr txBox="1">
            <a:spLocks/>
          </p:cNvSpPr>
          <p:nvPr/>
        </p:nvSpPr>
        <p:spPr>
          <a:xfrm>
            <a:off x="6888351" y="1752334"/>
            <a:ext cx="1607741" cy="87721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Scores from LDLR 137-219 saturation mutagenesis</a:t>
            </a:r>
          </a:p>
        </p:txBody>
      </p:sp>
      <p:sp>
        <p:nvSpPr>
          <p:cNvPr id="21" name="Content Placeholder 2">
            <a:extLst>
              <a:ext uri="{FF2B5EF4-FFF2-40B4-BE49-F238E27FC236}">
                <a16:creationId xmlns:a16="http://schemas.microsoft.com/office/drawing/2014/main" id="{BEA1E31F-7E64-31B2-DA82-1E586B88A4D6}"/>
              </a:ext>
            </a:extLst>
          </p:cNvPr>
          <p:cNvSpPr txBox="1">
            <a:spLocks/>
          </p:cNvSpPr>
          <p:nvPr/>
        </p:nvSpPr>
        <p:spPr>
          <a:xfrm>
            <a:off x="8008209" y="2821250"/>
            <a:ext cx="1607741" cy="8772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Scores from LDLR-FL</a:t>
            </a:r>
          </a:p>
        </p:txBody>
      </p:sp>
      <p:sp>
        <p:nvSpPr>
          <p:cNvPr id="22" name="Content Placeholder 2">
            <a:extLst>
              <a:ext uri="{FF2B5EF4-FFF2-40B4-BE49-F238E27FC236}">
                <a16:creationId xmlns:a16="http://schemas.microsoft.com/office/drawing/2014/main" id="{0FB9A5B8-52B2-5EB7-9861-16CEB8275A42}"/>
              </a:ext>
            </a:extLst>
          </p:cNvPr>
          <p:cNvSpPr txBox="1">
            <a:spLocks/>
          </p:cNvSpPr>
          <p:nvPr/>
        </p:nvSpPr>
        <p:spPr>
          <a:xfrm>
            <a:off x="8886158" y="1690688"/>
            <a:ext cx="1607741" cy="106585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Averaged LDLR 137-219, LDLR-FL scores</a:t>
            </a:r>
          </a:p>
        </p:txBody>
      </p:sp>
      <p:sp>
        <p:nvSpPr>
          <p:cNvPr id="23" name="Content Placeholder 2">
            <a:extLst>
              <a:ext uri="{FF2B5EF4-FFF2-40B4-BE49-F238E27FC236}">
                <a16:creationId xmlns:a16="http://schemas.microsoft.com/office/drawing/2014/main" id="{42150E41-B697-A9B3-55F5-1647D570E6E2}"/>
              </a:ext>
            </a:extLst>
          </p:cNvPr>
          <p:cNvSpPr txBox="1">
            <a:spLocks/>
          </p:cNvSpPr>
          <p:nvPr/>
        </p:nvSpPr>
        <p:spPr>
          <a:xfrm>
            <a:off x="10328750" y="2534463"/>
            <a:ext cx="1607741" cy="87721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Scores from comparable paper</a:t>
            </a:r>
          </a:p>
        </p:txBody>
      </p:sp>
      <p:cxnSp>
        <p:nvCxnSpPr>
          <p:cNvPr id="24" name="Straight Arrow Connector 23">
            <a:extLst>
              <a:ext uri="{FF2B5EF4-FFF2-40B4-BE49-F238E27FC236}">
                <a16:creationId xmlns:a16="http://schemas.microsoft.com/office/drawing/2014/main" id="{D66B6D63-D039-13B0-5DFB-DE9BDF107845}"/>
              </a:ext>
            </a:extLst>
          </p:cNvPr>
          <p:cNvCxnSpPr>
            <a:cxnSpLocks/>
          </p:cNvCxnSpPr>
          <p:nvPr/>
        </p:nvCxnSpPr>
        <p:spPr>
          <a:xfrm>
            <a:off x="7735213" y="2600515"/>
            <a:ext cx="0" cy="9323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62E3FC5-AAE0-8A7D-CAEC-97301294A5EC}"/>
              </a:ext>
            </a:extLst>
          </p:cNvPr>
          <p:cNvCxnSpPr>
            <a:cxnSpLocks/>
          </p:cNvCxnSpPr>
          <p:nvPr/>
        </p:nvCxnSpPr>
        <p:spPr>
          <a:xfrm>
            <a:off x="9680971" y="2676617"/>
            <a:ext cx="0" cy="7870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3572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B6C7A-722C-ACB3-CD50-BF5AF3A45310}"/>
              </a:ext>
            </a:extLst>
          </p:cNvPr>
          <p:cNvSpPr>
            <a:spLocks noGrp="1"/>
          </p:cNvSpPr>
          <p:nvPr>
            <p:ph type="title"/>
          </p:nvPr>
        </p:nvSpPr>
        <p:spPr>
          <a:xfrm>
            <a:off x="838200" y="365125"/>
            <a:ext cx="5776913" cy="1325563"/>
          </a:xfrm>
        </p:spPr>
        <p:txBody>
          <a:bodyPr/>
          <a:lstStyle/>
          <a:p>
            <a:r>
              <a:rPr lang="en-US" dirty="0"/>
              <a:t>Overview of BEAN/FUSE </a:t>
            </a:r>
          </a:p>
        </p:txBody>
      </p:sp>
      <p:sp>
        <p:nvSpPr>
          <p:cNvPr id="3" name="Content Placeholder 2">
            <a:extLst>
              <a:ext uri="{FF2B5EF4-FFF2-40B4-BE49-F238E27FC236}">
                <a16:creationId xmlns:a16="http://schemas.microsoft.com/office/drawing/2014/main" id="{1D80E09F-E973-C1E3-002F-70D6B33F0953}"/>
              </a:ext>
            </a:extLst>
          </p:cNvPr>
          <p:cNvSpPr>
            <a:spLocks noGrp="1"/>
          </p:cNvSpPr>
          <p:nvPr>
            <p:ph idx="1"/>
          </p:nvPr>
        </p:nvSpPr>
        <p:spPr>
          <a:xfrm>
            <a:off x="838200" y="1489366"/>
            <a:ext cx="6703103" cy="2362006"/>
          </a:xfrm>
        </p:spPr>
        <p:txBody>
          <a:bodyPr>
            <a:normAutofit fontScale="92500" lnSpcReduction="20000"/>
          </a:bodyPr>
          <a:lstStyle/>
          <a:p>
            <a:r>
              <a:rPr lang="en-US" dirty="0"/>
              <a:t>BEAN uses a reporter read out by NGS</a:t>
            </a:r>
          </a:p>
          <a:p>
            <a:r>
              <a:rPr lang="en-US" b="1" dirty="0"/>
              <a:t>B</a:t>
            </a:r>
            <a:r>
              <a:rPr lang="en-US" dirty="0"/>
              <a:t>ase </a:t>
            </a:r>
            <a:r>
              <a:rPr lang="en-US" b="1" dirty="0"/>
              <a:t>e</a:t>
            </a:r>
            <a:r>
              <a:rPr lang="en-US" dirty="0"/>
              <a:t>diting analysis with </a:t>
            </a:r>
            <a:r>
              <a:rPr lang="en-US" b="1" dirty="0"/>
              <a:t>a</a:t>
            </a:r>
            <a:r>
              <a:rPr lang="en-US" dirty="0"/>
              <a:t>ctivity </a:t>
            </a:r>
            <a:r>
              <a:rPr lang="en-US" b="1" dirty="0"/>
              <a:t>n</a:t>
            </a:r>
            <a:r>
              <a:rPr lang="en-US" dirty="0"/>
              <a:t>ormalization</a:t>
            </a:r>
          </a:p>
          <a:p>
            <a:r>
              <a:rPr lang="en-US" dirty="0"/>
              <a:t>Originally designed for BE, can be used for PE </a:t>
            </a:r>
          </a:p>
          <a:p>
            <a:r>
              <a:rPr lang="en-US" dirty="0"/>
              <a:t>FUSE pipeline smooths BEAN scores</a:t>
            </a:r>
          </a:p>
          <a:p>
            <a:endParaRPr lang="en-US" dirty="0"/>
          </a:p>
        </p:txBody>
      </p:sp>
      <p:pic>
        <p:nvPicPr>
          <p:cNvPr id="4" name="Picture 3">
            <a:extLst>
              <a:ext uri="{FF2B5EF4-FFF2-40B4-BE49-F238E27FC236}">
                <a16:creationId xmlns:a16="http://schemas.microsoft.com/office/drawing/2014/main" id="{3F045C84-DE35-08E6-A675-9D2BC2837C79}"/>
              </a:ext>
            </a:extLst>
          </p:cNvPr>
          <p:cNvPicPr>
            <a:picLocks noChangeAspect="1"/>
          </p:cNvPicPr>
          <p:nvPr/>
        </p:nvPicPr>
        <p:blipFill>
          <a:blip r:embed="rId3"/>
          <a:stretch>
            <a:fillRect/>
          </a:stretch>
        </p:blipFill>
        <p:spPr>
          <a:xfrm>
            <a:off x="7461364" y="593457"/>
            <a:ext cx="4359575" cy="3326342"/>
          </a:xfrm>
          <a:prstGeom prst="rect">
            <a:avLst/>
          </a:prstGeom>
        </p:spPr>
      </p:pic>
      <p:sp>
        <p:nvSpPr>
          <p:cNvPr id="5" name="Content Placeholder 2">
            <a:extLst>
              <a:ext uri="{FF2B5EF4-FFF2-40B4-BE49-F238E27FC236}">
                <a16:creationId xmlns:a16="http://schemas.microsoft.com/office/drawing/2014/main" id="{E6C059FA-4804-76A1-9495-BE2712433F64}"/>
              </a:ext>
            </a:extLst>
          </p:cNvPr>
          <p:cNvSpPr txBox="1">
            <a:spLocks/>
          </p:cNvSpPr>
          <p:nvPr/>
        </p:nvSpPr>
        <p:spPr>
          <a:xfrm>
            <a:off x="7924382" y="4493653"/>
            <a:ext cx="3433537" cy="89590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Modest correlation between endogenous + reporter, strong correlation for significant hits</a:t>
            </a:r>
          </a:p>
        </p:txBody>
      </p:sp>
      <p:sp>
        <p:nvSpPr>
          <p:cNvPr id="6" name="Content Placeholder 2">
            <a:extLst>
              <a:ext uri="{FF2B5EF4-FFF2-40B4-BE49-F238E27FC236}">
                <a16:creationId xmlns:a16="http://schemas.microsoft.com/office/drawing/2014/main" id="{E73A29C9-3515-2FA0-A708-33D017AF4174}"/>
              </a:ext>
            </a:extLst>
          </p:cNvPr>
          <p:cNvSpPr txBox="1">
            <a:spLocks/>
          </p:cNvSpPr>
          <p:nvPr/>
        </p:nvSpPr>
        <p:spPr>
          <a:xfrm>
            <a:off x="9053623" y="408351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2B, Zhou et al. 2025</a:t>
            </a:r>
          </a:p>
        </p:txBody>
      </p:sp>
      <p:pic>
        <p:nvPicPr>
          <p:cNvPr id="7" name="Picture 6">
            <a:extLst>
              <a:ext uri="{FF2B5EF4-FFF2-40B4-BE49-F238E27FC236}">
                <a16:creationId xmlns:a16="http://schemas.microsoft.com/office/drawing/2014/main" id="{080A8833-B85B-2D58-23C5-1D6715008590}"/>
              </a:ext>
            </a:extLst>
          </p:cNvPr>
          <p:cNvPicPr>
            <a:picLocks noChangeAspect="1"/>
          </p:cNvPicPr>
          <p:nvPr/>
        </p:nvPicPr>
        <p:blipFill>
          <a:blip r:embed="rId4"/>
          <a:stretch>
            <a:fillRect/>
          </a:stretch>
        </p:blipFill>
        <p:spPr>
          <a:xfrm>
            <a:off x="714413" y="4187631"/>
            <a:ext cx="6563987" cy="2077776"/>
          </a:xfrm>
          <a:prstGeom prst="rect">
            <a:avLst/>
          </a:prstGeom>
        </p:spPr>
      </p:pic>
    </p:spTree>
    <p:extLst>
      <p:ext uri="{BB962C8B-B14F-4D97-AF65-F5344CB8AC3E}">
        <p14:creationId xmlns:p14="http://schemas.microsoft.com/office/powerpoint/2010/main" val="3758273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B8F05-FB56-1E9B-F788-FBCE13CEA019}"/>
              </a:ext>
            </a:extLst>
          </p:cNvPr>
          <p:cNvSpPr>
            <a:spLocks noGrp="1"/>
          </p:cNvSpPr>
          <p:nvPr>
            <p:ph type="title"/>
          </p:nvPr>
        </p:nvSpPr>
        <p:spPr/>
        <p:txBody>
          <a:bodyPr/>
          <a:lstStyle/>
          <a:p>
            <a:r>
              <a:rPr lang="en-US" dirty="0" err="1"/>
              <a:t>AlphaMissense</a:t>
            </a:r>
            <a:r>
              <a:rPr lang="en-US" dirty="0"/>
              <a:t>/Differential PFAM</a:t>
            </a:r>
          </a:p>
        </p:txBody>
      </p:sp>
      <p:sp>
        <p:nvSpPr>
          <p:cNvPr id="3" name="Content Placeholder 2">
            <a:extLst>
              <a:ext uri="{FF2B5EF4-FFF2-40B4-BE49-F238E27FC236}">
                <a16:creationId xmlns:a16="http://schemas.microsoft.com/office/drawing/2014/main" id="{7FCCA63A-869C-9C96-EC26-5E89C5ABC6CD}"/>
              </a:ext>
            </a:extLst>
          </p:cNvPr>
          <p:cNvSpPr>
            <a:spLocks noGrp="1"/>
          </p:cNvSpPr>
          <p:nvPr>
            <p:ph idx="1"/>
          </p:nvPr>
        </p:nvSpPr>
        <p:spPr/>
        <p:txBody>
          <a:bodyPr/>
          <a:lstStyle/>
          <a:p>
            <a:r>
              <a:rPr lang="en-US" dirty="0" err="1"/>
              <a:t>AlphaMissense</a:t>
            </a:r>
            <a:r>
              <a:rPr lang="en-US" dirty="0"/>
              <a:t> (Cheng et al. 2023)</a:t>
            </a:r>
          </a:p>
          <a:p>
            <a:pPr lvl="1"/>
            <a:r>
              <a:rPr lang="en-US" dirty="0"/>
              <a:t>Trained on genomic population frequency data and AlphaFold2 structure predictions </a:t>
            </a:r>
          </a:p>
          <a:p>
            <a:pPr lvl="1"/>
            <a:r>
              <a:rPr lang="en-US" dirty="0"/>
              <a:t>Predicts the probability of pathogenicity of variants ([0,1])</a:t>
            </a:r>
          </a:p>
          <a:p>
            <a:r>
              <a:rPr lang="en-US" dirty="0"/>
              <a:t>Differential PFAM</a:t>
            </a:r>
          </a:p>
          <a:p>
            <a:pPr lvl="1"/>
            <a:r>
              <a:rPr lang="en-US" dirty="0"/>
              <a:t>A measure of how a variant changes the conservation of an amino acid</a:t>
            </a:r>
          </a:p>
          <a:p>
            <a:pPr lvl="1"/>
            <a:r>
              <a:rPr lang="en-US" dirty="0"/>
              <a:t>Based on PFAM MSAs of (in this case) LDLR class A domains across evolution</a:t>
            </a:r>
          </a:p>
          <a:p>
            <a:pPr lvl="1"/>
            <a:endParaRPr lang="en-US" dirty="0"/>
          </a:p>
        </p:txBody>
      </p:sp>
      <p:pic>
        <p:nvPicPr>
          <p:cNvPr id="4" name="Picture 3">
            <a:extLst>
              <a:ext uri="{FF2B5EF4-FFF2-40B4-BE49-F238E27FC236}">
                <a16:creationId xmlns:a16="http://schemas.microsoft.com/office/drawing/2014/main" id="{979C15A1-5551-36D2-4238-32EDD52427E3}"/>
              </a:ext>
            </a:extLst>
          </p:cNvPr>
          <p:cNvPicPr>
            <a:picLocks noChangeAspect="1"/>
          </p:cNvPicPr>
          <p:nvPr/>
        </p:nvPicPr>
        <p:blipFill>
          <a:blip r:embed="rId3"/>
          <a:stretch>
            <a:fillRect/>
          </a:stretch>
        </p:blipFill>
        <p:spPr>
          <a:xfrm>
            <a:off x="2543694" y="4974876"/>
            <a:ext cx="7104611" cy="1731532"/>
          </a:xfrm>
          <a:prstGeom prst="rect">
            <a:avLst/>
          </a:prstGeom>
        </p:spPr>
      </p:pic>
      <p:sp>
        <p:nvSpPr>
          <p:cNvPr id="5" name="Content Placeholder 2">
            <a:extLst>
              <a:ext uri="{FF2B5EF4-FFF2-40B4-BE49-F238E27FC236}">
                <a16:creationId xmlns:a16="http://schemas.microsoft.com/office/drawing/2014/main" id="{838905E9-FDA9-3D2B-210C-1E55567FF47D}"/>
              </a:ext>
            </a:extLst>
          </p:cNvPr>
          <p:cNvSpPr txBox="1">
            <a:spLocks/>
          </p:cNvSpPr>
          <p:nvPr/>
        </p:nvSpPr>
        <p:spPr>
          <a:xfrm>
            <a:off x="9515475" y="5415991"/>
            <a:ext cx="1542406" cy="89590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LDLR</a:t>
            </a:r>
          </a:p>
          <a:p>
            <a:pPr marL="0" indent="0" algn="ctr">
              <a:buNone/>
            </a:pPr>
            <a:r>
              <a:rPr lang="en-US" dirty="0"/>
              <a:t>Class A motif</a:t>
            </a:r>
          </a:p>
        </p:txBody>
      </p:sp>
    </p:spTree>
    <p:extLst>
      <p:ext uri="{BB962C8B-B14F-4D97-AF65-F5344CB8AC3E}">
        <p14:creationId xmlns:p14="http://schemas.microsoft.com/office/powerpoint/2010/main" val="999339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5368-FDDE-F410-08FD-DF4A4216A189}"/>
              </a:ext>
            </a:extLst>
          </p:cNvPr>
          <p:cNvSpPr>
            <a:spLocks noGrp="1"/>
          </p:cNvSpPr>
          <p:nvPr>
            <p:ph type="title"/>
          </p:nvPr>
        </p:nvSpPr>
        <p:spPr/>
        <p:txBody>
          <a:bodyPr/>
          <a:lstStyle/>
          <a:p>
            <a:r>
              <a:rPr lang="en-US" dirty="0"/>
              <a:t>Try running the cell with Diff PFAM/AM!</a:t>
            </a:r>
          </a:p>
        </p:txBody>
      </p:sp>
      <p:sp>
        <p:nvSpPr>
          <p:cNvPr id="3" name="Content Placeholder 2">
            <a:extLst>
              <a:ext uri="{FF2B5EF4-FFF2-40B4-BE49-F238E27FC236}">
                <a16:creationId xmlns:a16="http://schemas.microsoft.com/office/drawing/2014/main" id="{67E4C008-CDA5-19DF-785F-D1C42B466E69}"/>
              </a:ext>
            </a:extLst>
          </p:cNvPr>
          <p:cNvSpPr>
            <a:spLocks noGrp="1"/>
          </p:cNvSpPr>
          <p:nvPr>
            <p:ph idx="1"/>
          </p:nvPr>
        </p:nvSpPr>
        <p:spPr/>
        <p:txBody>
          <a:bodyPr/>
          <a:lstStyle/>
          <a:p>
            <a:r>
              <a:rPr lang="en-US" dirty="0"/>
              <a:t>Play around with different methods to highlight variants:</a:t>
            </a:r>
          </a:p>
          <a:p>
            <a:pPr lvl="1"/>
            <a:r>
              <a:rPr lang="en-US" dirty="0"/>
              <a:t>Positive</a:t>
            </a:r>
          </a:p>
          <a:p>
            <a:pPr lvl="1"/>
            <a:r>
              <a:rPr lang="en-US" dirty="0"/>
              <a:t>Negative</a:t>
            </a:r>
          </a:p>
          <a:p>
            <a:pPr lvl="1"/>
            <a:r>
              <a:rPr lang="en-US" dirty="0"/>
              <a:t>Nonpolar</a:t>
            </a:r>
          </a:p>
          <a:p>
            <a:pPr lvl="1"/>
            <a:r>
              <a:rPr lang="en-US" dirty="0"/>
              <a:t>Polar</a:t>
            </a:r>
          </a:p>
          <a:p>
            <a:pPr lvl="1"/>
            <a:r>
              <a:rPr lang="en-US" dirty="0"/>
              <a:t>Cysteine</a:t>
            </a:r>
          </a:p>
          <a:p>
            <a:r>
              <a:rPr lang="en-US" dirty="0"/>
              <a:t>Do the trends in the scatterplots make sense? </a:t>
            </a:r>
          </a:p>
          <a:p>
            <a:pPr lvl="1"/>
            <a:r>
              <a:rPr lang="en-US" dirty="0"/>
              <a:t>What does a high Differential PFAM score mean? </a:t>
            </a:r>
            <a:r>
              <a:rPr lang="en-US" dirty="0" err="1"/>
              <a:t>AlphaMissense</a:t>
            </a:r>
            <a:r>
              <a:rPr lang="en-US" dirty="0"/>
              <a:t> score?</a:t>
            </a:r>
          </a:p>
        </p:txBody>
      </p:sp>
    </p:spTree>
    <p:extLst>
      <p:ext uri="{BB962C8B-B14F-4D97-AF65-F5344CB8AC3E}">
        <p14:creationId xmlns:p14="http://schemas.microsoft.com/office/powerpoint/2010/main" val="1193350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A0C4-1580-9A5E-47A1-2162BB3A971E}"/>
              </a:ext>
            </a:extLst>
          </p:cNvPr>
          <p:cNvSpPr>
            <a:spLocks noGrp="1"/>
          </p:cNvSpPr>
          <p:nvPr>
            <p:ph type="title"/>
          </p:nvPr>
        </p:nvSpPr>
        <p:spPr/>
        <p:txBody>
          <a:bodyPr/>
          <a:lstStyle/>
          <a:p>
            <a:r>
              <a:rPr lang="en-US" dirty="0"/>
              <a:t>LDLR cysteines pop up at top for AM, </a:t>
            </a:r>
            <a:r>
              <a:rPr lang="en-US" dirty="0" err="1"/>
              <a:t>dPFAM</a:t>
            </a:r>
            <a:endParaRPr lang="en-US" dirty="0"/>
          </a:p>
        </p:txBody>
      </p:sp>
      <p:pic>
        <p:nvPicPr>
          <p:cNvPr id="5" name="Picture 4" descr="A screenshot of a graph&#10;&#10;AI-generated content may be incorrect.">
            <a:extLst>
              <a:ext uri="{FF2B5EF4-FFF2-40B4-BE49-F238E27FC236}">
                <a16:creationId xmlns:a16="http://schemas.microsoft.com/office/drawing/2014/main" id="{D96A2101-118C-4C66-7D31-47BEEB1DDD0E}"/>
              </a:ext>
            </a:extLst>
          </p:cNvPr>
          <p:cNvPicPr>
            <a:picLocks noChangeAspect="1"/>
          </p:cNvPicPr>
          <p:nvPr/>
        </p:nvPicPr>
        <p:blipFill>
          <a:blip r:embed="rId2"/>
          <a:stretch>
            <a:fillRect/>
          </a:stretch>
        </p:blipFill>
        <p:spPr>
          <a:xfrm>
            <a:off x="1308458" y="1690688"/>
            <a:ext cx="9575084" cy="3800694"/>
          </a:xfrm>
          <a:prstGeom prst="rect">
            <a:avLst/>
          </a:prstGeom>
        </p:spPr>
      </p:pic>
      <p:sp>
        <p:nvSpPr>
          <p:cNvPr id="6" name="Content Placeholder 2">
            <a:extLst>
              <a:ext uri="{FF2B5EF4-FFF2-40B4-BE49-F238E27FC236}">
                <a16:creationId xmlns:a16="http://schemas.microsoft.com/office/drawing/2014/main" id="{08750E92-7834-DE4C-A1FE-46B74942FC69}"/>
              </a:ext>
            </a:extLst>
          </p:cNvPr>
          <p:cNvSpPr txBox="1">
            <a:spLocks/>
          </p:cNvSpPr>
          <p:nvPr/>
        </p:nvSpPr>
        <p:spPr>
          <a:xfrm>
            <a:off x="838200" y="5807076"/>
            <a:ext cx="10515600" cy="68579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Cysteines are critical for the stability of LDLR’s primary protein-binding domain</a:t>
            </a:r>
          </a:p>
        </p:txBody>
      </p:sp>
      <p:sp>
        <p:nvSpPr>
          <p:cNvPr id="7" name="Rectangle 6">
            <a:extLst>
              <a:ext uri="{FF2B5EF4-FFF2-40B4-BE49-F238E27FC236}">
                <a16:creationId xmlns:a16="http://schemas.microsoft.com/office/drawing/2014/main" id="{8CAAF323-130A-0C9A-321A-7FEDD75D0D30}"/>
              </a:ext>
            </a:extLst>
          </p:cNvPr>
          <p:cNvSpPr/>
          <p:nvPr/>
        </p:nvSpPr>
        <p:spPr>
          <a:xfrm>
            <a:off x="2610678" y="2199861"/>
            <a:ext cx="3352800" cy="5433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60848F-8625-6794-8E6F-CFCE3707EFAC}"/>
              </a:ext>
            </a:extLst>
          </p:cNvPr>
          <p:cNvSpPr/>
          <p:nvPr/>
        </p:nvSpPr>
        <p:spPr>
          <a:xfrm>
            <a:off x="7265698" y="2199860"/>
            <a:ext cx="3163763" cy="9144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791D09C8-38AB-521F-9BE7-4AD54414EB08}"/>
              </a:ext>
            </a:extLst>
          </p:cNvPr>
          <p:cNvSpPr txBox="1">
            <a:spLocks/>
          </p:cNvSpPr>
          <p:nvPr/>
        </p:nvSpPr>
        <p:spPr>
          <a:xfrm>
            <a:off x="979861" y="1534052"/>
            <a:ext cx="2121148" cy="70023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Cysteine variants have high AM scores =&gt; high probability of pathogenicity</a:t>
            </a:r>
          </a:p>
        </p:txBody>
      </p:sp>
      <p:sp>
        <p:nvSpPr>
          <p:cNvPr id="11" name="Content Placeholder 2">
            <a:extLst>
              <a:ext uri="{FF2B5EF4-FFF2-40B4-BE49-F238E27FC236}">
                <a16:creationId xmlns:a16="http://schemas.microsoft.com/office/drawing/2014/main" id="{79383B88-2EEA-7A24-655E-8B105F69FA93}"/>
              </a:ext>
            </a:extLst>
          </p:cNvPr>
          <p:cNvSpPr txBox="1">
            <a:spLocks/>
          </p:cNvSpPr>
          <p:nvPr/>
        </p:nvSpPr>
        <p:spPr>
          <a:xfrm>
            <a:off x="9207631" y="1536186"/>
            <a:ext cx="2443659" cy="7002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Cysteine variants have high Diff PFAM scores =&gt; evolutionarily improbable</a:t>
            </a:r>
          </a:p>
        </p:txBody>
      </p:sp>
    </p:spTree>
    <p:extLst>
      <p:ext uri="{BB962C8B-B14F-4D97-AF65-F5344CB8AC3E}">
        <p14:creationId xmlns:p14="http://schemas.microsoft.com/office/powerpoint/2010/main" val="3553000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D04FA-37EE-0657-4ABC-30092B611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CFAA6-2D25-7F42-EDB4-448517230A4C}"/>
              </a:ext>
            </a:extLst>
          </p:cNvPr>
          <p:cNvSpPr>
            <a:spLocks noGrp="1"/>
          </p:cNvSpPr>
          <p:nvPr>
            <p:ph type="title"/>
          </p:nvPr>
        </p:nvSpPr>
        <p:spPr/>
        <p:txBody>
          <a:bodyPr/>
          <a:lstStyle/>
          <a:p>
            <a:r>
              <a:rPr lang="en-US" dirty="0"/>
              <a:t>Objectives of our workshop</a:t>
            </a:r>
          </a:p>
        </p:txBody>
      </p:sp>
      <p:sp>
        <p:nvSpPr>
          <p:cNvPr id="3" name="Content Placeholder 2">
            <a:extLst>
              <a:ext uri="{FF2B5EF4-FFF2-40B4-BE49-F238E27FC236}">
                <a16:creationId xmlns:a16="http://schemas.microsoft.com/office/drawing/2014/main" id="{D7A81AEE-07D2-D431-0479-F651CDDDF295}"/>
              </a:ext>
            </a:extLst>
          </p:cNvPr>
          <p:cNvSpPr>
            <a:spLocks noGrp="1"/>
          </p:cNvSpPr>
          <p:nvPr>
            <p:ph idx="1"/>
          </p:nvPr>
        </p:nvSpPr>
        <p:spPr/>
        <p:txBody>
          <a:bodyPr/>
          <a:lstStyle/>
          <a:p>
            <a:r>
              <a:rPr lang="en-US" dirty="0"/>
              <a:t>1. How can we design a library of prime editing guide RNAs to assess LDLR variant effect?</a:t>
            </a:r>
          </a:p>
          <a:p>
            <a:r>
              <a:rPr lang="en-US" dirty="0"/>
              <a:t>2. How well do our functional scores correlate with “common-sense” variant effect measurements?</a:t>
            </a:r>
          </a:p>
          <a:p>
            <a:r>
              <a:rPr lang="en-US" b="1" dirty="0"/>
              <a:t>3. How do LDLR variant effects relate to protein structure and protein-protein interactions?</a:t>
            </a:r>
          </a:p>
          <a:p>
            <a:r>
              <a:rPr lang="en-US" dirty="0"/>
              <a:t>4. Why prime editing instead of cDNA overexpression-based deep mutational scanning?</a:t>
            </a:r>
          </a:p>
          <a:p>
            <a:endParaRPr lang="en-US" dirty="0"/>
          </a:p>
        </p:txBody>
      </p:sp>
    </p:spTree>
    <p:extLst>
      <p:ext uri="{BB962C8B-B14F-4D97-AF65-F5344CB8AC3E}">
        <p14:creationId xmlns:p14="http://schemas.microsoft.com/office/powerpoint/2010/main" val="1141163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A60B3-54D5-1E83-1B77-1CA64D336A5A}"/>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3C695AD0-D755-4224-8CA3-ECD23BF0263A}"/>
              </a:ext>
            </a:extLst>
          </p:cNvPr>
          <p:cNvGrpSpPr/>
          <p:nvPr/>
        </p:nvGrpSpPr>
        <p:grpSpPr>
          <a:xfrm>
            <a:off x="5925916" y="1530972"/>
            <a:ext cx="6015932" cy="5327028"/>
            <a:chOff x="89825" y="1242034"/>
            <a:chExt cx="6328099" cy="4886803"/>
          </a:xfrm>
        </p:grpSpPr>
        <p:pic>
          <p:nvPicPr>
            <p:cNvPr id="6" name="Picture 5">
              <a:extLst>
                <a:ext uri="{FF2B5EF4-FFF2-40B4-BE49-F238E27FC236}">
                  <a16:creationId xmlns:a16="http://schemas.microsoft.com/office/drawing/2014/main" id="{C5B974BC-C646-3E82-D4B5-E29617622542}"/>
                </a:ext>
              </a:extLst>
            </p:cNvPr>
            <p:cNvPicPr>
              <a:picLocks noChangeAspect="1"/>
            </p:cNvPicPr>
            <p:nvPr/>
          </p:nvPicPr>
          <p:blipFill>
            <a:blip r:embed="rId3"/>
            <a:stretch>
              <a:fillRect/>
            </a:stretch>
          </p:blipFill>
          <p:spPr>
            <a:xfrm>
              <a:off x="581248" y="1321546"/>
              <a:ext cx="5209953" cy="4807291"/>
            </a:xfrm>
            <a:prstGeom prst="rect">
              <a:avLst/>
            </a:prstGeom>
          </p:spPr>
        </p:pic>
        <p:sp>
          <p:nvSpPr>
            <p:cNvPr id="7" name="TextBox 6">
              <a:extLst>
                <a:ext uri="{FF2B5EF4-FFF2-40B4-BE49-F238E27FC236}">
                  <a16:creationId xmlns:a16="http://schemas.microsoft.com/office/drawing/2014/main" id="{6690EB2C-E2E4-1713-CDF0-F377C66C9EAD}"/>
                </a:ext>
              </a:extLst>
            </p:cNvPr>
            <p:cNvSpPr txBox="1"/>
            <p:nvPr/>
          </p:nvSpPr>
          <p:spPr>
            <a:xfrm>
              <a:off x="491147" y="1242034"/>
              <a:ext cx="3543038" cy="282342"/>
            </a:xfrm>
            <a:prstGeom prst="rect">
              <a:avLst/>
            </a:prstGeom>
            <a:solidFill>
              <a:schemeClr val="bg1"/>
            </a:solidFill>
          </p:spPr>
          <p:txBody>
            <a:bodyPr wrap="square" rtlCol="0">
              <a:spAutoFit/>
            </a:bodyPr>
            <a:lstStyle/>
            <a:p>
              <a:pPr algn="ctr"/>
              <a:r>
                <a:rPr lang="en-GB" sz="1400" b="1" dirty="0">
                  <a:solidFill>
                    <a:srgbClr val="99BB56"/>
                  </a:solidFill>
                  <a:latin typeface="Arial" panose="020B0604020202020204" pitchFamily="34" charset="0"/>
                  <a:cs typeface="Arial" panose="020B0604020202020204" pitchFamily="34" charset="0"/>
                </a:rPr>
                <a:t>LDL class A repeats (1-7) </a:t>
              </a:r>
            </a:p>
          </p:txBody>
        </p:sp>
        <p:sp>
          <p:nvSpPr>
            <p:cNvPr id="8" name="TextBox 7">
              <a:extLst>
                <a:ext uri="{FF2B5EF4-FFF2-40B4-BE49-F238E27FC236}">
                  <a16:creationId xmlns:a16="http://schemas.microsoft.com/office/drawing/2014/main" id="{92D6E6BE-F066-5FB9-3C9C-6A0B21212E67}"/>
                </a:ext>
              </a:extLst>
            </p:cNvPr>
            <p:cNvSpPr txBox="1"/>
            <p:nvPr/>
          </p:nvSpPr>
          <p:spPr>
            <a:xfrm>
              <a:off x="2181591" y="3121223"/>
              <a:ext cx="1091695" cy="479981"/>
            </a:xfrm>
            <a:prstGeom prst="rect">
              <a:avLst/>
            </a:prstGeom>
            <a:solidFill>
              <a:schemeClr val="bg1"/>
            </a:solidFill>
          </p:spPr>
          <p:txBody>
            <a:bodyPr wrap="square" rtlCol="0">
              <a:spAutoFit/>
            </a:bodyPr>
            <a:lstStyle/>
            <a:p>
              <a:pPr algn="ctr"/>
              <a:r>
                <a:rPr lang="en-GB" sz="1400" b="1" dirty="0">
                  <a:solidFill>
                    <a:srgbClr val="E9B7BB"/>
                  </a:solidFill>
                  <a:latin typeface="Arial" panose="020B0604020202020204" pitchFamily="34" charset="0"/>
                  <a:cs typeface="Arial" panose="020B0604020202020204" pitchFamily="34" charset="0"/>
                </a:rPr>
                <a:t>class B </a:t>
              </a:r>
            </a:p>
            <a:p>
              <a:pPr algn="ctr"/>
              <a:r>
                <a:rPr lang="en-GB" sz="1400" b="1" dirty="0">
                  <a:solidFill>
                    <a:srgbClr val="E9B7BB"/>
                  </a:solidFill>
                  <a:latin typeface="Arial" panose="020B0604020202020204" pitchFamily="34" charset="0"/>
                  <a:cs typeface="Arial" panose="020B0604020202020204" pitchFamily="34" charset="0"/>
                </a:rPr>
                <a:t>repeats</a:t>
              </a:r>
            </a:p>
          </p:txBody>
        </p:sp>
        <p:sp>
          <p:nvSpPr>
            <p:cNvPr id="9" name="TextBox 8">
              <a:extLst>
                <a:ext uri="{FF2B5EF4-FFF2-40B4-BE49-F238E27FC236}">
                  <a16:creationId xmlns:a16="http://schemas.microsoft.com/office/drawing/2014/main" id="{260F5396-F0A8-E0DA-C24F-B3B880DA5294}"/>
                </a:ext>
              </a:extLst>
            </p:cNvPr>
            <p:cNvSpPr txBox="1"/>
            <p:nvPr/>
          </p:nvSpPr>
          <p:spPr>
            <a:xfrm>
              <a:off x="4671151" y="2428725"/>
              <a:ext cx="1746773" cy="1600438"/>
            </a:xfrm>
            <a:prstGeom prst="rect">
              <a:avLst/>
            </a:prstGeom>
            <a:solidFill>
              <a:schemeClr val="bg1"/>
            </a:solidFill>
          </p:spPr>
          <p:txBody>
            <a:bodyPr wrap="square" rtlCol="0">
              <a:spAutoFit/>
            </a:bodyPr>
            <a:lstStyle/>
            <a:p>
              <a:pPr algn="ctr"/>
              <a:endParaRPr lang="en-GB" sz="1400" b="1" dirty="0">
                <a:solidFill>
                  <a:srgbClr val="87C4D7"/>
                </a:solidFill>
                <a:latin typeface="Arial" panose="020B0604020202020204" pitchFamily="34" charset="0"/>
                <a:cs typeface="Arial" panose="020B0604020202020204" pitchFamily="34" charset="0"/>
              </a:endParaRPr>
            </a:p>
            <a:p>
              <a:pPr algn="ctr"/>
              <a:endParaRPr lang="en-GB" sz="1400" b="1" dirty="0">
                <a:solidFill>
                  <a:srgbClr val="87C4D7"/>
                </a:solidFill>
                <a:latin typeface="Arial" panose="020B0604020202020204" pitchFamily="34" charset="0"/>
                <a:cs typeface="Arial" panose="020B0604020202020204" pitchFamily="34" charset="0"/>
              </a:endParaRPr>
            </a:p>
            <a:p>
              <a:pPr algn="ctr"/>
              <a:r>
                <a:rPr lang="en-GB" sz="1400" b="1" dirty="0">
                  <a:solidFill>
                    <a:srgbClr val="87C4D7"/>
                  </a:solidFill>
                  <a:latin typeface="Arial" panose="020B0604020202020204" pitchFamily="34" charset="0"/>
                  <a:cs typeface="Arial" panose="020B0604020202020204" pitchFamily="34" charset="0"/>
                </a:rPr>
                <a:t>EGF precursor homology domain</a:t>
              </a:r>
            </a:p>
            <a:p>
              <a:pPr algn="ctr"/>
              <a:endParaRPr lang="en-GB" sz="1400" b="1" dirty="0">
                <a:solidFill>
                  <a:srgbClr val="87C4D7"/>
                </a:solidFill>
                <a:latin typeface="Arial" panose="020B0604020202020204" pitchFamily="34" charset="0"/>
                <a:cs typeface="Arial" panose="020B0604020202020204" pitchFamily="34" charset="0"/>
              </a:endParaRPr>
            </a:p>
            <a:p>
              <a:pPr algn="ctr"/>
              <a:endParaRPr lang="en-GB" sz="1400" b="1" dirty="0">
                <a:solidFill>
                  <a:srgbClr val="87C4D7"/>
                </a:solidFill>
                <a:latin typeface="Arial" panose="020B0604020202020204" pitchFamily="34" charset="0"/>
                <a:cs typeface="Arial" panose="020B0604020202020204" pitchFamily="34" charset="0"/>
              </a:endParaRPr>
            </a:p>
            <a:p>
              <a:pPr algn="ctr"/>
              <a:endParaRPr lang="en-GB" sz="1400" b="1" dirty="0">
                <a:solidFill>
                  <a:srgbClr val="87C4D7"/>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07918CE-1ECA-FF04-5D2A-A801CF238503}"/>
                </a:ext>
              </a:extLst>
            </p:cNvPr>
            <p:cNvSpPr txBox="1"/>
            <p:nvPr/>
          </p:nvSpPr>
          <p:spPr>
            <a:xfrm>
              <a:off x="1223546" y="4040254"/>
              <a:ext cx="1252120" cy="646331"/>
            </a:xfrm>
            <a:prstGeom prst="rect">
              <a:avLst/>
            </a:prstGeom>
            <a:solidFill>
              <a:schemeClr val="bg1"/>
            </a:solidFill>
          </p:spPr>
          <p:txBody>
            <a:bodyPr wrap="square" rtlCol="0">
              <a:spAutoFit/>
            </a:bodyPr>
            <a:lstStyle/>
            <a:p>
              <a:pPr algn="ctr"/>
              <a:r>
                <a:rPr lang="en-GB" sz="1200" b="1">
                  <a:solidFill>
                    <a:srgbClr val="C35B57"/>
                  </a:solidFill>
                  <a:latin typeface="Arial" panose="020B0604020202020204" pitchFamily="34" charset="0"/>
                  <a:cs typeface="Arial" panose="020B0604020202020204" pitchFamily="34" charset="0"/>
                </a:rPr>
                <a:t>O-linked glycosylation domain</a:t>
              </a:r>
            </a:p>
          </p:txBody>
        </p:sp>
        <p:sp>
          <p:nvSpPr>
            <p:cNvPr id="12" name="TextBox 11">
              <a:extLst>
                <a:ext uri="{FF2B5EF4-FFF2-40B4-BE49-F238E27FC236}">
                  <a16:creationId xmlns:a16="http://schemas.microsoft.com/office/drawing/2014/main" id="{E7839DF2-1FEC-A610-CC50-057699991029}"/>
                </a:ext>
              </a:extLst>
            </p:cNvPr>
            <p:cNvSpPr txBox="1"/>
            <p:nvPr/>
          </p:nvSpPr>
          <p:spPr>
            <a:xfrm>
              <a:off x="89825" y="4766097"/>
              <a:ext cx="1133721" cy="738664"/>
            </a:xfrm>
            <a:prstGeom prst="rect">
              <a:avLst/>
            </a:prstGeom>
            <a:solidFill>
              <a:schemeClr val="bg1"/>
            </a:solidFill>
          </p:spPr>
          <p:txBody>
            <a:bodyPr wrap="square" rtlCol="0">
              <a:spAutoFit/>
            </a:bodyPr>
            <a:lstStyle/>
            <a:p>
              <a:pPr algn="ctr"/>
              <a:r>
                <a:rPr lang="en-GB" sz="1400" b="1">
                  <a:solidFill>
                    <a:srgbClr val="856BA5"/>
                  </a:solidFill>
                  <a:latin typeface="Arial" panose="020B0604020202020204" pitchFamily="34" charset="0"/>
                  <a:cs typeface="Arial" panose="020B0604020202020204" pitchFamily="34" charset="0"/>
                </a:rPr>
                <a:t>Membrane spanning domain</a:t>
              </a:r>
            </a:p>
          </p:txBody>
        </p:sp>
        <p:sp>
          <p:nvSpPr>
            <p:cNvPr id="13" name="TextBox 12">
              <a:extLst>
                <a:ext uri="{FF2B5EF4-FFF2-40B4-BE49-F238E27FC236}">
                  <a16:creationId xmlns:a16="http://schemas.microsoft.com/office/drawing/2014/main" id="{3AA5149F-ACF7-94D1-8F39-5F77D1FE7F6A}"/>
                </a:ext>
              </a:extLst>
            </p:cNvPr>
            <p:cNvSpPr txBox="1"/>
            <p:nvPr/>
          </p:nvSpPr>
          <p:spPr>
            <a:xfrm>
              <a:off x="4550203" y="5402106"/>
              <a:ext cx="1317847" cy="523220"/>
            </a:xfrm>
            <a:prstGeom prst="rect">
              <a:avLst/>
            </a:prstGeom>
            <a:solidFill>
              <a:schemeClr val="bg1"/>
            </a:solidFill>
          </p:spPr>
          <p:txBody>
            <a:bodyPr wrap="square" rtlCol="0">
              <a:spAutoFit/>
            </a:bodyPr>
            <a:lstStyle/>
            <a:p>
              <a:pPr algn="ctr"/>
              <a:r>
                <a:rPr lang="en-GB" sz="1400" b="1">
                  <a:solidFill>
                    <a:srgbClr val="E57316"/>
                  </a:solidFill>
                  <a:latin typeface="Arial" panose="020B0604020202020204" pitchFamily="34" charset="0"/>
                  <a:cs typeface="Arial" panose="020B0604020202020204" pitchFamily="34" charset="0"/>
                </a:rPr>
                <a:t>Cytoplasmic domain</a:t>
              </a:r>
            </a:p>
          </p:txBody>
        </p:sp>
      </p:grpSp>
      <p:sp>
        <p:nvSpPr>
          <p:cNvPr id="15" name="Title 1">
            <a:extLst>
              <a:ext uri="{FF2B5EF4-FFF2-40B4-BE49-F238E27FC236}">
                <a16:creationId xmlns:a16="http://schemas.microsoft.com/office/drawing/2014/main" id="{24BF03E6-5378-43B0-D019-8E01A648735C}"/>
              </a:ext>
            </a:extLst>
          </p:cNvPr>
          <p:cNvSpPr>
            <a:spLocks noGrp="1"/>
          </p:cNvSpPr>
          <p:nvPr>
            <p:ph type="title"/>
          </p:nvPr>
        </p:nvSpPr>
        <p:spPr>
          <a:xfrm>
            <a:off x="538655" y="349360"/>
            <a:ext cx="6255845" cy="1325563"/>
          </a:xfrm>
        </p:spPr>
        <p:txBody>
          <a:bodyPr/>
          <a:lstStyle/>
          <a:p>
            <a:r>
              <a:rPr lang="en-US" dirty="0"/>
              <a:t>What does LDLR look like? </a:t>
            </a:r>
          </a:p>
        </p:txBody>
      </p:sp>
      <p:sp>
        <p:nvSpPr>
          <p:cNvPr id="22" name="Content Placeholder 2">
            <a:extLst>
              <a:ext uri="{FF2B5EF4-FFF2-40B4-BE49-F238E27FC236}">
                <a16:creationId xmlns:a16="http://schemas.microsoft.com/office/drawing/2014/main" id="{150AE305-0805-41C4-8B88-AC606318254D}"/>
              </a:ext>
            </a:extLst>
          </p:cNvPr>
          <p:cNvSpPr txBox="1">
            <a:spLocks/>
          </p:cNvSpPr>
          <p:nvPr/>
        </p:nvSpPr>
        <p:spPr>
          <a:xfrm>
            <a:off x="5779588" y="626437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dirty="0"/>
              <a:t>Jain et al. 2013</a:t>
            </a:r>
          </a:p>
        </p:txBody>
      </p:sp>
      <p:sp>
        <p:nvSpPr>
          <p:cNvPr id="23" name="Content Placeholder 2">
            <a:extLst>
              <a:ext uri="{FF2B5EF4-FFF2-40B4-BE49-F238E27FC236}">
                <a16:creationId xmlns:a16="http://schemas.microsoft.com/office/drawing/2014/main" id="{F5F96097-BEE5-2F94-82E3-7CAA25DE8D4C}"/>
              </a:ext>
            </a:extLst>
          </p:cNvPr>
          <p:cNvSpPr>
            <a:spLocks noGrp="1"/>
          </p:cNvSpPr>
          <p:nvPr>
            <p:ph idx="1"/>
          </p:nvPr>
        </p:nvSpPr>
        <p:spPr>
          <a:xfrm>
            <a:off x="609656" y="1825625"/>
            <a:ext cx="4952944" cy="4351338"/>
          </a:xfrm>
        </p:spPr>
        <p:txBody>
          <a:bodyPr>
            <a:normAutofit/>
          </a:bodyPr>
          <a:lstStyle/>
          <a:p>
            <a:r>
              <a:rPr lang="en-US" dirty="0"/>
              <a:t>LDLR class A repeats bind to APOB and APOE</a:t>
            </a:r>
          </a:p>
          <a:p>
            <a:r>
              <a:rPr lang="en-US" dirty="0"/>
              <a:t>LDLR class B repeats</a:t>
            </a:r>
          </a:p>
          <a:p>
            <a:r>
              <a:rPr lang="en-US" dirty="0"/>
              <a:t>PCSK9-interacting residues found within O-linked glycosylation domain</a:t>
            </a:r>
          </a:p>
          <a:p>
            <a:r>
              <a:rPr lang="en-US" dirty="0"/>
              <a:t>MYLIP-interacting residues in cytoplasmic domain </a:t>
            </a:r>
          </a:p>
          <a:p>
            <a:endParaRPr lang="en-US" dirty="0"/>
          </a:p>
          <a:p>
            <a:pPr lvl="2"/>
            <a:endParaRPr lang="en-US" dirty="0"/>
          </a:p>
          <a:p>
            <a:pPr lvl="2"/>
            <a:endParaRPr lang="en-US" dirty="0"/>
          </a:p>
          <a:p>
            <a:pPr lvl="1"/>
            <a:endParaRPr lang="en-US" dirty="0"/>
          </a:p>
        </p:txBody>
      </p:sp>
    </p:spTree>
    <p:extLst>
      <p:ext uri="{BB962C8B-B14F-4D97-AF65-F5344CB8AC3E}">
        <p14:creationId xmlns:p14="http://schemas.microsoft.com/office/powerpoint/2010/main" val="44530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BC00B20-9387-2FFD-EC17-5B9EC2A17A1E}"/>
              </a:ext>
            </a:extLst>
          </p:cNvPr>
          <p:cNvSpPr>
            <a:spLocks noGrp="1"/>
          </p:cNvSpPr>
          <p:nvPr>
            <p:ph type="title"/>
          </p:nvPr>
        </p:nvSpPr>
        <p:spPr>
          <a:xfrm>
            <a:off x="538655" y="349360"/>
            <a:ext cx="6255845" cy="1325563"/>
          </a:xfrm>
        </p:spPr>
        <p:txBody>
          <a:bodyPr/>
          <a:lstStyle/>
          <a:p>
            <a:r>
              <a:rPr lang="en-US" dirty="0"/>
              <a:t>What does LDLR look like? </a:t>
            </a:r>
          </a:p>
        </p:txBody>
      </p:sp>
      <p:pic>
        <p:nvPicPr>
          <p:cNvPr id="8" name="Picture 7">
            <a:extLst>
              <a:ext uri="{FF2B5EF4-FFF2-40B4-BE49-F238E27FC236}">
                <a16:creationId xmlns:a16="http://schemas.microsoft.com/office/drawing/2014/main" id="{A2FE3758-0BF2-852F-7E86-F0DB51F09184}"/>
              </a:ext>
            </a:extLst>
          </p:cNvPr>
          <p:cNvPicPr>
            <a:picLocks noChangeAspect="1"/>
          </p:cNvPicPr>
          <p:nvPr/>
        </p:nvPicPr>
        <p:blipFill>
          <a:blip r:embed="rId3"/>
          <a:stretch>
            <a:fillRect/>
          </a:stretch>
        </p:blipFill>
        <p:spPr>
          <a:xfrm>
            <a:off x="673420" y="1874837"/>
            <a:ext cx="5131252" cy="3591876"/>
          </a:xfrm>
          <a:prstGeom prst="rect">
            <a:avLst/>
          </a:prstGeom>
        </p:spPr>
      </p:pic>
      <p:sp>
        <p:nvSpPr>
          <p:cNvPr id="9" name="TextBox 8">
            <a:extLst>
              <a:ext uri="{FF2B5EF4-FFF2-40B4-BE49-F238E27FC236}">
                <a16:creationId xmlns:a16="http://schemas.microsoft.com/office/drawing/2014/main" id="{23291CF6-A0A3-8C45-BF31-760871FF2935}"/>
              </a:ext>
            </a:extLst>
          </p:cNvPr>
          <p:cNvSpPr txBox="1"/>
          <p:nvPr/>
        </p:nvSpPr>
        <p:spPr>
          <a:xfrm>
            <a:off x="538655" y="5620406"/>
            <a:ext cx="2841851" cy="292388"/>
          </a:xfrm>
          <a:prstGeom prst="rect">
            <a:avLst/>
          </a:prstGeom>
          <a:noFill/>
        </p:spPr>
        <p:txBody>
          <a:bodyPr wrap="square" rtlCol="0">
            <a:spAutoFit/>
          </a:bodyPr>
          <a:lstStyle/>
          <a:p>
            <a:pPr algn="ctr"/>
            <a:r>
              <a:rPr lang="en-US" sz="1300" dirty="0">
                <a:hlinkClick r:id="rId4"/>
              </a:rPr>
              <a:t>https://pdb101.rcsb.org/motm/304</a:t>
            </a:r>
            <a:r>
              <a:rPr lang="en-US" sz="1300" dirty="0"/>
              <a:t> </a:t>
            </a:r>
          </a:p>
        </p:txBody>
      </p:sp>
      <p:sp>
        <p:nvSpPr>
          <p:cNvPr id="10" name="TextBox 9">
            <a:extLst>
              <a:ext uri="{FF2B5EF4-FFF2-40B4-BE49-F238E27FC236}">
                <a16:creationId xmlns:a16="http://schemas.microsoft.com/office/drawing/2014/main" id="{79895640-3C00-9020-3B18-3BEA620AF96C}"/>
              </a:ext>
            </a:extLst>
          </p:cNvPr>
          <p:cNvSpPr txBox="1"/>
          <p:nvPr/>
        </p:nvSpPr>
        <p:spPr>
          <a:xfrm>
            <a:off x="973301" y="1770597"/>
            <a:ext cx="1121044" cy="307777"/>
          </a:xfrm>
          <a:prstGeom prst="rect">
            <a:avLst/>
          </a:prstGeom>
          <a:noFill/>
        </p:spPr>
        <p:txBody>
          <a:bodyPr wrap="square" rtlCol="0">
            <a:spAutoFit/>
          </a:bodyPr>
          <a:lstStyle/>
          <a:p>
            <a:pPr algn="ctr"/>
            <a:r>
              <a:rPr lang="en-US" dirty="0">
                <a:solidFill>
                  <a:schemeClr val="accent2"/>
                </a:solidFill>
              </a:rPr>
              <a:t>ApoB100</a:t>
            </a:r>
          </a:p>
        </p:txBody>
      </p:sp>
      <p:sp>
        <p:nvSpPr>
          <p:cNvPr id="11" name="TextBox 10">
            <a:extLst>
              <a:ext uri="{FF2B5EF4-FFF2-40B4-BE49-F238E27FC236}">
                <a16:creationId xmlns:a16="http://schemas.microsoft.com/office/drawing/2014/main" id="{C969A952-0EEF-882D-A9E6-7D87CAF3BADC}"/>
              </a:ext>
            </a:extLst>
          </p:cNvPr>
          <p:cNvSpPr txBox="1"/>
          <p:nvPr/>
        </p:nvSpPr>
        <p:spPr>
          <a:xfrm>
            <a:off x="4747148" y="2028724"/>
            <a:ext cx="1121044" cy="307777"/>
          </a:xfrm>
          <a:prstGeom prst="rect">
            <a:avLst/>
          </a:prstGeom>
          <a:noFill/>
        </p:spPr>
        <p:txBody>
          <a:bodyPr wrap="square" rtlCol="0">
            <a:spAutoFit/>
          </a:bodyPr>
          <a:lstStyle/>
          <a:p>
            <a:pPr algn="ctr"/>
            <a:r>
              <a:rPr lang="en-US" dirty="0">
                <a:solidFill>
                  <a:schemeClr val="accent2"/>
                </a:solidFill>
              </a:rPr>
              <a:t>ApoB100</a:t>
            </a:r>
          </a:p>
        </p:txBody>
      </p:sp>
      <p:sp>
        <p:nvSpPr>
          <p:cNvPr id="12" name="TextBox 11">
            <a:extLst>
              <a:ext uri="{FF2B5EF4-FFF2-40B4-BE49-F238E27FC236}">
                <a16:creationId xmlns:a16="http://schemas.microsoft.com/office/drawing/2014/main" id="{7E44A942-22DC-4F16-0276-4BCD1416364B}"/>
              </a:ext>
            </a:extLst>
          </p:cNvPr>
          <p:cNvSpPr txBox="1"/>
          <p:nvPr/>
        </p:nvSpPr>
        <p:spPr>
          <a:xfrm>
            <a:off x="1533823" y="4663043"/>
            <a:ext cx="1121044" cy="307777"/>
          </a:xfrm>
          <a:prstGeom prst="rect">
            <a:avLst/>
          </a:prstGeom>
          <a:noFill/>
        </p:spPr>
        <p:txBody>
          <a:bodyPr wrap="square" rtlCol="0">
            <a:spAutoFit/>
          </a:bodyPr>
          <a:lstStyle/>
          <a:p>
            <a:pPr algn="ctr"/>
            <a:r>
              <a:rPr lang="en-US" dirty="0">
                <a:solidFill>
                  <a:srgbClr val="FF1EF6"/>
                </a:solidFill>
              </a:rPr>
              <a:t>LDLR</a:t>
            </a:r>
          </a:p>
        </p:txBody>
      </p:sp>
      <p:sp>
        <p:nvSpPr>
          <p:cNvPr id="13" name="TextBox 12">
            <a:extLst>
              <a:ext uri="{FF2B5EF4-FFF2-40B4-BE49-F238E27FC236}">
                <a16:creationId xmlns:a16="http://schemas.microsoft.com/office/drawing/2014/main" id="{D9FE8223-98A1-9B6E-830E-719F3EBB4233}"/>
              </a:ext>
            </a:extLst>
          </p:cNvPr>
          <p:cNvSpPr txBox="1"/>
          <p:nvPr/>
        </p:nvSpPr>
        <p:spPr>
          <a:xfrm>
            <a:off x="3257771" y="4693132"/>
            <a:ext cx="1121044" cy="307777"/>
          </a:xfrm>
          <a:prstGeom prst="rect">
            <a:avLst/>
          </a:prstGeom>
          <a:noFill/>
        </p:spPr>
        <p:txBody>
          <a:bodyPr wrap="square" rtlCol="0">
            <a:spAutoFit/>
          </a:bodyPr>
          <a:lstStyle/>
          <a:p>
            <a:pPr algn="ctr"/>
            <a:r>
              <a:rPr lang="en-US" dirty="0">
                <a:solidFill>
                  <a:srgbClr val="FF1EF6"/>
                </a:solidFill>
              </a:rPr>
              <a:t>LDLR</a:t>
            </a:r>
          </a:p>
        </p:txBody>
      </p:sp>
      <p:sp>
        <p:nvSpPr>
          <p:cNvPr id="14" name="Right Brace 13">
            <a:extLst>
              <a:ext uri="{FF2B5EF4-FFF2-40B4-BE49-F238E27FC236}">
                <a16:creationId xmlns:a16="http://schemas.microsoft.com/office/drawing/2014/main" id="{8E1AF220-60E3-BC2B-D97A-F7B43852E605}"/>
              </a:ext>
            </a:extLst>
          </p:cNvPr>
          <p:cNvSpPr/>
          <p:nvPr/>
        </p:nvSpPr>
        <p:spPr>
          <a:xfrm>
            <a:off x="5736976" y="2182613"/>
            <a:ext cx="359571" cy="26343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0529ED4A-1971-2BD8-91BE-9DFE0EB3C69B}"/>
              </a:ext>
            </a:extLst>
          </p:cNvPr>
          <p:cNvSpPr/>
          <p:nvPr/>
        </p:nvSpPr>
        <p:spPr>
          <a:xfrm rot="10800000">
            <a:off x="607515" y="2121004"/>
            <a:ext cx="359571" cy="26343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C79FD0F7-DA63-C9E2-B55F-D4CA3EA67645}"/>
              </a:ext>
            </a:extLst>
          </p:cNvPr>
          <p:cNvSpPr txBox="1"/>
          <p:nvPr/>
        </p:nvSpPr>
        <p:spPr>
          <a:xfrm>
            <a:off x="6082640" y="3345883"/>
            <a:ext cx="711860" cy="369332"/>
          </a:xfrm>
          <a:prstGeom prst="rect">
            <a:avLst/>
          </a:prstGeom>
          <a:noFill/>
        </p:spPr>
        <p:txBody>
          <a:bodyPr wrap="square" rtlCol="0">
            <a:spAutoFit/>
          </a:bodyPr>
          <a:lstStyle/>
          <a:p>
            <a:pPr algn="ctr"/>
            <a:r>
              <a:rPr lang="en-US" b="1" dirty="0">
                <a:solidFill>
                  <a:srgbClr val="DCCC00"/>
                </a:solidFill>
              </a:rPr>
              <a:t>LDL</a:t>
            </a:r>
          </a:p>
        </p:txBody>
      </p:sp>
      <p:sp>
        <p:nvSpPr>
          <p:cNvPr id="17" name="TextBox 16">
            <a:extLst>
              <a:ext uri="{FF2B5EF4-FFF2-40B4-BE49-F238E27FC236}">
                <a16:creationId xmlns:a16="http://schemas.microsoft.com/office/drawing/2014/main" id="{B5AA854F-5F3D-48D8-1196-88797F4C0F36}"/>
              </a:ext>
            </a:extLst>
          </p:cNvPr>
          <p:cNvSpPr txBox="1"/>
          <p:nvPr/>
        </p:nvSpPr>
        <p:spPr>
          <a:xfrm>
            <a:off x="-62953" y="3284274"/>
            <a:ext cx="664235" cy="369332"/>
          </a:xfrm>
          <a:prstGeom prst="rect">
            <a:avLst/>
          </a:prstGeom>
          <a:noFill/>
        </p:spPr>
        <p:txBody>
          <a:bodyPr wrap="square" rtlCol="0">
            <a:spAutoFit/>
          </a:bodyPr>
          <a:lstStyle/>
          <a:p>
            <a:pPr algn="ctr"/>
            <a:r>
              <a:rPr lang="en-US" b="1" dirty="0">
                <a:solidFill>
                  <a:srgbClr val="DCCC00"/>
                </a:solidFill>
              </a:rPr>
              <a:t>LDL</a:t>
            </a:r>
          </a:p>
        </p:txBody>
      </p:sp>
      <p:pic>
        <p:nvPicPr>
          <p:cNvPr id="20" name="Picture 19" descr="A diagram of a cell structure&#10;&#10;AI-generated content may be incorrect.">
            <a:extLst>
              <a:ext uri="{FF2B5EF4-FFF2-40B4-BE49-F238E27FC236}">
                <a16:creationId xmlns:a16="http://schemas.microsoft.com/office/drawing/2014/main" id="{E0B9A826-F1D7-4DD0-96B9-5F54A11F5CFD}"/>
              </a:ext>
            </a:extLst>
          </p:cNvPr>
          <p:cNvPicPr>
            <a:picLocks noChangeAspect="1"/>
          </p:cNvPicPr>
          <p:nvPr/>
        </p:nvPicPr>
        <p:blipFill>
          <a:blip r:embed="rId5"/>
          <a:srcRect l="41559"/>
          <a:stretch/>
        </p:blipFill>
        <p:spPr>
          <a:xfrm>
            <a:off x="8005458" y="457438"/>
            <a:ext cx="3513122" cy="5943123"/>
          </a:xfrm>
          <a:prstGeom prst="rect">
            <a:avLst/>
          </a:prstGeom>
        </p:spPr>
      </p:pic>
      <p:sp>
        <p:nvSpPr>
          <p:cNvPr id="22" name="Rectangle 21">
            <a:extLst>
              <a:ext uri="{FF2B5EF4-FFF2-40B4-BE49-F238E27FC236}">
                <a16:creationId xmlns:a16="http://schemas.microsoft.com/office/drawing/2014/main" id="{D8FDE609-B77E-9F24-2A47-17949C53BAE7}"/>
              </a:ext>
            </a:extLst>
          </p:cNvPr>
          <p:cNvSpPr/>
          <p:nvPr/>
        </p:nvSpPr>
        <p:spPr>
          <a:xfrm rot="20311178">
            <a:off x="9755696" y="1070925"/>
            <a:ext cx="724792" cy="1532630"/>
          </a:xfrm>
          <a:prstGeom prst="rect">
            <a:avLst/>
          </a:prstGeom>
          <a:noFill/>
          <a:ln>
            <a:solidFill>
              <a:srgbClr val="FF1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1EF0"/>
              </a:solidFill>
            </a:endParaRPr>
          </a:p>
        </p:txBody>
      </p:sp>
      <p:sp>
        <p:nvSpPr>
          <p:cNvPr id="24" name="Rectangle 23">
            <a:extLst>
              <a:ext uri="{FF2B5EF4-FFF2-40B4-BE49-F238E27FC236}">
                <a16:creationId xmlns:a16="http://schemas.microsoft.com/office/drawing/2014/main" id="{E934BDEC-A00B-478E-36FA-19D3363B7F89}"/>
              </a:ext>
            </a:extLst>
          </p:cNvPr>
          <p:cNvSpPr/>
          <p:nvPr/>
        </p:nvSpPr>
        <p:spPr>
          <a:xfrm rot="18199029">
            <a:off x="9734468" y="3222691"/>
            <a:ext cx="450792" cy="363583"/>
          </a:xfrm>
          <a:prstGeom prst="rect">
            <a:avLst/>
          </a:prstGeom>
          <a:noFill/>
          <a:ln>
            <a:solidFill>
              <a:srgbClr val="FF1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
            <a:extLst>
              <a:ext uri="{FF2B5EF4-FFF2-40B4-BE49-F238E27FC236}">
                <a16:creationId xmlns:a16="http://schemas.microsoft.com/office/drawing/2014/main" id="{D9E97C7F-397F-8F5A-2A83-EE95809FCC8A}"/>
              </a:ext>
            </a:extLst>
          </p:cNvPr>
          <p:cNvSpPr txBox="1">
            <a:spLocks/>
          </p:cNvSpPr>
          <p:nvPr/>
        </p:nvSpPr>
        <p:spPr>
          <a:xfrm>
            <a:off x="10156124" y="1102062"/>
            <a:ext cx="824470" cy="5385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lgn="ctr">
              <a:buNone/>
            </a:pPr>
            <a:r>
              <a:rPr lang="en-US" dirty="0"/>
              <a:t>#1</a:t>
            </a:r>
          </a:p>
        </p:txBody>
      </p:sp>
      <p:sp>
        <p:nvSpPr>
          <p:cNvPr id="26" name="Text Placeholder 2">
            <a:extLst>
              <a:ext uri="{FF2B5EF4-FFF2-40B4-BE49-F238E27FC236}">
                <a16:creationId xmlns:a16="http://schemas.microsoft.com/office/drawing/2014/main" id="{7A863E63-7FB8-7310-895F-191E1A02C88E}"/>
              </a:ext>
            </a:extLst>
          </p:cNvPr>
          <p:cNvSpPr txBox="1">
            <a:spLocks/>
          </p:cNvSpPr>
          <p:nvPr/>
        </p:nvSpPr>
        <p:spPr>
          <a:xfrm>
            <a:off x="9591845" y="2524377"/>
            <a:ext cx="824470" cy="5385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lgn="ctr">
              <a:buNone/>
            </a:pPr>
            <a:r>
              <a:rPr lang="en-US" dirty="0"/>
              <a:t>#2</a:t>
            </a:r>
          </a:p>
        </p:txBody>
      </p:sp>
      <p:sp>
        <p:nvSpPr>
          <p:cNvPr id="29" name="Rectangle 28">
            <a:extLst>
              <a:ext uri="{FF2B5EF4-FFF2-40B4-BE49-F238E27FC236}">
                <a16:creationId xmlns:a16="http://schemas.microsoft.com/office/drawing/2014/main" id="{AFBB1D39-67F9-C20A-234D-B6F6A8EDA2BC}"/>
              </a:ext>
            </a:extLst>
          </p:cNvPr>
          <p:cNvSpPr/>
          <p:nvPr/>
        </p:nvSpPr>
        <p:spPr>
          <a:xfrm rot="19630934">
            <a:off x="10505673" y="5956695"/>
            <a:ext cx="404596" cy="379897"/>
          </a:xfrm>
          <a:prstGeom prst="rect">
            <a:avLst/>
          </a:prstGeom>
          <a:noFill/>
          <a:ln>
            <a:solidFill>
              <a:srgbClr val="FF1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3E9AF00-EE22-067A-C850-DB9DC942A588}"/>
              </a:ext>
            </a:extLst>
          </p:cNvPr>
          <p:cNvSpPr/>
          <p:nvPr/>
        </p:nvSpPr>
        <p:spPr>
          <a:xfrm rot="19630934">
            <a:off x="10246188" y="3508353"/>
            <a:ext cx="751630" cy="1770298"/>
          </a:xfrm>
          <a:prstGeom prst="rect">
            <a:avLst/>
          </a:prstGeom>
          <a:noFill/>
          <a:ln>
            <a:solidFill>
              <a:srgbClr val="FF1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2">
            <a:extLst>
              <a:ext uri="{FF2B5EF4-FFF2-40B4-BE49-F238E27FC236}">
                <a16:creationId xmlns:a16="http://schemas.microsoft.com/office/drawing/2014/main" id="{94A1B8B1-C324-AF60-CB8B-CB532269F143}"/>
              </a:ext>
            </a:extLst>
          </p:cNvPr>
          <p:cNvSpPr txBox="1">
            <a:spLocks/>
          </p:cNvSpPr>
          <p:nvPr/>
        </p:nvSpPr>
        <p:spPr>
          <a:xfrm>
            <a:off x="9227775" y="646364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Reimund et al. 2025</a:t>
            </a:r>
          </a:p>
        </p:txBody>
      </p:sp>
    </p:spTree>
    <p:extLst>
      <p:ext uri="{BB962C8B-B14F-4D97-AF65-F5344CB8AC3E}">
        <p14:creationId xmlns:p14="http://schemas.microsoft.com/office/powerpoint/2010/main" val="631512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807-BF14-F75C-10DD-A940E25EEDB8}"/>
              </a:ext>
            </a:extLst>
          </p:cNvPr>
          <p:cNvSpPr>
            <a:spLocks noGrp="1"/>
          </p:cNvSpPr>
          <p:nvPr>
            <p:ph type="title"/>
          </p:nvPr>
        </p:nvSpPr>
        <p:spPr/>
        <p:txBody>
          <a:bodyPr/>
          <a:lstStyle/>
          <a:p>
            <a:r>
              <a:rPr lang="en-US" dirty="0"/>
              <a:t>What class A repeat might be most interesting to study? </a:t>
            </a:r>
          </a:p>
        </p:txBody>
      </p:sp>
      <p:sp>
        <p:nvSpPr>
          <p:cNvPr id="3" name="Content Placeholder 2">
            <a:extLst>
              <a:ext uri="{FF2B5EF4-FFF2-40B4-BE49-F238E27FC236}">
                <a16:creationId xmlns:a16="http://schemas.microsoft.com/office/drawing/2014/main" id="{645041D3-8067-AC0D-38A5-0C3439315967}"/>
              </a:ext>
            </a:extLst>
          </p:cNvPr>
          <p:cNvSpPr>
            <a:spLocks noGrp="1"/>
          </p:cNvSpPr>
          <p:nvPr>
            <p:ph idx="1"/>
          </p:nvPr>
        </p:nvSpPr>
        <p:spPr/>
        <p:txBody>
          <a:bodyPr/>
          <a:lstStyle/>
          <a:p>
            <a:r>
              <a:rPr lang="en-US" dirty="0"/>
              <a:t>Try dragging the slider and seeing where points fall in each repeat. Are there regions where points with extreme z scores are found?</a:t>
            </a:r>
          </a:p>
          <a:p>
            <a:r>
              <a:rPr lang="en-US" dirty="0"/>
              <a:t>What does a very negative z score mean? A very positive one? </a:t>
            </a:r>
          </a:p>
        </p:txBody>
      </p:sp>
      <p:pic>
        <p:nvPicPr>
          <p:cNvPr id="5" name="Picture 4">
            <a:extLst>
              <a:ext uri="{FF2B5EF4-FFF2-40B4-BE49-F238E27FC236}">
                <a16:creationId xmlns:a16="http://schemas.microsoft.com/office/drawing/2014/main" id="{F3AEEF9C-6016-5BF6-1A11-55BE8D932CF8}"/>
              </a:ext>
            </a:extLst>
          </p:cNvPr>
          <p:cNvPicPr>
            <a:picLocks noChangeAspect="1"/>
          </p:cNvPicPr>
          <p:nvPr/>
        </p:nvPicPr>
        <p:blipFill>
          <a:blip r:embed="rId2"/>
          <a:stretch>
            <a:fillRect/>
          </a:stretch>
        </p:blipFill>
        <p:spPr>
          <a:xfrm>
            <a:off x="3016250" y="3429000"/>
            <a:ext cx="6159500" cy="2993497"/>
          </a:xfrm>
          <a:prstGeom prst="rect">
            <a:avLst/>
          </a:prstGeom>
        </p:spPr>
      </p:pic>
    </p:spTree>
    <p:extLst>
      <p:ext uri="{BB962C8B-B14F-4D97-AF65-F5344CB8AC3E}">
        <p14:creationId xmlns:p14="http://schemas.microsoft.com/office/powerpoint/2010/main" val="1225683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4C2B5-3A58-1AFB-D556-04F541632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64ABB-17DA-0F6D-7CC4-61F1C03EA669}"/>
              </a:ext>
            </a:extLst>
          </p:cNvPr>
          <p:cNvSpPr>
            <a:spLocks noGrp="1"/>
          </p:cNvSpPr>
          <p:nvPr>
            <p:ph type="title"/>
          </p:nvPr>
        </p:nvSpPr>
        <p:spPr/>
        <p:txBody>
          <a:bodyPr/>
          <a:lstStyle/>
          <a:p>
            <a:pPr algn="ctr"/>
            <a:r>
              <a:rPr lang="en-US" dirty="0"/>
              <a:t>LDLR class A repeat 5 has top GOFs</a:t>
            </a:r>
          </a:p>
        </p:txBody>
      </p:sp>
      <p:pic>
        <p:nvPicPr>
          <p:cNvPr id="7" name="Picture 6" descr="A graph showing different colored dots&#10;&#10;AI-generated content may be incorrect.">
            <a:extLst>
              <a:ext uri="{FF2B5EF4-FFF2-40B4-BE49-F238E27FC236}">
                <a16:creationId xmlns:a16="http://schemas.microsoft.com/office/drawing/2014/main" id="{A4B2CE43-82EC-3ECA-0060-8B471F9064C1}"/>
              </a:ext>
            </a:extLst>
          </p:cNvPr>
          <p:cNvPicPr>
            <a:picLocks noChangeAspect="1"/>
          </p:cNvPicPr>
          <p:nvPr/>
        </p:nvPicPr>
        <p:blipFill>
          <a:blip r:embed="rId2"/>
          <a:stretch>
            <a:fillRect/>
          </a:stretch>
        </p:blipFill>
        <p:spPr>
          <a:xfrm>
            <a:off x="2241550" y="1555750"/>
            <a:ext cx="7708900" cy="3746500"/>
          </a:xfrm>
          <a:prstGeom prst="rect">
            <a:avLst/>
          </a:prstGeom>
        </p:spPr>
      </p:pic>
      <p:sp>
        <p:nvSpPr>
          <p:cNvPr id="9" name="TextBox 8">
            <a:extLst>
              <a:ext uri="{FF2B5EF4-FFF2-40B4-BE49-F238E27FC236}">
                <a16:creationId xmlns:a16="http://schemas.microsoft.com/office/drawing/2014/main" id="{45C82085-D4E6-4E3F-7FE8-7A352DC7ACAF}"/>
              </a:ext>
            </a:extLst>
          </p:cNvPr>
          <p:cNvSpPr txBox="1"/>
          <p:nvPr/>
        </p:nvSpPr>
        <p:spPr>
          <a:xfrm>
            <a:off x="2418557" y="5406123"/>
            <a:ext cx="7531893" cy="954107"/>
          </a:xfrm>
          <a:prstGeom prst="rect">
            <a:avLst/>
          </a:prstGeom>
          <a:noFill/>
        </p:spPr>
        <p:txBody>
          <a:bodyPr wrap="square">
            <a:spAutoFit/>
          </a:bodyPr>
          <a:lstStyle/>
          <a:p>
            <a:pPr algn="ctr"/>
            <a:r>
              <a:rPr lang="en-US" sz="2800" dirty="0"/>
              <a:t>A5 is the only class A repeat essential for both ApoB and </a:t>
            </a:r>
            <a:r>
              <a:rPr lang="en-US" sz="2800" dirty="0" err="1"/>
              <a:t>ApoE</a:t>
            </a:r>
            <a:r>
              <a:rPr lang="en-US" sz="2800" dirty="0"/>
              <a:t> binding (Esser et al., 1988)</a:t>
            </a:r>
          </a:p>
        </p:txBody>
      </p:sp>
      <p:sp>
        <p:nvSpPr>
          <p:cNvPr id="10" name="Oval 9">
            <a:extLst>
              <a:ext uri="{FF2B5EF4-FFF2-40B4-BE49-F238E27FC236}">
                <a16:creationId xmlns:a16="http://schemas.microsoft.com/office/drawing/2014/main" id="{6321D5E4-968C-BA13-39B3-37B77414552A}"/>
              </a:ext>
            </a:extLst>
          </p:cNvPr>
          <p:cNvSpPr/>
          <p:nvPr/>
        </p:nvSpPr>
        <p:spPr>
          <a:xfrm>
            <a:off x="4486275" y="1860550"/>
            <a:ext cx="557213" cy="10207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1851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D8FE-DAB9-3F6E-8DE4-E5C9D9DBA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1656C-70C2-CD91-E9A5-E7C58AF04688}"/>
              </a:ext>
            </a:extLst>
          </p:cNvPr>
          <p:cNvSpPr>
            <a:spLocks noGrp="1"/>
          </p:cNvSpPr>
          <p:nvPr>
            <p:ph type="title"/>
          </p:nvPr>
        </p:nvSpPr>
        <p:spPr/>
        <p:txBody>
          <a:bodyPr/>
          <a:lstStyle/>
          <a:p>
            <a:r>
              <a:rPr lang="en-US" dirty="0"/>
              <a:t>How to represent deep mutational scan data? </a:t>
            </a:r>
          </a:p>
        </p:txBody>
      </p:sp>
      <p:pic>
        <p:nvPicPr>
          <p:cNvPr id="4" name="Picture 3">
            <a:extLst>
              <a:ext uri="{FF2B5EF4-FFF2-40B4-BE49-F238E27FC236}">
                <a16:creationId xmlns:a16="http://schemas.microsoft.com/office/drawing/2014/main" id="{9DA51DF6-3D1A-AFA8-3B24-9E6E9B0CD53B}"/>
              </a:ext>
            </a:extLst>
          </p:cNvPr>
          <p:cNvPicPr>
            <a:picLocks noChangeAspect="1"/>
          </p:cNvPicPr>
          <p:nvPr/>
        </p:nvPicPr>
        <p:blipFill>
          <a:blip r:embed="rId3"/>
          <a:stretch>
            <a:fillRect/>
          </a:stretch>
        </p:blipFill>
        <p:spPr>
          <a:xfrm>
            <a:off x="3000542" y="1648355"/>
            <a:ext cx="6190916" cy="4113592"/>
          </a:xfrm>
          <a:prstGeom prst="rect">
            <a:avLst/>
          </a:prstGeom>
        </p:spPr>
      </p:pic>
      <p:sp>
        <p:nvSpPr>
          <p:cNvPr id="5" name="Content Placeholder 2">
            <a:extLst>
              <a:ext uri="{FF2B5EF4-FFF2-40B4-BE49-F238E27FC236}">
                <a16:creationId xmlns:a16="http://schemas.microsoft.com/office/drawing/2014/main" id="{CDA54D4D-2EBF-30AE-FDD5-30E41076060C}"/>
              </a:ext>
            </a:extLst>
          </p:cNvPr>
          <p:cNvSpPr txBox="1">
            <a:spLocks/>
          </p:cNvSpPr>
          <p:nvPr/>
        </p:nvSpPr>
        <p:spPr>
          <a:xfrm>
            <a:off x="6776983" y="5761947"/>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5C, Zhou et al. 2025</a:t>
            </a:r>
          </a:p>
        </p:txBody>
      </p:sp>
      <p:sp>
        <p:nvSpPr>
          <p:cNvPr id="6" name="Content Placeholder 2">
            <a:extLst>
              <a:ext uri="{FF2B5EF4-FFF2-40B4-BE49-F238E27FC236}">
                <a16:creationId xmlns:a16="http://schemas.microsoft.com/office/drawing/2014/main" id="{2CC2E859-AF2D-3D41-7160-D419789DA876}"/>
              </a:ext>
            </a:extLst>
          </p:cNvPr>
          <p:cNvSpPr>
            <a:spLocks noGrp="1"/>
          </p:cNvSpPr>
          <p:nvPr>
            <p:ph idx="1"/>
          </p:nvPr>
        </p:nvSpPr>
        <p:spPr>
          <a:xfrm>
            <a:off x="3619528" y="6199655"/>
            <a:ext cx="4952944" cy="415016"/>
          </a:xfrm>
        </p:spPr>
        <p:txBody>
          <a:bodyPr>
            <a:normAutofit fontScale="92500" lnSpcReduction="10000"/>
          </a:bodyPr>
          <a:lstStyle/>
          <a:p>
            <a:pPr marL="0" indent="0" algn="ctr">
              <a:buNone/>
            </a:pPr>
            <a:r>
              <a:rPr lang="en-US" dirty="0"/>
              <a:t>1) Scatterplot</a:t>
            </a:r>
          </a:p>
          <a:p>
            <a:pPr algn="ctr"/>
            <a:endParaRPr lang="en-US" dirty="0"/>
          </a:p>
          <a:p>
            <a:pPr lvl="2" algn="ctr"/>
            <a:endParaRPr lang="en-US" dirty="0"/>
          </a:p>
          <a:p>
            <a:pPr lvl="2" algn="ctr"/>
            <a:endParaRPr lang="en-US" dirty="0"/>
          </a:p>
          <a:p>
            <a:pPr lvl="1" algn="ctr"/>
            <a:endParaRPr lang="en-US" dirty="0"/>
          </a:p>
        </p:txBody>
      </p:sp>
    </p:spTree>
    <p:extLst>
      <p:ext uri="{BB962C8B-B14F-4D97-AF65-F5344CB8AC3E}">
        <p14:creationId xmlns:p14="http://schemas.microsoft.com/office/powerpoint/2010/main" val="182112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27D30CE-42A9-C86F-867E-EC4765899320}"/>
              </a:ext>
            </a:extLst>
          </p:cNvPr>
          <p:cNvSpPr txBox="1">
            <a:spLocks/>
          </p:cNvSpPr>
          <p:nvPr/>
        </p:nvSpPr>
        <p:spPr>
          <a:xfrm>
            <a:off x="7567725" y="5712786"/>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Tabet et al. 2025</a:t>
            </a:r>
          </a:p>
        </p:txBody>
      </p:sp>
      <p:sp>
        <p:nvSpPr>
          <p:cNvPr id="7" name="Content Placeholder 2">
            <a:extLst>
              <a:ext uri="{FF2B5EF4-FFF2-40B4-BE49-F238E27FC236}">
                <a16:creationId xmlns:a16="http://schemas.microsoft.com/office/drawing/2014/main" id="{ACC7384C-D7E4-2DE8-E2F1-26298B2B0E3A}"/>
              </a:ext>
            </a:extLst>
          </p:cNvPr>
          <p:cNvSpPr txBox="1">
            <a:spLocks/>
          </p:cNvSpPr>
          <p:nvPr/>
        </p:nvSpPr>
        <p:spPr>
          <a:xfrm>
            <a:off x="3619528" y="5814099"/>
            <a:ext cx="4952944" cy="4150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2) Heatmap</a:t>
            </a:r>
          </a:p>
          <a:p>
            <a:pPr algn="ctr"/>
            <a:endParaRPr lang="en-US" dirty="0"/>
          </a:p>
          <a:p>
            <a:pPr lvl="2" algn="ctr"/>
            <a:endParaRPr lang="en-US" dirty="0"/>
          </a:p>
          <a:p>
            <a:pPr lvl="2" algn="ctr"/>
            <a:endParaRPr lang="en-US" dirty="0"/>
          </a:p>
          <a:p>
            <a:pPr lvl="1" algn="ctr"/>
            <a:endParaRPr lang="en-US" dirty="0"/>
          </a:p>
        </p:txBody>
      </p:sp>
      <p:pic>
        <p:nvPicPr>
          <p:cNvPr id="15" name="Picture 14" descr="A group of blue and yellow lines&#10;&#10;AI-generated content may be incorrect.">
            <a:extLst>
              <a:ext uri="{FF2B5EF4-FFF2-40B4-BE49-F238E27FC236}">
                <a16:creationId xmlns:a16="http://schemas.microsoft.com/office/drawing/2014/main" id="{D2D1F53A-5F09-1FC1-94BE-7F55006E3C3B}"/>
              </a:ext>
            </a:extLst>
          </p:cNvPr>
          <p:cNvPicPr>
            <a:picLocks noChangeAspect="1"/>
          </p:cNvPicPr>
          <p:nvPr/>
        </p:nvPicPr>
        <p:blipFill>
          <a:blip r:embed="rId3"/>
          <a:stretch>
            <a:fillRect/>
          </a:stretch>
        </p:blipFill>
        <p:spPr>
          <a:xfrm>
            <a:off x="2209800" y="1317878"/>
            <a:ext cx="7772400" cy="4394908"/>
          </a:xfrm>
          <a:prstGeom prst="rect">
            <a:avLst/>
          </a:prstGeom>
        </p:spPr>
      </p:pic>
      <p:sp>
        <p:nvSpPr>
          <p:cNvPr id="19" name="Title 1">
            <a:extLst>
              <a:ext uri="{FF2B5EF4-FFF2-40B4-BE49-F238E27FC236}">
                <a16:creationId xmlns:a16="http://schemas.microsoft.com/office/drawing/2014/main" id="{2F624933-08AF-BC09-7ED8-83BB60B53667}"/>
              </a:ext>
            </a:extLst>
          </p:cNvPr>
          <p:cNvSpPr>
            <a:spLocks noGrp="1"/>
          </p:cNvSpPr>
          <p:nvPr>
            <p:ph type="title"/>
          </p:nvPr>
        </p:nvSpPr>
        <p:spPr>
          <a:xfrm>
            <a:off x="838200" y="365125"/>
            <a:ext cx="10515600" cy="1325563"/>
          </a:xfrm>
        </p:spPr>
        <p:txBody>
          <a:bodyPr/>
          <a:lstStyle/>
          <a:p>
            <a:r>
              <a:rPr lang="en-US" dirty="0"/>
              <a:t>How to represent deep mutational scan data? </a:t>
            </a:r>
          </a:p>
        </p:txBody>
      </p:sp>
    </p:spTree>
    <p:extLst>
      <p:ext uri="{BB962C8B-B14F-4D97-AF65-F5344CB8AC3E}">
        <p14:creationId xmlns:p14="http://schemas.microsoft.com/office/powerpoint/2010/main" val="1760331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9C-0AE5-FC44-2D9B-F82E206CE0D0}"/>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7AC6EB92-1F6E-5E58-16AE-7DD3038AFAB3}"/>
              </a:ext>
            </a:extLst>
          </p:cNvPr>
          <p:cNvSpPr>
            <a:spLocks noGrp="1"/>
          </p:cNvSpPr>
          <p:nvPr>
            <p:ph idx="1"/>
          </p:nvPr>
        </p:nvSpPr>
        <p:spPr>
          <a:xfrm>
            <a:off x="686791" y="5521184"/>
            <a:ext cx="4952944" cy="821678"/>
          </a:xfrm>
        </p:spPr>
        <p:txBody>
          <a:bodyPr>
            <a:normAutofit fontScale="92500" lnSpcReduction="20000"/>
          </a:bodyPr>
          <a:lstStyle/>
          <a:p>
            <a:pPr marL="0" indent="0" algn="ctr">
              <a:buNone/>
            </a:pPr>
            <a:r>
              <a:rPr lang="en-US" dirty="0"/>
              <a:t>LDLR</a:t>
            </a:r>
          </a:p>
          <a:p>
            <a:pPr marL="0" indent="0" algn="ctr">
              <a:buNone/>
            </a:pPr>
            <a:r>
              <a:rPr lang="en-US" dirty="0"/>
              <a:t>(Bad example)</a:t>
            </a:r>
          </a:p>
          <a:p>
            <a:pPr algn="ctr"/>
            <a:endParaRPr lang="en-US" dirty="0"/>
          </a:p>
          <a:p>
            <a:pPr lvl="2" algn="ctr"/>
            <a:endParaRPr lang="en-US" dirty="0"/>
          </a:p>
          <a:p>
            <a:pPr lvl="2" algn="ctr"/>
            <a:endParaRPr lang="en-US" dirty="0"/>
          </a:p>
          <a:p>
            <a:pPr lvl="1" algn="ctr"/>
            <a:endParaRPr lang="en-US" dirty="0"/>
          </a:p>
        </p:txBody>
      </p:sp>
      <p:sp>
        <p:nvSpPr>
          <p:cNvPr id="11" name="Content Placeholder 2">
            <a:extLst>
              <a:ext uri="{FF2B5EF4-FFF2-40B4-BE49-F238E27FC236}">
                <a16:creationId xmlns:a16="http://schemas.microsoft.com/office/drawing/2014/main" id="{D19142E0-25C4-36BE-610F-0F5DBDEAC181}"/>
              </a:ext>
            </a:extLst>
          </p:cNvPr>
          <p:cNvSpPr txBox="1">
            <a:spLocks/>
          </p:cNvSpPr>
          <p:nvPr/>
        </p:nvSpPr>
        <p:spPr>
          <a:xfrm>
            <a:off x="3619528" y="6386318"/>
            <a:ext cx="4952944" cy="4150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3) Color gradient</a:t>
            </a:r>
          </a:p>
          <a:p>
            <a:pPr lvl="2" algn="ctr"/>
            <a:endParaRPr lang="en-US" dirty="0"/>
          </a:p>
          <a:p>
            <a:pPr lvl="2" algn="ctr"/>
            <a:endParaRPr lang="en-US" dirty="0"/>
          </a:p>
          <a:p>
            <a:pPr lvl="1" algn="ctr"/>
            <a:endParaRPr lang="en-US" dirty="0"/>
          </a:p>
        </p:txBody>
      </p:sp>
      <p:pic>
        <p:nvPicPr>
          <p:cNvPr id="13" name="Picture 12" descr="A collage of diagrams and diagrams&#10;&#10;AI-generated content may be incorrect.">
            <a:extLst>
              <a:ext uri="{FF2B5EF4-FFF2-40B4-BE49-F238E27FC236}">
                <a16:creationId xmlns:a16="http://schemas.microsoft.com/office/drawing/2014/main" id="{614C3200-9263-5E51-EE0C-11092398C1FC}"/>
              </a:ext>
            </a:extLst>
          </p:cNvPr>
          <p:cNvPicPr>
            <a:picLocks noChangeAspect="1"/>
          </p:cNvPicPr>
          <p:nvPr/>
        </p:nvPicPr>
        <p:blipFill>
          <a:blip r:embed="rId3"/>
          <a:srcRect l="47002" t="34892" b="33781"/>
          <a:stretch>
            <a:fillRect/>
          </a:stretch>
        </p:blipFill>
        <p:spPr>
          <a:xfrm>
            <a:off x="6515230" y="1396369"/>
            <a:ext cx="5200613" cy="3787598"/>
          </a:xfrm>
          <a:prstGeom prst="rect">
            <a:avLst/>
          </a:prstGeom>
        </p:spPr>
      </p:pic>
      <p:sp>
        <p:nvSpPr>
          <p:cNvPr id="14" name="Content Placeholder 2">
            <a:extLst>
              <a:ext uri="{FF2B5EF4-FFF2-40B4-BE49-F238E27FC236}">
                <a16:creationId xmlns:a16="http://schemas.microsoft.com/office/drawing/2014/main" id="{C8A8ED6B-832D-11E2-FF12-573797F70D61}"/>
              </a:ext>
            </a:extLst>
          </p:cNvPr>
          <p:cNvSpPr txBox="1">
            <a:spLocks/>
          </p:cNvSpPr>
          <p:nvPr/>
        </p:nvSpPr>
        <p:spPr>
          <a:xfrm>
            <a:off x="6639064" y="5183967"/>
            <a:ext cx="4952944" cy="82167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p53</a:t>
            </a:r>
          </a:p>
          <a:p>
            <a:pPr marL="0" indent="0" algn="ctr">
              <a:buFont typeface="Arial" panose="020B0604020202020204" pitchFamily="34" charset="0"/>
              <a:buNone/>
            </a:pPr>
            <a:r>
              <a:rPr lang="en-US" dirty="0"/>
              <a:t>(Good example)</a:t>
            </a:r>
          </a:p>
          <a:p>
            <a:pPr algn="ctr"/>
            <a:endParaRPr lang="en-US" dirty="0"/>
          </a:p>
          <a:p>
            <a:pPr lvl="2" algn="ctr"/>
            <a:endParaRPr lang="en-US" dirty="0"/>
          </a:p>
          <a:p>
            <a:pPr lvl="2" algn="ctr"/>
            <a:endParaRPr lang="en-US" dirty="0"/>
          </a:p>
          <a:p>
            <a:pPr lvl="1" algn="ctr"/>
            <a:endParaRPr lang="en-US" dirty="0"/>
          </a:p>
        </p:txBody>
      </p:sp>
      <p:sp>
        <p:nvSpPr>
          <p:cNvPr id="15" name="Content Placeholder 2">
            <a:extLst>
              <a:ext uri="{FF2B5EF4-FFF2-40B4-BE49-F238E27FC236}">
                <a16:creationId xmlns:a16="http://schemas.microsoft.com/office/drawing/2014/main" id="{75024FD4-3ED1-0BBB-6E76-76D037FFA3EC}"/>
              </a:ext>
            </a:extLst>
          </p:cNvPr>
          <p:cNvSpPr txBox="1">
            <a:spLocks/>
          </p:cNvSpPr>
          <p:nvPr/>
        </p:nvSpPr>
        <p:spPr>
          <a:xfrm>
            <a:off x="8572472" y="4888368"/>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Gould et al. 2025</a:t>
            </a:r>
          </a:p>
        </p:txBody>
      </p:sp>
      <p:sp>
        <p:nvSpPr>
          <p:cNvPr id="19" name="Title 1">
            <a:extLst>
              <a:ext uri="{FF2B5EF4-FFF2-40B4-BE49-F238E27FC236}">
                <a16:creationId xmlns:a16="http://schemas.microsoft.com/office/drawing/2014/main" id="{4859F47C-8691-1A4C-99BC-696B9F15FE4F}"/>
              </a:ext>
            </a:extLst>
          </p:cNvPr>
          <p:cNvSpPr>
            <a:spLocks noGrp="1"/>
          </p:cNvSpPr>
          <p:nvPr>
            <p:ph type="title"/>
          </p:nvPr>
        </p:nvSpPr>
        <p:spPr>
          <a:xfrm>
            <a:off x="838200" y="365125"/>
            <a:ext cx="10515600" cy="1325563"/>
          </a:xfrm>
        </p:spPr>
        <p:txBody>
          <a:bodyPr/>
          <a:lstStyle/>
          <a:p>
            <a:r>
              <a:rPr lang="en-US" dirty="0"/>
              <a:t>How to represent deep mutational scan data? </a:t>
            </a:r>
          </a:p>
        </p:txBody>
      </p:sp>
      <p:pic>
        <p:nvPicPr>
          <p:cNvPr id="20" name="Picture 19">
            <a:extLst>
              <a:ext uri="{FF2B5EF4-FFF2-40B4-BE49-F238E27FC236}">
                <a16:creationId xmlns:a16="http://schemas.microsoft.com/office/drawing/2014/main" id="{E1CC73D3-B3F8-4172-3777-B9B0F4241F88}"/>
              </a:ext>
            </a:extLst>
          </p:cNvPr>
          <p:cNvPicPr>
            <a:picLocks noChangeAspect="1"/>
          </p:cNvPicPr>
          <p:nvPr/>
        </p:nvPicPr>
        <p:blipFill>
          <a:blip r:embed="rId4"/>
          <a:srcRect b="20970"/>
          <a:stretch>
            <a:fillRect/>
          </a:stretch>
        </p:blipFill>
        <p:spPr>
          <a:xfrm>
            <a:off x="1205053" y="1101327"/>
            <a:ext cx="3916421" cy="4376402"/>
          </a:xfrm>
          <a:prstGeom prst="rect">
            <a:avLst/>
          </a:prstGeom>
        </p:spPr>
      </p:pic>
    </p:spTree>
    <p:extLst>
      <p:ext uri="{BB962C8B-B14F-4D97-AF65-F5344CB8AC3E}">
        <p14:creationId xmlns:p14="http://schemas.microsoft.com/office/powerpoint/2010/main" val="41596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8F7FC-C730-2824-3170-8BF85C4FAF8F}"/>
              </a:ext>
            </a:extLst>
          </p:cNvPr>
          <p:cNvSpPr>
            <a:spLocks noGrp="1"/>
          </p:cNvSpPr>
          <p:nvPr>
            <p:ph type="title"/>
          </p:nvPr>
        </p:nvSpPr>
        <p:spPr/>
        <p:txBody>
          <a:bodyPr/>
          <a:lstStyle/>
          <a:p>
            <a:r>
              <a:rPr lang="en-US" dirty="0"/>
              <a:t>How do we predict variant impact on protein structure? </a:t>
            </a:r>
          </a:p>
        </p:txBody>
      </p:sp>
      <p:sp>
        <p:nvSpPr>
          <p:cNvPr id="3" name="Content Placeholder 2">
            <a:extLst>
              <a:ext uri="{FF2B5EF4-FFF2-40B4-BE49-F238E27FC236}">
                <a16:creationId xmlns:a16="http://schemas.microsoft.com/office/drawing/2014/main" id="{963E479B-1CA7-0383-7D29-D5960544D087}"/>
              </a:ext>
            </a:extLst>
          </p:cNvPr>
          <p:cNvSpPr>
            <a:spLocks noGrp="1"/>
          </p:cNvSpPr>
          <p:nvPr>
            <p:ph idx="1"/>
          </p:nvPr>
        </p:nvSpPr>
        <p:spPr/>
        <p:txBody>
          <a:bodyPr/>
          <a:lstStyle/>
          <a:p>
            <a:r>
              <a:rPr lang="en-US" dirty="0"/>
              <a:t>Physics-based variant effect prediction</a:t>
            </a:r>
          </a:p>
          <a:p>
            <a:pPr lvl="1"/>
            <a:r>
              <a:rPr lang="en-US" dirty="0" err="1"/>
              <a:t>FoldX</a:t>
            </a:r>
            <a:r>
              <a:rPr lang="en-US" dirty="0"/>
              <a:t> </a:t>
            </a:r>
          </a:p>
          <a:p>
            <a:pPr lvl="2"/>
            <a:r>
              <a:rPr lang="en-US" dirty="0"/>
              <a:t>Readout: </a:t>
            </a:r>
            <a:r>
              <a:rPr lang="el-GR" dirty="0"/>
              <a:t>ΔΔ</a:t>
            </a:r>
            <a:r>
              <a:rPr lang="en-US" dirty="0"/>
              <a:t>G (Protein stability change)</a:t>
            </a:r>
          </a:p>
          <a:p>
            <a:pPr lvl="2"/>
            <a:r>
              <a:rPr lang="el-GR" dirty="0"/>
              <a:t>ΔΔ</a:t>
            </a:r>
            <a:r>
              <a:rPr lang="en-US" dirty="0"/>
              <a:t>G &gt; 0 =&gt; Destabilizing, </a:t>
            </a:r>
            <a:r>
              <a:rPr lang="el-GR" dirty="0"/>
              <a:t>ΔΔ</a:t>
            </a:r>
            <a:r>
              <a:rPr lang="en-US" dirty="0"/>
              <a:t>G &lt; 0 =&gt; Stabilizing</a:t>
            </a:r>
          </a:p>
          <a:p>
            <a:r>
              <a:rPr lang="en-US" dirty="0"/>
              <a:t>ML-based variant effect prediction</a:t>
            </a:r>
          </a:p>
          <a:p>
            <a:pPr lvl="1"/>
            <a:r>
              <a:rPr lang="en-US" dirty="0" err="1"/>
              <a:t>DDMut</a:t>
            </a:r>
            <a:endParaRPr lang="en-US" dirty="0"/>
          </a:p>
          <a:p>
            <a:pPr lvl="2"/>
            <a:r>
              <a:rPr lang="en-US" dirty="0"/>
              <a:t>Readout: </a:t>
            </a:r>
            <a:r>
              <a:rPr lang="el-GR" dirty="0"/>
              <a:t>ΔΔ</a:t>
            </a:r>
            <a:r>
              <a:rPr lang="en-US" dirty="0"/>
              <a:t>G (Protein stability change)</a:t>
            </a:r>
          </a:p>
          <a:p>
            <a:pPr lvl="2"/>
            <a:r>
              <a:rPr lang="el-GR" dirty="0"/>
              <a:t>ΔΔ</a:t>
            </a:r>
            <a:r>
              <a:rPr lang="en-US" dirty="0"/>
              <a:t>G &gt; 0 =&gt; Destabilizing, </a:t>
            </a:r>
            <a:r>
              <a:rPr lang="el-GR" dirty="0"/>
              <a:t>ΔΔ</a:t>
            </a:r>
            <a:r>
              <a:rPr lang="en-US" dirty="0"/>
              <a:t>G &lt; 0 =&gt; Stabilizing</a:t>
            </a:r>
          </a:p>
          <a:p>
            <a:pPr lvl="1"/>
            <a:r>
              <a:rPr lang="en-US" dirty="0" err="1">
                <a:hlinkClick r:id="rId3"/>
              </a:rPr>
              <a:t>DDMut</a:t>
            </a:r>
            <a:r>
              <a:rPr lang="en-US" dirty="0">
                <a:hlinkClick r:id="rId3"/>
              </a:rPr>
              <a:t>-PPI</a:t>
            </a:r>
            <a:endParaRPr lang="en-US" dirty="0"/>
          </a:p>
          <a:p>
            <a:pPr lvl="2"/>
            <a:r>
              <a:rPr lang="en-US" dirty="0"/>
              <a:t>Readout: </a:t>
            </a:r>
            <a:r>
              <a:rPr lang="el-GR" dirty="0"/>
              <a:t>ΔΔ</a:t>
            </a:r>
            <a:r>
              <a:rPr lang="en-US" dirty="0"/>
              <a:t>G (Protein affinity change)</a:t>
            </a:r>
          </a:p>
          <a:p>
            <a:pPr lvl="2"/>
            <a:r>
              <a:rPr lang="el-GR" dirty="0"/>
              <a:t>ΔΔ</a:t>
            </a:r>
            <a:r>
              <a:rPr lang="en-US" dirty="0"/>
              <a:t>G &gt; 0 =&gt; Affinity loss, </a:t>
            </a:r>
            <a:r>
              <a:rPr lang="el-GR" dirty="0"/>
              <a:t>ΔΔ</a:t>
            </a:r>
            <a:r>
              <a:rPr lang="en-US" dirty="0"/>
              <a:t>G &lt; 0 =&gt; Affinity gain</a:t>
            </a:r>
          </a:p>
          <a:p>
            <a:pPr lvl="2"/>
            <a:endParaRPr lang="en-US" dirty="0"/>
          </a:p>
          <a:p>
            <a:pPr lvl="2"/>
            <a:endParaRPr lang="en-US" dirty="0"/>
          </a:p>
          <a:p>
            <a:pPr lvl="1"/>
            <a:endParaRPr lang="en-US" dirty="0"/>
          </a:p>
        </p:txBody>
      </p:sp>
    </p:spTree>
    <p:extLst>
      <p:ext uri="{BB962C8B-B14F-4D97-AF65-F5344CB8AC3E}">
        <p14:creationId xmlns:p14="http://schemas.microsoft.com/office/powerpoint/2010/main" val="1951156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3FF-5BE0-9506-C4B3-133F0306769E}"/>
              </a:ext>
            </a:extLst>
          </p:cNvPr>
          <p:cNvSpPr>
            <a:spLocks noGrp="1"/>
          </p:cNvSpPr>
          <p:nvPr>
            <p:ph type="title"/>
          </p:nvPr>
        </p:nvSpPr>
        <p:spPr/>
        <p:txBody>
          <a:bodyPr/>
          <a:lstStyle/>
          <a:p>
            <a:r>
              <a:rPr lang="en-US" dirty="0" err="1"/>
              <a:t>DDMut</a:t>
            </a:r>
            <a:r>
              <a:rPr lang="en-US" dirty="0"/>
              <a:t>-PPI: A webserver for predicting variant effects on PPIs</a:t>
            </a:r>
          </a:p>
        </p:txBody>
      </p:sp>
      <p:sp>
        <p:nvSpPr>
          <p:cNvPr id="3" name="Content Placeholder 2">
            <a:extLst>
              <a:ext uri="{FF2B5EF4-FFF2-40B4-BE49-F238E27FC236}">
                <a16:creationId xmlns:a16="http://schemas.microsoft.com/office/drawing/2014/main" id="{2BD78040-45E4-0E72-20DA-D88CD6245DA3}"/>
              </a:ext>
            </a:extLst>
          </p:cNvPr>
          <p:cNvSpPr>
            <a:spLocks noGrp="1"/>
          </p:cNvSpPr>
          <p:nvPr>
            <p:ph idx="1"/>
          </p:nvPr>
        </p:nvSpPr>
        <p:spPr/>
        <p:txBody>
          <a:bodyPr/>
          <a:lstStyle/>
          <a:p>
            <a:r>
              <a:rPr lang="en-US" dirty="0">
                <a:hlinkClick r:id="rId2"/>
              </a:rPr>
              <a:t>https://biosig.lab.uq.edu.au/ddmut_ppi/</a:t>
            </a:r>
            <a:r>
              <a:rPr lang="en-US" dirty="0"/>
              <a:t> </a:t>
            </a:r>
          </a:p>
          <a:p>
            <a:r>
              <a:rPr lang="en-US" dirty="0"/>
              <a:t>Try going into “Single Mutation”, ”Multiple Mutation”, and “Interface Analysis” and click on ”Example” to see preloaded examples </a:t>
            </a:r>
          </a:p>
        </p:txBody>
      </p:sp>
      <p:pic>
        <p:nvPicPr>
          <p:cNvPr id="5" name="Picture 4">
            <a:extLst>
              <a:ext uri="{FF2B5EF4-FFF2-40B4-BE49-F238E27FC236}">
                <a16:creationId xmlns:a16="http://schemas.microsoft.com/office/drawing/2014/main" id="{1918E9AD-BAD1-8971-5E3A-BC4DC3F07056}"/>
              </a:ext>
            </a:extLst>
          </p:cNvPr>
          <p:cNvPicPr>
            <a:picLocks noChangeAspect="1"/>
          </p:cNvPicPr>
          <p:nvPr/>
        </p:nvPicPr>
        <p:blipFill>
          <a:blip r:embed="rId3"/>
          <a:stretch>
            <a:fillRect/>
          </a:stretch>
        </p:blipFill>
        <p:spPr>
          <a:xfrm>
            <a:off x="4853781" y="3678908"/>
            <a:ext cx="2484438" cy="2632992"/>
          </a:xfrm>
          <a:prstGeom prst="rect">
            <a:avLst/>
          </a:prstGeom>
        </p:spPr>
      </p:pic>
    </p:spTree>
    <p:extLst>
      <p:ext uri="{BB962C8B-B14F-4D97-AF65-F5344CB8AC3E}">
        <p14:creationId xmlns:p14="http://schemas.microsoft.com/office/powerpoint/2010/main" val="1092921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D1917-52BE-B438-A3B5-47873F3C1E1D}"/>
              </a:ext>
            </a:extLst>
          </p:cNvPr>
          <p:cNvSpPr>
            <a:spLocks noGrp="1"/>
          </p:cNvSpPr>
          <p:nvPr>
            <p:ph type="title"/>
          </p:nvPr>
        </p:nvSpPr>
        <p:spPr/>
        <p:txBody>
          <a:bodyPr/>
          <a:lstStyle/>
          <a:p>
            <a:r>
              <a:rPr lang="en-US" dirty="0"/>
              <a:t>Arpeggio: variant effect on interatom interactions </a:t>
            </a:r>
          </a:p>
        </p:txBody>
      </p:sp>
      <p:sp>
        <p:nvSpPr>
          <p:cNvPr id="4" name="Content Placeholder 2">
            <a:extLst>
              <a:ext uri="{FF2B5EF4-FFF2-40B4-BE49-F238E27FC236}">
                <a16:creationId xmlns:a16="http://schemas.microsoft.com/office/drawing/2014/main" id="{C144ECC5-5C7C-9E77-BAE3-AB5132ED1146}"/>
              </a:ext>
            </a:extLst>
          </p:cNvPr>
          <p:cNvSpPr txBox="1">
            <a:spLocks/>
          </p:cNvSpPr>
          <p:nvPr/>
        </p:nvSpPr>
        <p:spPr>
          <a:xfrm>
            <a:off x="7372231" y="5777457"/>
            <a:ext cx="4289721" cy="108054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LDLR class A repeat 5 GOFs may increase affinity of LDLR for its ligands!</a:t>
            </a:r>
          </a:p>
        </p:txBody>
      </p:sp>
      <p:pic>
        <p:nvPicPr>
          <p:cNvPr id="5" name="Picture 4">
            <a:extLst>
              <a:ext uri="{FF2B5EF4-FFF2-40B4-BE49-F238E27FC236}">
                <a16:creationId xmlns:a16="http://schemas.microsoft.com/office/drawing/2014/main" id="{1C008DEA-5229-5BCC-9EF0-4680F8824746}"/>
              </a:ext>
            </a:extLst>
          </p:cNvPr>
          <p:cNvPicPr>
            <a:picLocks noChangeAspect="1"/>
          </p:cNvPicPr>
          <p:nvPr/>
        </p:nvPicPr>
        <p:blipFill>
          <a:blip r:embed="rId2"/>
          <a:stretch>
            <a:fillRect/>
          </a:stretch>
        </p:blipFill>
        <p:spPr>
          <a:xfrm>
            <a:off x="7177982" y="1027906"/>
            <a:ext cx="4678221" cy="4435334"/>
          </a:xfrm>
          <a:prstGeom prst="rect">
            <a:avLst/>
          </a:prstGeom>
        </p:spPr>
      </p:pic>
      <p:sp>
        <p:nvSpPr>
          <p:cNvPr id="6" name="Rectangle 5">
            <a:extLst>
              <a:ext uri="{FF2B5EF4-FFF2-40B4-BE49-F238E27FC236}">
                <a16:creationId xmlns:a16="http://schemas.microsoft.com/office/drawing/2014/main" id="{947F48BE-DF9C-0895-47DD-983BF6E9E1DA}"/>
              </a:ext>
            </a:extLst>
          </p:cNvPr>
          <p:cNvSpPr/>
          <p:nvPr/>
        </p:nvSpPr>
        <p:spPr>
          <a:xfrm rot="19800000">
            <a:off x="10002033" y="4139852"/>
            <a:ext cx="275572" cy="4885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D21FBB18-131C-4A37-0956-A14D95671CB2}"/>
              </a:ext>
            </a:extLst>
          </p:cNvPr>
          <p:cNvSpPr>
            <a:spLocks noGrp="1"/>
          </p:cNvSpPr>
          <p:nvPr>
            <p:ph idx="1"/>
          </p:nvPr>
        </p:nvSpPr>
        <p:spPr>
          <a:xfrm>
            <a:off x="838200" y="1825625"/>
            <a:ext cx="4641496" cy="4351338"/>
          </a:xfrm>
        </p:spPr>
        <p:txBody>
          <a:bodyPr/>
          <a:lstStyle/>
          <a:p>
            <a:r>
              <a:rPr lang="en-US" dirty="0"/>
              <a:t>Webserver for calculating interatomic interactions </a:t>
            </a:r>
          </a:p>
          <a:p>
            <a:r>
              <a:rPr lang="en-US" dirty="0"/>
              <a:t>Used to examine how interatom interactions change upon introducing GOF mutations</a:t>
            </a:r>
          </a:p>
          <a:p>
            <a:r>
              <a:rPr lang="en-US" dirty="0"/>
              <a:t>If time permits, you can try running </a:t>
            </a:r>
            <a:r>
              <a:rPr lang="en-US" dirty="0">
                <a:hlinkClick r:id="rId3"/>
              </a:rPr>
              <a:t>Arpeggio</a:t>
            </a:r>
            <a:r>
              <a:rPr lang="en-US" dirty="0"/>
              <a:t> yourself </a:t>
            </a:r>
          </a:p>
          <a:p>
            <a:pPr lvl="2"/>
            <a:endParaRPr lang="en-US" dirty="0"/>
          </a:p>
          <a:p>
            <a:pPr lvl="2"/>
            <a:endParaRPr lang="en-US" dirty="0"/>
          </a:p>
          <a:p>
            <a:pPr lvl="1"/>
            <a:endParaRPr lang="en-US" dirty="0"/>
          </a:p>
        </p:txBody>
      </p:sp>
      <p:pic>
        <p:nvPicPr>
          <p:cNvPr id="9" name="Picture 8">
            <a:extLst>
              <a:ext uri="{FF2B5EF4-FFF2-40B4-BE49-F238E27FC236}">
                <a16:creationId xmlns:a16="http://schemas.microsoft.com/office/drawing/2014/main" id="{C25F9D22-8C62-916F-B577-D9E4C9B06975}"/>
              </a:ext>
            </a:extLst>
          </p:cNvPr>
          <p:cNvPicPr>
            <a:picLocks noChangeAspect="1"/>
          </p:cNvPicPr>
          <p:nvPr/>
        </p:nvPicPr>
        <p:blipFill>
          <a:blip r:embed="rId4"/>
          <a:stretch>
            <a:fillRect/>
          </a:stretch>
        </p:blipFill>
        <p:spPr>
          <a:xfrm>
            <a:off x="5630339" y="1841500"/>
            <a:ext cx="1397000" cy="3175000"/>
          </a:xfrm>
          <a:prstGeom prst="rect">
            <a:avLst/>
          </a:prstGeom>
        </p:spPr>
      </p:pic>
      <p:sp>
        <p:nvSpPr>
          <p:cNvPr id="10" name="Content Placeholder 2">
            <a:extLst>
              <a:ext uri="{FF2B5EF4-FFF2-40B4-BE49-F238E27FC236}">
                <a16:creationId xmlns:a16="http://schemas.microsoft.com/office/drawing/2014/main" id="{20948A99-A79A-D6CC-FAC5-8392B6B42F0A}"/>
              </a:ext>
            </a:extLst>
          </p:cNvPr>
          <p:cNvSpPr txBox="1">
            <a:spLocks/>
          </p:cNvSpPr>
          <p:nvPr/>
        </p:nvSpPr>
        <p:spPr>
          <a:xfrm>
            <a:off x="9398120" y="5463240"/>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6B, Zhou et al. 2025</a:t>
            </a:r>
          </a:p>
        </p:txBody>
      </p:sp>
    </p:spTree>
    <p:extLst>
      <p:ext uri="{BB962C8B-B14F-4D97-AF65-F5344CB8AC3E}">
        <p14:creationId xmlns:p14="http://schemas.microsoft.com/office/powerpoint/2010/main" val="417128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B798-178B-1073-C051-EFF2E80E7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2BC4D-E4A1-ED84-A279-760F68D80BF5}"/>
              </a:ext>
            </a:extLst>
          </p:cNvPr>
          <p:cNvSpPr>
            <a:spLocks noGrp="1"/>
          </p:cNvSpPr>
          <p:nvPr>
            <p:ph type="title"/>
          </p:nvPr>
        </p:nvSpPr>
        <p:spPr/>
        <p:txBody>
          <a:bodyPr/>
          <a:lstStyle/>
          <a:p>
            <a:r>
              <a:rPr lang="en-US" dirty="0"/>
              <a:t>Objectives of our workshop</a:t>
            </a:r>
          </a:p>
        </p:txBody>
      </p:sp>
      <p:sp>
        <p:nvSpPr>
          <p:cNvPr id="3" name="Content Placeholder 2">
            <a:extLst>
              <a:ext uri="{FF2B5EF4-FFF2-40B4-BE49-F238E27FC236}">
                <a16:creationId xmlns:a16="http://schemas.microsoft.com/office/drawing/2014/main" id="{A9456B4C-6588-78CB-4610-D09AEB591881}"/>
              </a:ext>
            </a:extLst>
          </p:cNvPr>
          <p:cNvSpPr>
            <a:spLocks noGrp="1"/>
          </p:cNvSpPr>
          <p:nvPr>
            <p:ph idx="1"/>
          </p:nvPr>
        </p:nvSpPr>
        <p:spPr/>
        <p:txBody>
          <a:bodyPr/>
          <a:lstStyle/>
          <a:p>
            <a:r>
              <a:rPr lang="en-US" dirty="0"/>
              <a:t>1. How can we design a library of prime editing guide RNAs to assess LDLR variant effect?</a:t>
            </a:r>
          </a:p>
          <a:p>
            <a:r>
              <a:rPr lang="en-US" dirty="0"/>
              <a:t>2. How well do our functional scores correlate with “common-sense” variant effect measurements?</a:t>
            </a:r>
          </a:p>
          <a:p>
            <a:r>
              <a:rPr lang="en-US" dirty="0"/>
              <a:t>3. How do LDLR variant effects relate to protein structure and protein-protein interactions?</a:t>
            </a:r>
          </a:p>
          <a:p>
            <a:r>
              <a:rPr lang="en-US" b="1" dirty="0"/>
              <a:t>4. Why prime editing instead of cDNA overexpression-based deep mutational scanning?</a:t>
            </a:r>
          </a:p>
          <a:p>
            <a:endParaRPr lang="en-US" dirty="0"/>
          </a:p>
        </p:txBody>
      </p:sp>
    </p:spTree>
    <p:extLst>
      <p:ext uri="{BB962C8B-B14F-4D97-AF65-F5344CB8AC3E}">
        <p14:creationId xmlns:p14="http://schemas.microsoft.com/office/powerpoint/2010/main" val="359351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1C267-F7C0-4C37-E493-A73F0C6EAD97}"/>
              </a:ext>
            </a:extLst>
          </p:cNvPr>
          <p:cNvSpPr>
            <a:spLocks noGrp="1"/>
          </p:cNvSpPr>
          <p:nvPr>
            <p:ph type="title"/>
          </p:nvPr>
        </p:nvSpPr>
        <p:spPr/>
        <p:txBody>
          <a:bodyPr/>
          <a:lstStyle/>
          <a:p>
            <a:r>
              <a:rPr lang="en-US" dirty="0"/>
              <a:t>Tabet et al. 2025 accomplishes a similar goal to us</a:t>
            </a:r>
          </a:p>
        </p:txBody>
      </p:sp>
      <p:sp>
        <p:nvSpPr>
          <p:cNvPr id="4" name="Content Placeholder 2">
            <a:extLst>
              <a:ext uri="{FF2B5EF4-FFF2-40B4-BE49-F238E27FC236}">
                <a16:creationId xmlns:a16="http://schemas.microsoft.com/office/drawing/2014/main" id="{F727FF0D-6CE6-D1A8-2F9D-A54BFF670030}"/>
              </a:ext>
            </a:extLst>
          </p:cNvPr>
          <p:cNvSpPr txBox="1">
            <a:spLocks/>
          </p:cNvSpPr>
          <p:nvPr/>
        </p:nvSpPr>
        <p:spPr>
          <a:xfrm>
            <a:off x="7567725" y="5712786"/>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Tabet et al. 2025</a:t>
            </a:r>
          </a:p>
        </p:txBody>
      </p:sp>
      <p:pic>
        <p:nvPicPr>
          <p:cNvPr id="5" name="Picture 4" descr="A group of blue and yellow lines&#10;&#10;AI-generated content may be incorrect.">
            <a:extLst>
              <a:ext uri="{FF2B5EF4-FFF2-40B4-BE49-F238E27FC236}">
                <a16:creationId xmlns:a16="http://schemas.microsoft.com/office/drawing/2014/main" id="{C20445D9-4980-BAF2-CA7A-9A7AA7E708B4}"/>
              </a:ext>
            </a:extLst>
          </p:cNvPr>
          <p:cNvPicPr>
            <a:picLocks noChangeAspect="1"/>
          </p:cNvPicPr>
          <p:nvPr/>
        </p:nvPicPr>
        <p:blipFill>
          <a:blip r:embed="rId2"/>
          <a:stretch>
            <a:fillRect/>
          </a:stretch>
        </p:blipFill>
        <p:spPr>
          <a:xfrm>
            <a:off x="2209800" y="1317878"/>
            <a:ext cx="7772400" cy="4394908"/>
          </a:xfrm>
          <a:prstGeom prst="rect">
            <a:avLst/>
          </a:prstGeom>
        </p:spPr>
      </p:pic>
    </p:spTree>
    <p:extLst>
      <p:ext uri="{BB962C8B-B14F-4D97-AF65-F5344CB8AC3E}">
        <p14:creationId xmlns:p14="http://schemas.microsoft.com/office/powerpoint/2010/main" val="3665268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D866-0857-9E02-99DF-F8F14D20DB77}"/>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BE2D6C13-DF79-3B3D-93F1-28B025AF7362}"/>
              </a:ext>
            </a:extLst>
          </p:cNvPr>
          <p:cNvSpPr txBox="1">
            <a:spLocks/>
          </p:cNvSpPr>
          <p:nvPr/>
        </p:nvSpPr>
        <p:spPr>
          <a:xfrm>
            <a:off x="10155819" y="6085596"/>
            <a:ext cx="1858437" cy="5506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Figure 1c</a:t>
            </a:r>
          </a:p>
        </p:txBody>
      </p:sp>
      <p:pic>
        <p:nvPicPr>
          <p:cNvPr id="11" name="Picture 10" descr="A group of blue and yellow lines&#10;&#10;AI-generated content may be incorrect.">
            <a:extLst>
              <a:ext uri="{FF2B5EF4-FFF2-40B4-BE49-F238E27FC236}">
                <a16:creationId xmlns:a16="http://schemas.microsoft.com/office/drawing/2014/main" id="{C8676DBA-4A71-3D84-F404-5ABDA3E8AC85}"/>
              </a:ext>
            </a:extLst>
          </p:cNvPr>
          <p:cNvPicPr>
            <a:picLocks noChangeAspect="1"/>
          </p:cNvPicPr>
          <p:nvPr/>
        </p:nvPicPr>
        <p:blipFill>
          <a:blip r:embed="rId3"/>
          <a:stretch>
            <a:fillRect/>
          </a:stretch>
        </p:blipFill>
        <p:spPr>
          <a:xfrm>
            <a:off x="4419600" y="1690688"/>
            <a:ext cx="7772400" cy="4394908"/>
          </a:xfrm>
          <a:prstGeom prst="rect">
            <a:avLst/>
          </a:prstGeom>
        </p:spPr>
      </p:pic>
      <p:sp>
        <p:nvSpPr>
          <p:cNvPr id="12" name="Content Placeholder 2">
            <a:extLst>
              <a:ext uri="{FF2B5EF4-FFF2-40B4-BE49-F238E27FC236}">
                <a16:creationId xmlns:a16="http://schemas.microsoft.com/office/drawing/2014/main" id="{2FAAF612-5859-19BC-FCAA-052CD68DB097}"/>
              </a:ext>
            </a:extLst>
          </p:cNvPr>
          <p:cNvSpPr txBox="1">
            <a:spLocks/>
          </p:cNvSpPr>
          <p:nvPr/>
        </p:nvSpPr>
        <p:spPr>
          <a:xfrm>
            <a:off x="177744" y="1634671"/>
            <a:ext cx="4241856" cy="4858204"/>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Lot of blue in </a:t>
            </a:r>
            <a:r>
              <a:rPr lang="en-US" dirty="0">
                <a:solidFill>
                  <a:schemeClr val="accent6"/>
                </a:solidFill>
              </a:rPr>
              <a:t>LA3-5, LA7</a:t>
            </a:r>
          </a:p>
          <a:p>
            <a:pPr lvl="1"/>
            <a:r>
              <a:rPr lang="en-US" dirty="0"/>
              <a:t>Class A repeat cysteines have strongly negative scores </a:t>
            </a:r>
          </a:p>
          <a:p>
            <a:pPr lvl="1"/>
            <a:r>
              <a:rPr lang="en-US" dirty="0"/>
              <a:t>FH associated variants are located in LA3-5 and LA7</a:t>
            </a:r>
          </a:p>
          <a:p>
            <a:r>
              <a:rPr lang="en-US" dirty="0">
                <a:solidFill>
                  <a:schemeClr val="accent5"/>
                </a:solidFill>
              </a:rPr>
              <a:t>Class B repeats</a:t>
            </a:r>
            <a:r>
              <a:rPr lang="en-US" dirty="0"/>
              <a:t> and </a:t>
            </a:r>
            <a:r>
              <a:rPr lang="en-US" dirty="0">
                <a:solidFill>
                  <a:schemeClr val="accent2"/>
                </a:solidFill>
              </a:rPr>
              <a:t>NPXY</a:t>
            </a:r>
            <a:r>
              <a:rPr lang="en-US" dirty="0"/>
              <a:t> motif intolerant to substitutions </a:t>
            </a:r>
          </a:p>
          <a:p>
            <a:pPr lvl="1"/>
            <a:endParaRPr lang="en-US" dirty="0"/>
          </a:p>
          <a:p>
            <a:endParaRPr lang="en-US" dirty="0"/>
          </a:p>
        </p:txBody>
      </p:sp>
      <p:sp>
        <p:nvSpPr>
          <p:cNvPr id="13" name="Rectangle 12">
            <a:extLst>
              <a:ext uri="{FF2B5EF4-FFF2-40B4-BE49-F238E27FC236}">
                <a16:creationId xmlns:a16="http://schemas.microsoft.com/office/drawing/2014/main" id="{7578B2EA-8AF0-392E-72A2-9F0D8FF15DF8}"/>
              </a:ext>
            </a:extLst>
          </p:cNvPr>
          <p:cNvSpPr/>
          <p:nvPr/>
        </p:nvSpPr>
        <p:spPr>
          <a:xfrm>
            <a:off x="8305800" y="1746704"/>
            <a:ext cx="1254369" cy="1057675"/>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F9F613-5B2B-CD90-4507-CC1CBEFB11EC}"/>
              </a:ext>
            </a:extLst>
          </p:cNvPr>
          <p:cNvSpPr/>
          <p:nvPr/>
        </p:nvSpPr>
        <p:spPr>
          <a:xfrm>
            <a:off x="9560169" y="1746704"/>
            <a:ext cx="1359877" cy="1057675"/>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EE52ECF-5A4C-AEDD-1FF3-9C285681BB92}"/>
              </a:ext>
            </a:extLst>
          </p:cNvPr>
          <p:cNvSpPr/>
          <p:nvPr/>
        </p:nvSpPr>
        <p:spPr>
          <a:xfrm>
            <a:off x="11149484" y="1746704"/>
            <a:ext cx="969946" cy="1057675"/>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304B4A7-F63A-8442-7C4F-1DDA4DF2452B}"/>
              </a:ext>
            </a:extLst>
          </p:cNvPr>
          <p:cNvSpPr/>
          <p:nvPr/>
        </p:nvSpPr>
        <p:spPr>
          <a:xfrm>
            <a:off x="4767747" y="2830467"/>
            <a:ext cx="424739" cy="1057675"/>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7" name="Rectangle 16">
            <a:extLst>
              <a:ext uri="{FF2B5EF4-FFF2-40B4-BE49-F238E27FC236}">
                <a16:creationId xmlns:a16="http://schemas.microsoft.com/office/drawing/2014/main" id="{23F35986-9082-BBA3-6AEC-98B871C0E4B9}"/>
              </a:ext>
            </a:extLst>
          </p:cNvPr>
          <p:cNvSpPr/>
          <p:nvPr/>
        </p:nvSpPr>
        <p:spPr>
          <a:xfrm>
            <a:off x="6521184" y="2804379"/>
            <a:ext cx="1359877" cy="1057675"/>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3" name="Rectangle 2">
            <a:extLst>
              <a:ext uri="{FF2B5EF4-FFF2-40B4-BE49-F238E27FC236}">
                <a16:creationId xmlns:a16="http://schemas.microsoft.com/office/drawing/2014/main" id="{054A3A95-3AB6-740D-EA41-F89B6BA0E4E3}"/>
              </a:ext>
            </a:extLst>
          </p:cNvPr>
          <p:cNvSpPr/>
          <p:nvPr/>
        </p:nvSpPr>
        <p:spPr>
          <a:xfrm>
            <a:off x="10545193" y="2804379"/>
            <a:ext cx="1574237"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4" name="Rectangle 3">
            <a:extLst>
              <a:ext uri="{FF2B5EF4-FFF2-40B4-BE49-F238E27FC236}">
                <a16:creationId xmlns:a16="http://schemas.microsoft.com/office/drawing/2014/main" id="{D6E54EFC-558D-6268-91AA-A77890F13E7E}"/>
              </a:ext>
            </a:extLst>
          </p:cNvPr>
          <p:cNvSpPr/>
          <p:nvPr/>
        </p:nvSpPr>
        <p:spPr>
          <a:xfrm>
            <a:off x="10545192" y="3862054"/>
            <a:ext cx="1574237"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5" name="Rectangle 4">
            <a:extLst>
              <a:ext uri="{FF2B5EF4-FFF2-40B4-BE49-F238E27FC236}">
                <a16:creationId xmlns:a16="http://schemas.microsoft.com/office/drawing/2014/main" id="{E6C6F841-5E19-FBE4-3106-2CAE38F44934}"/>
              </a:ext>
            </a:extLst>
          </p:cNvPr>
          <p:cNvSpPr/>
          <p:nvPr/>
        </p:nvSpPr>
        <p:spPr>
          <a:xfrm>
            <a:off x="9137515" y="3862053"/>
            <a:ext cx="1407676"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92D050"/>
              </a:solidFill>
            </a:endParaRPr>
          </a:p>
        </p:txBody>
      </p:sp>
      <p:sp>
        <p:nvSpPr>
          <p:cNvPr id="7" name="Rectangle 6">
            <a:extLst>
              <a:ext uri="{FF2B5EF4-FFF2-40B4-BE49-F238E27FC236}">
                <a16:creationId xmlns:a16="http://schemas.microsoft.com/office/drawing/2014/main" id="{B3A885EE-C75D-3C0A-5EC8-277CD4D395A5}"/>
              </a:ext>
            </a:extLst>
          </p:cNvPr>
          <p:cNvSpPr/>
          <p:nvPr/>
        </p:nvSpPr>
        <p:spPr>
          <a:xfrm>
            <a:off x="7678366" y="3862052"/>
            <a:ext cx="1459148"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8" name="Rectangle 7">
            <a:extLst>
              <a:ext uri="{FF2B5EF4-FFF2-40B4-BE49-F238E27FC236}">
                <a16:creationId xmlns:a16="http://schemas.microsoft.com/office/drawing/2014/main" id="{615A3E01-E0BD-311E-67B6-D4C37800E251}"/>
              </a:ext>
            </a:extLst>
          </p:cNvPr>
          <p:cNvSpPr/>
          <p:nvPr/>
        </p:nvSpPr>
        <p:spPr>
          <a:xfrm>
            <a:off x="6219217" y="3862051"/>
            <a:ext cx="1459148"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9" name="Rectangle 8">
            <a:extLst>
              <a:ext uri="{FF2B5EF4-FFF2-40B4-BE49-F238E27FC236}">
                <a16:creationId xmlns:a16="http://schemas.microsoft.com/office/drawing/2014/main" id="{B36CC9A2-4A8E-4DE6-4DD2-88F455D3FA29}"/>
              </a:ext>
            </a:extLst>
          </p:cNvPr>
          <p:cNvSpPr/>
          <p:nvPr/>
        </p:nvSpPr>
        <p:spPr>
          <a:xfrm>
            <a:off x="4760067" y="3862050"/>
            <a:ext cx="1459148" cy="1057675"/>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Rectangle 9">
            <a:extLst>
              <a:ext uri="{FF2B5EF4-FFF2-40B4-BE49-F238E27FC236}">
                <a16:creationId xmlns:a16="http://schemas.microsoft.com/office/drawing/2014/main" id="{ED9B6069-5FB2-E07E-661C-E2E51F49B2A2}"/>
              </a:ext>
            </a:extLst>
          </p:cNvPr>
          <p:cNvSpPr/>
          <p:nvPr/>
        </p:nvSpPr>
        <p:spPr>
          <a:xfrm>
            <a:off x="10081260" y="4971905"/>
            <a:ext cx="280035" cy="92778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92D050"/>
              </a:solidFill>
            </a:endParaRPr>
          </a:p>
        </p:txBody>
      </p:sp>
      <p:sp>
        <p:nvSpPr>
          <p:cNvPr id="18" name="Content Placeholder 2">
            <a:extLst>
              <a:ext uri="{FF2B5EF4-FFF2-40B4-BE49-F238E27FC236}">
                <a16:creationId xmlns:a16="http://schemas.microsoft.com/office/drawing/2014/main" id="{48DB65D3-98D1-A4B8-49E0-5C4DB757B900}"/>
              </a:ext>
            </a:extLst>
          </p:cNvPr>
          <p:cNvSpPr txBox="1">
            <a:spLocks/>
          </p:cNvSpPr>
          <p:nvPr/>
        </p:nvSpPr>
        <p:spPr>
          <a:xfrm>
            <a:off x="4292697" y="6087730"/>
            <a:ext cx="5296903" cy="55064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Yellow = reference AA, Gray = unknown</a:t>
            </a:r>
          </a:p>
        </p:txBody>
      </p:sp>
      <p:sp>
        <p:nvSpPr>
          <p:cNvPr id="22" name="Title 1">
            <a:extLst>
              <a:ext uri="{FF2B5EF4-FFF2-40B4-BE49-F238E27FC236}">
                <a16:creationId xmlns:a16="http://schemas.microsoft.com/office/drawing/2014/main" id="{C9B03680-AF0C-1173-FADA-45618E791186}"/>
              </a:ext>
            </a:extLst>
          </p:cNvPr>
          <p:cNvSpPr>
            <a:spLocks noGrp="1"/>
          </p:cNvSpPr>
          <p:nvPr>
            <p:ph type="title"/>
          </p:nvPr>
        </p:nvSpPr>
        <p:spPr>
          <a:xfrm>
            <a:off x="838200" y="365125"/>
            <a:ext cx="10979990" cy="1325563"/>
          </a:xfrm>
        </p:spPr>
        <p:txBody>
          <a:bodyPr/>
          <a:lstStyle/>
          <a:p>
            <a:r>
              <a:rPr lang="en-US" dirty="0"/>
              <a:t>Tabet et al. 2025 recapitulates LDLR biology</a:t>
            </a:r>
          </a:p>
        </p:txBody>
      </p:sp>
    </p:spTree>
    <p:extLst>
      <p:ext uri="{BB962C8B-B14F-4D97-AF65-F5344CB8AC3E}">
        <p14:creationId xmlns:p14="http://schemas.microsoft.com/office/powerpoint/2010/main" val="2069255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987-B83B-84E7-BA01-0AE662D195D7}"/>
              </a:ext>
            </a:extLst>
          </p:cNvPr>
          <p:cNvSpPr>
            <a:spLocks noGrp="1"/>
          </p:cNvSpPr>
          <p:nvPr>
            <p:ph type="title"/>
          </p:nvPr>
        </p:nvSpPr>
        <p:spPr/>
        <p:txBody>
          <a:bodyPr/>
          <a:lstStyle/>
          <a:p>
            <a:r>
              <a:rPr lang="en-US" dirty="0"/>
              <a:t>How does our experiment differ from theirs? </a:t>
            </a:r>
          </a:p>
        </p:txBody>
      </p:sp>
      <p:pic>
        <p:nvPicPr>
          <p:cNvPr id="6" name="Content Placeholder 5" descr="A comparison of a table&#10;&#10;AI-generated content may be incorrect.">
            <a:extLst>
              <a:ext uri="{FF2B5EF4-FFF2-40B4-BE49-F238E27FC236}">
                <a16:creationId xmlns:a16="http://schemas.microsoft.com/office/drawing/2014/main" id="{68AA8E5F-FCF8-2CE3-8C10-84523A14712D}"/>
              </a:ext>
            </a:extLst>
          </p:cNvPr>
          <p:cNvPicPr>
            <a:picLocks noGrp="1" noChangeAspect="1"/>
          </p:cNvPicPr>
          <p:nvPr>
            <p:ph idx="1"/>
          </p:nvPr>
        </p:nvPicPr>
        <p:blipFill>
          <a:blip r:embed="rId2"/>
          <a:stretch>
            <a:fillRect/>
          </a:stretch>
        </p:blipFill>
        <p:spPr>
          <a:xfrm>
            <a:off x="1574800" y="1636175"/>
            <a:ext cx="9042400" cy="3556000"/>
          </a:xfrm>
        </p:spPr>
      </p:pic>
    </p:spTree>
    <p:extLst>
      <p:ext uri="{BB962C8B-B14F-4D97-AF65-F5344CB8AC3E}">
        <p14:creationId xmlns:p14="http://schemas.microsoft.com/office/powerpoint/2010/main" val="1636038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B0DA7-C51E-B409-D1B4-E964C4DCE6EA}"/>
              </a:ext>
            </a:extLst>
          </p:cNvPr>
          <p:cNvSpPr>
            <a:spLocks noGrp="1"/>
          </p:cNvSpPr>
          <p:nvPr>
            <p:ph idx="1"/>
          </p:nvPr>
        </p:nvSpPr>
        <p:spPr/>
        <p:txBody>
          <a:bodyPr/>
          <a:lstStyle/>
          <a:p>
            <a:r>
              <a:rPr lang="en-US" dirty="0"/>
              <a:t>Differences in screening workflow</a:t>
            </a:r>
          </a:p>
          <a:p>
            <a:pPr lvl="1"/>
            <a:r>
              <a:rPr lang="en-US" dirty="0"/>
              <a:t>HeLa LDLR KO cells vs. HCT cells</a:t>
            </a:r>
          </a:p>
          <a:p>
            <a:pPr lvl="1"/>
            <a:r>
              <a:rPr lang="en-US" dirty="0"/>
              <a:t>LDLR variant overexpression vs. prime editing at endogenous LDLR</a:t>
            </a:r>
          </a:p>
          <a:p>
            <a:pPr lvl="1"/>
            <a:r>
              <a:rPr lang="en-US" dirty="0"/>
              <a:t>FACS for T20% vs. FACS with 4 bins: T20, T40, B20, B40</a:t>
            </a:r>
          </a:p>
          <a:p>
            <a:pPr lvl="1"/>
            <a:r>
              <a:rPr lang="en-US" dirty="0"/>
              <a:t>Growing cells out after FACS versus immediately extracting gDNA</a:t>
            </a:r>
          </a:p>
          <a:p>
            <a:pPr lvl="1"/>
            <a:r>
              <a:rPr lang="en-US" dirty="0"/>
              <a:t>Downstream computational analysis e.g. log ratio is different (</a:t>
            </a:r>
            <a:r>
              <a:rPr lang="en-US" dirty="0" err="1"/>
              <a:t>TileSeqMAVE</a:t>
            </a:r>
            <a:r>
              <a:rPr lang="en-US" dirty="0"/>
              <a:t> vs. BEAN)</a:t>
            </a:r>
          </a:p>
          <a:p>
            <a:r>
              <a:rPr lang="en-US" dirty="0"/>
              <a:t>Seems that our FACS strategy allows us to discover more fine grained variant information (consult BEAN supplements)</a:t>
            </a:r>
          </a:p>
          <a:p>
            <a:r>
              <a:rPr lang="en-US" dirty="0"/>
              <a:t>Less biochemical analysis/no GOF discovery</a:t>
            </a:r>
          </a:p>
        </p:txBody>
      </p:sp>
      <p:sp>
        <p:nvSpPr>
          <p:cNvPr id="9" name="Title 1">
            <a:extLst>
              <a:ext uri="{FF2B5EF4-FFF2-40B4-BE49-F238E27FC236}">
                <a16:creationId xmlns:a16="http://schemas.microsoft.com/office/drawing/2014/main" id="{5706107D-8D9F-F392-3F17-E4BFF48E949D}"/>
              </a:ext>
            </a:extLst>
          </p:cNvPr>
          <p:cNvSpPr>
            <a:spLocks noGrp="1"/>
          </p:cNvSpPr>
          <p:nvPr>
            <p:ph type="title"/>
          </p:nvPr>
        </p:nvSpPr>
        <p:spPr>
          <a:xfrm>
            <a:off x="838200" y="365125"/>
            <a:ext cx="10515600" cy="1325563"/>
          </a:xfrm>
        </p:spPr>
        <p:txBody>
          <a:bodyPr/>
          <a:lstStyle/>
          <a:p>
            <a:r>
              <a:rPr lang="en-US" dirty="0"/>
              <a:t>How does our experiment differ from theirs? </a:t>
            </a:r>
          </a:p>
        </p:txBody>
      </p:sp>
    </p:spTree>
    <p:extLst>
      <p:ext uri="{BB962C8B-B14F-4D97-AF65-F5344CB8AC3E}">
        <p14:creationId xmlns:p14="http://schemas.microsoft.com/office/powerpoint/2010/main" val="468888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C7CC-1D2F-CD08-BA37-136F275250B6}"/>
              </a:ext>
            </a:extLst>
          </p:cNvPr>
          <p:cNvSpPr>
            <a:spLocks noGrp="1"/>
          </p:cNvSpPr>
          <p:nvPr>
            <p:ph type="title"/>
          </p:nvPr>
        </p:nvSpPr>
        <p:spPr/>
        <p:txBody>
          <a:bodyPr/>
          <a:lstStyle/>
          <a:p>
            <a:r>
              <a:rPr lang="en-US" dirty="0"/>
              <a:t>Prime editing allows for RNA splicing effect measurement</a:t>
            </a:r>
          </a:p>
        </p:txBody>
      </p:sp>
      <p:sp>
        <p:nvSpPr>
          <p:cNvPr id="3" name="Content Placeholder 2">
            <a:extLst>
              <a:ext uri="{FF2B5EF4-FFF2-40B4-BE49-F238E27FC236}">
                <a16:creationId xmlns:a16="http://schemas.microsoft.com/office/drawing/2014/main" id="{082FDDB5-22D8-26B7-7213-E4786D298494}"/>
              </a:ext>
            </a:extLst>
          </p:cNvPr>
          <p:cNvSpPr>
            <a:spLocks noGrp="1"/>
          </p:cNvSpPr>
          <p:nvPr>
            <p:ph idx="1"/>
          </p:nvPr>
        </p:nvSpPr>
        <p:spPr/>
        <p:txBody>
          <a:bodyPr/>
          <a:lstStyle/>
          <a:p>
            <a:r>
              <a:rPr lang="en-US" dirty="0"/>
              <a:t>Our approach allows for the evaluation of coding variants on RNA splicing </a:t>
            </a:r>
          </a:p>
        </p:txBody>
      </p:sp>
      <p:grpSp>
        <p:nvGrpSpPr>
          <p:cNvPr id="4" name="Group 3">
            <a:extLst>
              <a:ext uri="{FF2B5EF4-FFF2-40B4-BE49-F238E27FC236}">
                <a16:creationId xmlns:a16="http://schemas.microsoft.com/office/drawing/2014/main" id="{CEE85823-C548-0A24-68D4-4015927DC372}"/>
              </a:ext>
            </a:extLst>
          </p:cNvPr>
          <p:cNvGrpSpPr/>
          <p:nvPr/>
        </p:nvGrpSpPr>
        <p:grpSpPr>
          <a:xfrm>
            <a:off x="1914285" y="3535783"/>
            <a:ext cx="8363429" cy="1583696"/>
            <a:chOff x="91324" y="1458080"/>
            <a:chExt cx="5543265" cy="1049671"/>
          </a:xfrm>
        </p:grpSpPr>
        <p:grpSp>
          <p:nvGrpSpPr>
            <p:cNvPr id="5" name="Group 4">
              <a:extLst>
                <a:ext uri="{FF2B5EF4-FFF2-40B4-BE49-F238E27FC236}">
                  <a16:creationId xmlns:a16="http://schemas.microsoft.com/office/drawing/2014/main" id="{9ABB2065-43AC-655B-A3C2-BE7617C15A90}"/>
                </a:ext>
              </a:extLst>
            </p:cNvPr>
            <p:cNvGrpSpPr>
              <a:grpSpLocks noChangeAspect="1"/>
            </p:cNvGrpSpPr>
            <p:nvPr/>
          </p:nvGrpSpPr>
          <p:grpSpPr>
            <a:xfrm>
              <a:off x="91324" y="1458080"/>
              <a:ext cx="5543265" cy="1049671"/>
              <a:chOff x="0" y="2528047"/>
              <a:chExt cx="12192000" cy="2308674"/>
            </a:xfrm>
          </p:grpSpPr>
          <p:pic>
            <p:nvPicPr>
              <p:cNvPr id="10" name="Picture 2">
                <a:extLst>
                  <a:ext uri="{FF2B5EF4-FFF2-40B4-BE49-F238E27FC236}">
                    <a16:creationId xmlns:a16="http://schemas.microsoft.com/office/drawing/2014/main" id="{125EF391-C71C-4C02-4232-E9327A70FB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722" b="43453"/>
              <a:stretch>
                <a:fillRect/>
              </a:stretch>
            </p:blipFill>
            <p:spPr bwMode="auto">
              <a:xfrm>
                <a:off x="0" y="2528047"/>
                <a:ext cx="12192000" cy="11543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684A0AE2-68CB-E0EA-4811-3BEB2A4E95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0174" b="1"/>
              <a:stretch>
                <a:fillRect/>
              </a:stretch>
            </p:blipFill>
            <p:spPr bwMode="auto">
              <a:xfrm>
                <a:off x="0" y="3682384"/>
                <a:ext cx="12192000" cy="115433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AA91B56F-3D40-4573-A039-B795D560A7BB}"/>
                </a:ext>
              </a:extLst>
            </p:cNvPr>
            <p:cNvSpPr txBox="1"/>
            <p:nvPr/>
          </p:nvSpPr>
          <p:spPr>
            <a:xfrm>
              <a:off x="1586706" y="1982916"/>
              <a:ext cx="168253" cy="215444"/>
            </a:xfrm>
            <a:prstGeom prst="rect">
              <a:avLst/>
            </a:prstGeom>
            <a:noFill/>
          </p:spPr>
          <p:txBody>
            <a:bodyPr wrap="square" rtlCol="0">
              <a:spAutoFit/>
            </a:bodyPr>
            <a:lstStyle/>
            <a:p>
              <a:pPr algn="ctr"/>
              <a:r>
                <a:rPr lang="en-US" sz="800" dirty="0"/>
                <a:t>4</a:t>
              </a:r>
            </a:p>
          </p:txBody>
        </p:sp>
        <p:sp>
          <p:nvSpPr>
            <p:cNvPr id="9" name="TextBox 8">
              <a:extLst>
                <a:ext uri="{FF2B5EF4-FFF2-40B4-BE49-F238E27FC236}">
                  <a16:creationId xmlns:a16="http://schemas.microsoft.com/office/drawing/2014/main" id="{A1911A8B-D323-D251-0A4D-699FE382C608}"/>
                </a:ext>
              </a:extLst>
            </p:cNvPr>
            <p:cNvSpPr txBox="1"/>
            <p:nvPr/>
          </p:nvSpPr>
          <p:spPr>
            <a:xfrm>
              <a:off x="1792112" y="2007588"/>
              <a:ext cx="168253" cy="215444"/>
            </a:xfrm>
            <a:prstGeom prst="rect">
              <a:avLst/>
            </a:prstGeom>
            <a:noFill/>
          </p:spPr>
          <p:txBody>
            <a:bodyPr wrap="square" rtlCol="0">
              <a:spAutoFit/>
            </a:bodyPr>
            <a:lstStyle/>
            <a:p>
              <a:pPr algn="ctr"/>
              <a:r>
                <a:rPr lang="en-US" sz="800" dirty="0"/>
                <a:t>5</a:t>
              </a:r>
            </a:p>
          </p:txBody>
        </p:sp>
      </p:grpSp>
    </p:spTree>
    <p:extLst>
      <p:ext uri="{BB962C8B-B14F-4D97-AF65-F5344CB8AC3E}">
        <p14:creationId xmlns:p14="http://schemas.microsoft.com/office/powerpoint/2010/main" val="4002366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3876-7A85-60DC-0B22-8B308328A480}"/>
              </a:ext>
            </a:extLst>
          </p:cNvPr>
          <p:cNvSpPr>
            <a:spLocks noGrp="1"/>
          </p:cNvSpPr>
          <p:nvPr>
            <p:ph type="title"/>
          </p:nvPr>
        </p:nvSpPr>
        <p:spPr/>
        <p:txBody>
          <a:bodyPr/>
          <a:lstStyle/>
          <a:p>
            <a:r>
              <a:rPr lang="en-US" dirty="0" err="1"/>
              <a:t>AlphaGenome</a:t>
            </a:r>
            <a:r>
              <a:rPr lang="en-US" dirty="0"/>
              <a:t> for splice site usage prediction</a:t>
            </a:r>
          </a:p>
        </p:txBody>
      </p:sp>
      <p:pic>
        <p:nvPicPr>
          <p:cNvPr id="5" name="Content Placeholder 4">
            <a:extLst>
              <a:ext uri="{FF2B5EF4-FFF2-40B4-BE49-F238E27FC236}">
                <a16:creationId xmlns:a16="http://schemas.microsoft.com/office/drawing/2014/main" id="{47F71612-2482-DAC2-D075-100389B15197}"/>
              </a:ext>
            </a:extLst>
          </p:cNvPr>
          <p:cNvPicPr>
            <a:picLocks noGrp="1" noChangeAspect="1"/>
          </p:cNvPicPr>
          <p:nvPr>
            <p:ph idx="1"/>
          </p:nvPr>
        </p:nvPicPr>
        <p:blipFill>
          <a:blip r:embed="rId3"/>
          <a:stretch>
            <a:fillRect/>
          </a:stretch>
        </p:blipFill>
        <p:spPr>
          <a:xfrm>
            <a:off x="4884540" y="1531662"/>
            <a:ext cx="6962140" cy="4351338"/>
          </a:xfrm>
        </p:spPr>
      </p:pic>
      <p:sp>
        <p:nvSpPr>
          <p:cNvPr id="6" name="Rectangle 5">
            <a:extLst>
              <a:ext uri="{FF2B5EF4-FFF2-40B4-BE49-F238E27FC236}">
                <a16:creationId xmlns:a16="http://schemas.microsoft.com/office/drawing/2014/main" id="{E1C415FE-A140-2850-841E-5CF717F19657}"/>
              </a:ext>
            </a:extLst>
          </p:cNvPr>
          <p:cNvSpPr/>
          <p:nvPr/>
        </p:nvSpPr>
        <p:spPr>
          <a:xfrm>
            <a:off x="6666614" y="4690559"/>
            <a:ext cx="3056860" cy="1806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DC51B09C-F370-1C28-56B2-5D750D5DDE32}"/>
              </a:ext>
            </a:extLst>
          </p:cNvPr>
          <p:cNvSpPr txBox="1">
            <a:spLocks/>
          </p:cNvSpPr>
          <p:nvPr/>
        </p:nvSpPr>
        <p:spPr>
          <a:xfrm>
            <a:off x="838200" y="1825625"/>
            <a:ext cx="45693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Deep learning model for epigenetic feature prediction</a:t>
            </a:r>
          </a:p>
          <a:p>
            <a:pPr lvl="1"/>
            <a:r>
              <a:rPr lang="en-US" dirty="0"/>
              <a:t>Trained on mouse/human genome data</a:t>
            </a:r>
          </a:p>
          <a:p>
            <a:pPr lvl="1"/>
            <a:r>
              <a:rPr lang="en-US" dirty="0"/>
              <a:t>Input: 1 megabase DNA</a:t>
            </a:r>
          </a:p>
          <a:p>
            <a:pPr lvl="1"/>
            <a:r>
              <a:rPr lang="en-US" dirty="0"/>
              <a:t>Output: RNA-seq, chromatin contact map, </a:t>
            </a:r>
            <a:r>
              <a:rPr lang="en-US" b="1" dirty="0"/>
              <a:t>splice site usage</a:t>
            </a:r>
          </a:p>
        </p:txBody>
      </p:sp>
      <p:sp>
        <p:nvSpPr>
          <p:cNvPr id="9" name="TextBox 8">
            <a:extLst>
              <a:ext uri="{FF2B5EF4-FFF2-40B4-BE49-F238E27FC236}">
                <a16:creationId xmlns:a16="http://schemas.microsoft.com/office/drawing/2014/main" id="{3D7F7DEA-A141-7C12-86D6-1853BDA22648}"/>
              </a:ext>
            </a:extLst>
          </p:cNvPr>
          <p:cNvSpPr txBox="1"/>
          <p:nvPr/>
        </p:nvSpPr>
        <p:spPr>
          <a:xfrm>
            <a:off x="4884540" y="5884575"/>
            <a:ext cx="6096000" cy="292388"/>
          </a:xfrm>
          <a:prstGeom prst="rect">
            <a:avLst/>
          </a:prstGeom>
          <a:noFill/>
        </p:spPr>
        <p:txBody>
          <a:bodyPr wrap="square">
            <a:spAutoFit/>
          </a:bodyPr>
          <a:lstStyle/>
          <a:p>
            <a:pPr algn="r"/>
            <a:r>
              <a:rPr lang="en-US" sz="1300" dirty="0"/>
              <a:t>https://</a:t>
            </a:r>
            <a:r>
              <a:rPr lang="en-US" sz="1300" dirty="0" err="1"/>
              <a:t>www.alphagenomedocs.com</a:t>
            </a:r>
            <a:r>
              <a:rPr lang="en-US" sz="1300" dirty="0"/>
              <a:t>/</a:t>
            </a:r>
          </a:p>
        </p:txBody>
      </p:sp>
    </p:spTree>
    <p:extLst>
      <p:ext uri="{BB962C8B-B14F-4D97-AF65-F5344CB8AC3E}">
        <p14:creationId xmlns:p14="http://schemas.microsoft.com/office/powerpoint/2010/main" val="3884972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E547FF-26A7-EA7E-0FDF-E4316C5498AA}"/>
              </a:ext>
            </a:extLst>
          </p:cNvPr>
          <p:cNvSpPr>
            <a:spLocks noGrp="1"/>
          </p:cNvSpPr>
          <p:nvPr>
            <p:ph idx="1"/>
          </p:nvPr>
        </p:nvSpPr>
        <p:spPr>
          <a:xfrm>
            <a:off x="838200" y="1825625"/>
            <a:ext cx="3542071" cy="4667250"/>
          </a:xfrm>
        </p:spPr>
        <p:txBody>
          <a:bodyPr>
            <a:normAutofit lnSpcReduction="10000"/>
          </a:bodyPr>
          <a:lstStyle/>
          <a:p>
            <a:r>
              <a:rPr lang="en-US" dirty="0"/>
              <a:t>Top coding splicing variants at T713 are moderately deleterious</a:t>
            </a:r>
          </a:p>
          <a:p>
            <a:r>
              <a:rPr lang="en-US" dirty="0"/>
              <a:t>Not labeled as deleterious by Tabet or </a:t>
            </a:r>
            <a:r>
              <a:rPr lang="en-US" dirty="0" err="1"/>
              <a:t>AlphaMissense</a:t>
            </a:r>
            <a:endParaRPr lang="en-US" dirty="0"/>
          </a:p>
          <a:p>
            <a:r>
              <a:rPr lang="en-US" dirty="0"/>
              <a:t>DMS in the age of ML: Our screen picks up on biology that </a:t>
            </a:r>
            <a:r>
              <a:rPr lang="en-US" dirty="0" err="1"/>
              <a:t>AlphaMissense</a:t>
            </a:r>
            <a:r>
              <a:rPr lang="en-US" dirty="0"/>
              <a:t> could not!</a:t>
            </a:r>
          </a:p>
        </p:txBody>
      </p:sp>
      <p:sp>
        <p:nvSpPr>
          <p:cNvPr id="4" name="Title 1">
            <a:extLst>
              <a:ext uri="{FF2B5EF4-FFF2-40B4-BE49-F238E27FC236}">
                <a16:creationId xmlns:a16="http://schemas.microsoft.com/office/drawing/2014/main" id="{A8C47358-369C-27FD-C5A2-8BBFD26A5A64}"/>
              </a:ext>
            </a:extLst>
          </p:cNvPr>
          <p:cNvSpPr>
            <a:spLocks noGrp="1"/>
          </p:cNvSpPr>
          <p:nvPr>
            <p:ph type="title"/>
          </p:nvPr>
        </p:nvSpPr>
        <p:spPr>
          <a:xfrm>
            <a:off x="838200" y="365125"/>
            <a:ext cx="10515600" cy="1325563"/>
          </a:xfrm>
        </p:spPr>
        <p:txBody>
          <a:bodyPr/>
          <a:lstStyle/>
          <a:p>
            <a:r>
              <a:rPr lang="en-US" dirty="0" err="1"/>
              <a:t>AlphaGenome</a:t>
            </a:r>
            <a:r>
              <a:rPr lang="en-US" dirty="0"/>
              <a:t> for splice site usage prediction</a:t>
            </a:r>
          </a:p>
        </p:txBody>
      </p:sp>
      <p:pic>
        <p:nvPicPr>
          <p:cNvPr id="5" name="Picture 4">
            <a:extLst>
              <a:ext uri="{FF2B5EF4-FFF2-40B4-BE49-F238E27FC236}">
                <a16:creationId xmlns:a16="http://schemas.microsoft.com/office/drawing/2014/main" id="{43A3989B-C013-09E3-730B-24634C70FBDE}"/>
              </a:ext>
            </a:extLst>
          </p:cNvPr>
          <p:cNvPicPr>
            <a:picLocks noChangeAspect="1"/>
          </p:cNvPicPr>
          <p:nvPr/>
        </p:nvPicPr>
        <p:blipFill>
          <a:blip r:embed="rId3"/>
          <a:srcRect l="50551"/>
          <a:stretch>
            <a:fillRect/>
          </a:stretch>
        </p:blipFill>
        <p:spPr>
          <a:xfrm>
            <a:off x="4757457" y="2097836"/>
            <a:ext cx="7101599" cy="3806916"/>
          </a:xfrm>
          <a:prstGeom prst="rect">
            <a:avLst/>
          </a:prstGeom>
        </p:spPr>
      </p:pic>
      <p:sp>
        <p:nvSpPr>
          <p:cNvPr id="6" name="Content Placeholder 2">
            <a:extLst>
              <a:ext uri="{FF2B5EF4-FFF2-40B4-BE49-F238E27FC236}">
                <a16:creationId xmlns:a16="http://schemas.microsoft.com/office/drawing/2014/main" id="{E8F721C5-FAA6-5718-AAAD-2FDB5D8A2C95}"/>
              </a:ext>
            </a:extLst>
          </p:cNvPr>
          <p:cNvSpPr txBox="1">
            <a:spLocks/>
          </p:cNvSpPr>
          <p:nvPr/>
        </p:nvSpPr>
        <p:spPr>
          <a:xfrm>
            <a:off x="9444581" y="5937341"/>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7E-F, Zhou et al. 2025</a:t>
            </a:r>
          </a:p>
        </p:txBody>
      </p:sp>
    </p:spTree>
    <p:extLst>
      <p:ext uri="{BB962C8B-B14F-4D97-AF65-F5344CB8AC3E}">
        <p14:creationId xmlns:p14="http://schemas.microsoft.com/office/powerpoint/2010/main" val="9335175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F96E-E98C-E0D2-49A9-F6A3D3F87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C46DD-0749-347A-71C3-88978E26279C}"/>
              </a:ext>
            </a:extLst>
          </p:cNvPr>
          <p:cNvSpPr>
            <a:spLocks noGrp="1"/>
          </p:cNvSpPr>
          <p:nvPr>
            <p:ph type="title"/>
          </p:nvPr>
        </p:nvSpPr>
        <p:spPr/>
        <p:txBody>
          <a:bodyPr/>
          <a:lstStyle/>
          <a:p>
            <a:r>
              <a:rPr lang="en-US" dirty="0"/>
              <a:t>Data exploration philosophy: </a:t>
            </a:r>
          </a:p>
        </p:txBody>
      </p:sp>
      <p:sp>
        <p:nvSpPr>
          <p:cNvPr id="3" name="Content Placeholder 2">
            <a:extLst>
              <a:ext uri="{FF2B5EF4-FFF2-40B4-BE49-F238E27FC236}">
                <a16:creationId xmlns:a16="http://schemas.microsoft.com/office/drawing/2014/main" id="{7AE19A3A-EE52-DA52-3B46-21073F361DF2}"/>
              </a:ext>
            </a:extLst>
          </p:cNvPr>
          <p:cNvSpPr>
            <a:spLocks noGrp="1"/>
          </p:cNvSpPr>
          <p:nvPr>
            <p:ph idx="1"/>
          </p:nvPr>
        </p:nvSpPr>
        <p:spPr>
          <a:xfrm>
            <a:off x="838200" y="1825624"/>
            <a:ext cx="10515600" cy="5032375"/>
          </a:xfrm>
        </p:spPr>
        <p:txBody>
          <a:bodyPr>
            <a:normAutofit/>
          </a:bodyPr>
          <a:lstStyle/>
          <a:p>
            <a:r>
              <a:rPr lang="en-US" b="1" dirty="0"/>
              <a:t>How is the screen conducted?</a:t>
            </a:r>
          </a:p>
          <a:p>
            <a:pPr lvl="1"/>
            <a:r>
              <a:rPr lang="en-US" dirty="0"/>
              <a:t>Why is a particular technology being used in the screen?</a:t>
            </a:r>
          </a:p>
          <a:p>
            <a:pPr lvl="2"/>
            <a:r>
              <a:rPr lang="en-US" dirty="0"/>
              <a:t>E.g. Cas9, base/prime editing, </a:t>
            </a:r>
            <a:r>
              <a:rPr lang="en-US" dirty="0" err="1"/>
              <a:t>CRISPRi</a:t>
            </a:r>
            <a:r>
              <a:rPr lang="en-US" dirty="0"/>
              <a:t>, </a:t>
            </a:r>
            <a:r>
              <a:rPr lang="en-US" dirty="0" err="1"/>
              <a:t>CRISPRa</a:t>
            </a:r>
            <a:endParaRPr lang="en-US" dirty="0"/>
          </a:p>
          <a:p>
            <a:pPr lvl="1"/>
            <a:r>
              <a:rPr lang="en-US" dirty="0"/>
              <a:t>What’s the phenotype? Readout?</a:t>
            </a:r>
          </a:p>
          <a:p>
            <a:pPr lvl="1"/>
            <a:r>
              <a:rPr lang="en-US" dirty="0"/>
              <a:t>Is any normalization to controls performed? </a:t>
            </a:r>
          </a:p>
          <a:p>
            <a:pPr lvl="1"/>
            <a:r>
              <a:rPr lang="en-US" dirty="0"/>
              <a:t>Do they account for gRNA abundance or reporter editing efficiency?</a:t>
            </a:r>
          </a:p>
          <a:p>
            <a:r>
              <a:rPr lang="en-US" dirty="0"/>
              <a:t>What do the data actually look like?</a:t>
            </a:r>
          </a:p>
          <a:p>
            <a:r>
              <a:rPr lang="en-US" dirty="0"/>
              <a:t>How does my data compare to other comparable screens? </a:t>
            </a:r>
          </a:p>
          <a:p>
            <a:endParaRPr lang="en-US" dirty="0"/>
          </a:p>
          <a:p>
            <a:endParaRPr lang="en-US" dirty="0"/>
          </a:p>
        </p:txBody>
      </p:sp>
    </p:spTree>
    <p:extLst>
      <p:ext uri="{BB962C8B-B14F-4D97-AF65-F5344CB8AC3E}">
        <p14:creationId xmlns:p14="http://schemas.microsoft.com/office/powerpoint/2010/main" val="316825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5E48-8B71-D507-709C-EE0A18B22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E5983-B920-81C6-9D98-4E34769D2D7C}"/>
              </a:ext>
            </a:extLst>
          </p:cNvPr>
          <p:cNvSpPr>
            <a:spLocks noGrp="1"/>
          </p:cNvSpPr>
          <p:nvPr>
            <p:ph type="title"/>
          </p:nvPr>
        </p:nvSpPr>
        <p:spPr/>
        <p:txBody>
          <a:bodyPr/>
          <a:lstStyle/>
          <a:p>
            <a:r>
              <a:rPr lang="en-US" dirty="0"/>
              <a:t>Data exploration philosophy: </a:t>
            </a:r>
          </a:p>
        </p:txBody>
      </p:sp>
      <p:sp>
        <p:nvSpPr>
          <p:cNvPr id="3" name="Content Placeholder 2">
            <a:extLst>
              <a:ext uri="{FF2B5EF4-FFF2-40B4-BE49-F238E27FC236}">
                <a16:creationId xmlns:a16="http://schemas.microsoft.com/office/drawing/2014/main" id="{508982E3-0999-50F8-395A-42EFEDFA5629}"/>
              </a:ext>
            </a:extLst>
          </p:cNvPr>
          <p:cNvSpPr>
            <a:spLocks noGrp="1"/>
          </p:cNvSpPr>
          <p:nvPr>
            <p:ph idx="1"/>
          </p:nvPr>
        </p:nvSpPr>
        <p:spPr>
          <a:xfrm>
            <a:off x="838200" y="1825624"/>
            <a:ext cx="10515600" cy="5032375"/>
          </a:xfrm>
        </p:spPr>
        <p:txBody>
          <a:bodyPr>
            <a:normAutofit lnSpcReduction="10000"/>
          </a:bodyPr>
          <a:lstStyle/>
          <a:p>
            <a:r>
              <a:rPr lang="en-US" dirty="0"/>
              <a:t>How is the screen conducted?</a:t>
            </a:r>
          </a:p>
          <a:p>
            <a:r>
              <a:rPr lang="en-US" b="1" dirty="0"/>
              <a:t>What do the data actually look like?</a:t>
            </a:r>
          </a:p>
          <a:p>
            <a:pPr lvl="1"/>
            <a:r>
              <a:rPr lang="en-US" dirty="0"/>
              <a:t>How do your data correlate with pathogenicity measures? Do your data serve as proxies for biological phenomena?</a:t>
            </a:r>
          </a:p>
          <a:p>
            <a:pPr lvl="2"/>
            <a:r>
              <a:rPr lang="en-US" dirty="0"/>
              <a:t>E.g. LDL uptake as a proxy for LDL cholesterol in human blood</a:t>
            </a:r>
          </a:p>
          <a:p>
            <a:pPr lvl="1"/>
            <a:r>
              <a:rPr lang="en-US" dirty="0"/>
              <a:t>Are hits localized in particular functional domains/motifs? If so, why?</a:t>
            </a:r>
          </a:p>
          <a:p>
            <a:pPr lvl="1"/>
            <a:r>
              <a:rPr lang="en-US" dirty="0"/>
              <a:t>Are there positive/negative controls from the literature that validate your screen results? </a:t>
            </a:r>
          </a:p>
          <a:p>
            <a:pPr lvl="1"/>
            <a:r>
              <a:rPr lang="en-US" dirty="0"/>
              <a:t>Is your protein involved in known PPIs? If so, does it or its ligand have solved structures? </a:t>
            </a:r>
          </a:p>
          <a:p>
            <a:pPr lvl="1"/>
            <a:r>
              <a:rPr lang="en-US" dirty="0"/>
              <a:t>Do impactful variants cluster at the PPI interface? </a:t>
            </a:r>
          </a:p>
          <a:p>
            <a:pPr lvl="1"/>
            <a:r>
              <a:rPr lang="en-US" u="sng" dirty="0"/>
              <a:t>What possible follow-up experiments could we do? </a:t>
            </a:r>
          </a:p>
          <a:p>
            <a:r>
              <a:rPr lang="en-US" dirty="0"/>
              <a:t>How does my data compare to other comparable screens? </a:t>
            </a:r>
          </a:p>
          <a:p>
            <a:endParaRPr lang="en-US" dirty="0"/>
          </a:p>
          <a:p>
            <a:endParaRPr lang="en-US" dirty="0"/>
          </a:p>
          <a:p>
            <a:endParaRPr lang="en-US" dirty="0"/>
          </a:p>
        </p:txBody>
      </p:sp>
    </p:spTree>
    <p:extLst>
      <p:ext uri="{BB962C8B-B14F-4D97-AF65-F5344CB8AC3E}">
        <p14:creationId xmlns:p14="http://schemas.microsoft.com/office/powerpoint/2010/main" val="764419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0C2A7-BE58-B243-7BA9-4A4D0DCF3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BE076-1F33-0AFA-0D0E-207157934EF0}"/>
              </a:ext>
            </a:extLst>
          </p:cNvPr>
          <p:cNvSpPr>
            <a:spLocks noGrp="1"/>
          </p:cNvSpPr>
          <p:nvPr>
            <p:ph type="title"/>
          </p:nvPr>
        </p:nvSpPr>
        <p:spPr/>
        <p:txBody>
          <a:bodyPr/>
          <a:lstStyle/>
          <a:p>
            <a:r>
              <a:rPr lang="en-US" dirty="0"/>
              <a:t>Data exploration philosophy: </a:t>
            </a:r>
          </a:p>
        </p:txBody>
      </p:sp>
      <p:sp>
        <p:nvSpPr>
          <p:cNvPr id="3" name="Content Placeholder 2">
            <a:extLst>
              <a:ext uri="{FF2B5EF4-FFF2-40B4-BE49-F238E27FC236}">
                <a16:creationId xmlns:a16="http://schemas.microsoft.com/office/drawing/2014/main" id="{DCC50BFF-4DA3-FA4C-E25E-3F970AD74FA5}"/>
              </a:ext>
            </a:extLst>
          </p:cNvPr>
          <p:cNvSpPr>
            <a:spLocks noGrp="1"/>
          </p:cNvSpPr>
          <p:nvPr>
            <p:ph idx="1"/>
          </p:nvPr>
        </p:nvSpPr>
        <p:spPr>
          <a:xfrm>
            <a:off x="838200" y="1825624"/>
            <a:ext cx="10515600" cy="5032375"/>
          </a:xfrm>
        </p:spPr>
        <p:txBody>
          <a:bodyPr>
            <a:normAutofit/>
          </a:bodyPr>
          <a:lstStyle/>
          <a:p>
            <a:r>
              <a:rPr lang="en-US" dirty="0"/>
              <a:t>How is the screen conducted?</a:t>
            </a:r>
          </a:p>
          <a:p>
            <a:r>
              <a:rPr lang="en-US" dirty="0"/>
              <a:t>What do the data actually look like?</a:t>
            </a:r>
          </a:p>
          <a:p>
            <a:r>
              <a:rPr lang="en-US" b="1" dirty="0"/>
              <a:t>How does my data compare to other comparable screens? </a:t>
            </a:r>
          </a:p>
          <a:p>
            <a:pPr lvl="1"/>
            <a:r>
              <a:rPr lang="en-US" dirty="0"/>
              <a:t>How is the correlation between the datasets?</a:t>
            </a:r>
          </a:p>
          <a:p>
            <a:pPr lvl="1"/>
            <a:r>
              <a:rPr lang="en-US" dirty="0"/>
              <a:t>Do top hits in your screen match with theirs? If yes/no, why? </a:t>
            </a:r>
          </a:p>
          <a:p>
            <a:pPr lvl="1"/>
            <a:r>
              <a:rPr lang="en-US" dirty="0"/>
              <a:t>What unique information does each dataset contribute? </a:t>
            </a:r>
          </a:p>
          <a:p>
            <a:endParaRPr lang="en-US" dirty="0"/>
          </a:p>
        </p:txBody>
      </p:sp>
    </p:spTree>
    <p:extLst>
      <p:ext uri="{BB962C8B-B14F-4D97-AF65-F5344CB8AC3E}">
        <p14:creationId xmlns:p14="http://schemas.microsoft.com/office/powerpoint/2010/main" val="2008760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3ECEC-8479-E08F-9C66-0D7897D4D1F1}"/>
              </a:ext>
            </a:extLst>
          </p:cNvPr>
          <p:cNvSpPr>
            <a:spLocks noGrp="1"/>
          </p:cNvSpPr>
          <p:nvPr>
            <p:ph type="title"/>
          </p:nvPr>
        </p:nvSpPr>
        <p:spPr/>
        <p:txBody>
          <a:bodyPr/>
          <a:lstStyle/>
          <a:p>
            <a:r>
              <a:rPr lang="en-US" dirty="0"/>
              <a:t>Resources for CRISPR screening/variant analysis</a:t>
            </a:r>
          </a:p>
        </p:txBody>
      </p:sp>
      <p:sp>
        <p:nvSpPr>
          <p:cNvPr id="3" name="Content Placeholder 2">
            <a:extLst>
              <a:ext uri="{FF2B5EF4-FFF2-40B4-BE49-F238E27FC236}">
                <a16:creationId xmlns:a16="http://schemas.microsoft.com/office/drawing/2014/main" id="{40B8D74F-EE4E-C4C6-3AFA-5483D36AF2D2}"/>
              </a:ext>
            </a:extLst>
          </p:cNvPr>
          <p:cNvSpPr>
            <a:spLocks noGrp="1"/>
          </p:cNvSpPr>
          <p:nvPr>
            <p:ph idx="1"/>
          </p:nvPr>
        </p:nvSpPr>
        <p:spPr>
          <a:xfrm>
            <a:off x="838200" y="1825624"/>
            <a:ext cx="10515600" cy="4863933"/>
          </a:xfrm>
        </p:spPr>
        <p:txBody>
          <a:bodyPr>
            <a:normAutofit fontScale="70000" lnSpcReduction="20000"/>
          </a:bodyPr>
          <a:lstStyle/>
          <a:p>
            <a:r>
              <a:rPr lang="en-US" dirty="0"/>
              <a:t>PRIDICT/PRIDICT2.0</a:t>
            </a:r>
          </a:p>
          <a:p>
            <a:pPr lvl="1"/>
            <a:r>
              <a:rPr lang="en-US" dirty="0">
                <a:hlinkClick r:id="rId2"/>
              </a:rPr>
              <a:t>https://www.pridict.it/</a:t>
            </a:r>
            <a:r>
              <a:rPr lang="en-US" dirty="0"/>
              <a:t> </a:t>
            </a:r>
          </a:p>
          <a:p>
            <a:r>
              <a:rPr lang="en-US" dirty="0"/>
              <a:t>BEAN</a:t>
            </a:r>
          </a:p>
          <a:p>
            <a:pPr lvl="1"/>
            <a:r>
              <a:rPr lang="en-US" dirty="0">
                <a:hlinkClick r:id="rId3"/>
              </a:rPr>
              <a:t>https://github.com/pinellolab/crispr-bean</a:t>
            </a:r>
            <a:endParaRPr lang="en-US" dirty="0"/>
          </a:p>
          <a:p>
            <a:r>
              <a:rPr lang="en-US" dirty="0"/>
              <a:t>FUSE</a:t>
            </a:r>
          </a:p>
          <a:p>
            <a:pPr lvl="1"/>
            <a:r>
              <a:rPr lang="en-US" dirty="0">
                <a:hlinkClick r:id="rId4"/>
              </a:rPr>
              <a:t>https://github.com/TYTYBU/FUSE-pipeline</a:t>
            </a:r>
            <a:r>
              <a:rPr lang="en-US" dirty="0"/>
              <a:t> </a:t>
            </a:r>
          </a:p>
          <a:p>
            <a:r>
              <a:rPr lang="en-US" dirty="0" err="1"/>
              <a:t>AlphaMissense</a:t>
            </a:r>
            <a:endParaRPr lang="en-US" dirty="0"/>
          </a:p>
          <a:p>
            <a:pPr lvl="1"/>
            <a:r>
              <a:rPr lang="en-US" dirty="0"/>
              <a:t> </a:t>
            </a:r>
            <a:r>
              <a:rPr lang="en-US" dirty="0">
                <a:hlinkClick r:id="rId5"/>
              </a:rPr>
              <a:t>https://alphamissense.hegelab.org/</a:t>
            </a:r>
            <a:r>
              <a:rPr lang="en-US" dirty="0"/>
              <a:t> </a:t>
            </a:r>
          </a:p>
          <a:p>
            <a:r>
              <a:rPr lang="en-US" dirty="0"/>
              <a:t>Arpeggio</a:t>
            </a:r>
          </a:p>
          <a:p>
            <a:pPr lvl="1"/>
            <a:r>
              <a:rPr lang="en-US" dirty="0">
                <a:hlinkClick r:id="rId6"/>
              </a:rPr>
              <a:t>https://biosig.lab.uq.edu.au/arpeggioweb/</a:t>
            </a:r>
            <a:r>
              <a:rPr lang="en-US" dirty="0"/>
              <a:t> </a:t>
            </a:r>
          </a:p>
          <a:p>
            <a:r>
              <a:rPr lang="en-US" dirty="0" err="1"/>
              <a:t>DDMut</a:t>
            </a:r>
            <a:endParaRPr lang="en-US" dirty="0"/>
          </a:p>
          <a:p>
            <a:pPr lvl="1"/>
            <a:r>
              <a:rPr lang="en-US" dirty="0">
                <a:hlinkClick r:id="rId7"/>
              </a:rPr>
              <a:t>https://biosig.lab.uq.edu.au/ddmut/</a:t>
            </a:r>
            <a:r>
              <a:rPr lang="en-US" dirty="0"/>
              <a:t> </a:t>
            </a:r>
          </a:p>
          <a:p>
            <a:r>
              <a:rPr lang="en-US" dirty="0" err="1"/>
              <a:t>DDMut</a:t>
            </a:r>
            <a:r>
              <a:rPr lang="en-US" dirty="0"/>
              <a:t>-PPI</a:t>
            </a:r>
          </a:p>
          <a:p>
            <a:pPr lvl="1"/>
            <a:r>
              <a:rPr lang="en-US" dirty="0">
                <a:hlinkClick r:id="rId8"/>
              </a:rPr>
              <a:t>https://biosig.lab.uq.edu.au/ddmut_ppi/</a:t>
            </a:r>
            <a:r>
              <a:rPr lang="en-US" dirty="0"/>
              <a:t> </a:t>
            </a:r>
          </a:p>
          <a:p>
            <a:r>
              <a:rPr lang="en-US" dirty="0" err="1"/>
              <a:t>AlphaGenome</a:t>
            </a:r>
            <a:endParaRPr lang="en-US" dirty="0"/>
          </a:p>
          <a:p>
            <a:pPr lvl="1"/>
            <a:r>
              <a:rPr lang="en-US" dirty="0">
                <a:hlinkClick r:id="rId9"/>
              </a:rPr>
              <a:t>https://www.alphagenomedocs.com/</a:t>
            </a:r>
            <a:r>
              <a:rPr lang="en-US" dirty="0"/>
              <a:t> </a:t>
            </a:r>
          </a:p>
          <a:p>
            <a:endParaRPr lang="en-US" dirty="0"/>
          </a:p>
        </p:txBody>
      </p:sp>
    </p:spTree>
    <p:extLst>
      <p:ext uri="{BB962C8B-B14F-4D97-AF65-F5344CB8AC3E}">
        <p14:creationId xmlns:p14="http://schemas.microsoft.com/office/powerpoint/2010/main" val="746256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9DEE-ECC0-37AA-20F6-CEE5444C3DC7}"/>
              </a:ext>
            </a:extLst>
          </p:cNvPr>
          <p:cNvSpPr>
            <a:spLocks noGrp="1"/>
          </p:cNvSpPr>
          <p:nvPr>
            <p:ph type="title"/>
          </p:nvPr>
        </p:nvSpPr>
        <p:spPr/>
        <p:txBody>
          <a:bodyPr/>
          <a:lstStyle/>
          <a:p>
            <a:r>
              <a:rPr lang="en-US" dirty="0"/>
              <a:t>Thanks for listening! Questions? </a:t>
            </a:r>
          </a:p>
        </p:txBody>
      </p:sp>
      <p:sp>
        <p:nvSpPr>
          <p:cNvPr id="3" name="Content Placeholder 2">
            <a:extLst>
              <a:ext uri="{FF2B5EF4-FFF2-40B4-BE49-F238E27FC236}">
                <a16:creationId xmlns:a16="http://schemas.microsoft.com/office/drawing/2014/main" id="{A68E871B-13D5-E535-6000-8B0D7305A39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72948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047FA-8E19-8D47-47F4-9FF49A7220E3}"/>
              </a:ext>
            </a:extLst>
          </p:cNvPr>
          <p:cNvSpPr>
            <a:spLocks noGrp="1"/>
          </p:cNvSpPr>
          <p:nvPr>
            <p:ph type="title"/>
          </p:nvPr>
        </p:nvSpPr>
        <p:spPr/>
        <p:txBody>
          <a:bodyPr/>
          <a:lstStyle/>
          <a:p>
            <a:r>
              <a:rPr lang="en-US" dirty="0"/>
              <a:t>Why PE instead of BE? </a:t>
            </a:r>
          </a:p>
        </p:txBody>
      </p:sp>
      <p:sp>
        <p:nvSpPr>
          <p:cNvPr id="3" name="Content Placeholder 2">
            <a:extLst>
              <a:ext uri="{FF2B5EF4-FFF2-40B4-BE49-F238E27FC236}">
                <a16:creationId xmlns:a16="http://schemas.microsoft.com/office/drawing/2014/main" id="{AF67136E-0953-3F75-6B6A-D42CAD8FD8FA}"/>
              </a:ext>
            </a:extLst>
          </p:cNvPr>
          <p:cNvSpPr>
            <a:spLocks noGrp="1"/>
          </p:cNvSpPr>
          <p:nvPr>
            <p:ph idx="1"/>
          </p:nvPr>
        </p:nvSpPr>
        <p:spPr>
          <a:xfrm>
            <a:off x="838200" y="1825625"/>
            <a:ext cx="5257800" cy="4351338"/>
          </a:xfrm>
        </p:spPr>
        <p:txBody>
          <a:bodyPr/>
          <a:lstStyle/>
          <a:p>
            <a:r>
              <a:rPr lang="en-US" dirty="0"/>
              <a:t>PE allows installation of transversion mutations</a:t>
            </a:r>
          </a:p>
          <a:p>
            <a:r>
              <a:rPr lang="en-US" dirty="0"/>
              <a:t>PE enables installation of a synonymous mutation to ablate the PAM and induce the variant of interest simultaneously</a:t>
            </a:r>
          </a:p>
        </p:txBody>
      </p:sp>
      <p:pic>
        <p:nvPicPr>
          <p:cNvPr id="4" name="Picture 3">
            <a:extLst>
              <a:ext uri="{FF2B5EF4-FFF2-40B4-BE49-F238E27FC236}">
                <a16:creationId xmlns:a16="http://schemas.microsoft.com/office/drawing/2014/main" id="{2A6ADD70-F2BB-0EE8-DA68-631224F4C835}"/>
              </a:ext>
            </a:extLst>
          </p:cNvPr>
          <p:cNvPicPr>
            <a:picLocks noChangeAspect="1"/>
          </p:cNvPicPr>
          <p:nvPr/>
        </p:nvPicPr>
        <p:blipFill>
          <a:blip r:embed="rId2"/>
          <a:stretch>
            <a:fillRect/>
          </a:stretch>
        </p:blipFill>
        <p:spPr>
          <a:xfrm>
            <a:off x="6513094" y="1488072"/>
            <a:ext cx="5371744" cy="3332911"/>
          </a:xfrm>
          <a:prstGeom prst="rect">
            <a:avLst/>
          </a:prstGeom>
        </p:spPr>
      </p:pic>
      <p:sp>
        <p:nvSpPr>
          <p:cNvPr id="5" name="Content Placeholder 2">
            <a:extLst>
              <a:ext uri="{FF2B5EF4-FFF2-40B4-BE49-F238E27FC236}">
                <a16:creationId xmlns:a16="http://schemas.microsoft.com/office/drawing/2014/main" id="{10BD1A57-3C94-425A-FB93-67736E2682D8}"/>
              </a:ext>
            </a:extLst>
          </p:cNvPr>
          <p:cNvSpPr txBox="1">
            <a:spLocks/>
          </p:cNvSpPr>
          <p:nvPr/>
        </p:nvSpPr>
        <p:spPr>
          <a:xfrm>
            <a:off x="6631266" y="4919174"/>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300" dirty="0"/>
              <a:t>Figure S4B, Zhou et al. 2025</a:t>
            </a:r>
          </a:p>
        </p:txBody>
      </p:sp>
    </p:spTree>
    <p:extLst>
      <p:ext uri="{BB962C8B-B14F-4D97-AF65-F5344CB8AC3E}">
        <p14:creationId xmlns:p14="http://schemas.microsoft.com/office/powerpoint/2010/main" val="18020284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CE00-7AFE-1198-2E3F-BC6ACE84F4F6}"/>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99FD6BCC-0038-BC6F-263C-B1C4A9FAB251}"/>
              </a:ext>
            </a:extLst>
          </p:cNvPr>
          <p:cNvSpPr/>
          <p:nvPr/>
        </p:nvSpPr>
        <p:spPr>
          <a:xfrm>
            <a:off x="6910145" y="688220"/>
            <a:ext cx="5072520" cy="1436103"/>
          </a:xfrm>
          <a:prstGeom prst="roundRect">
            <a:avLst/>
          </a:prstGeom>
          <a:solidFill>
            <a:srgbClr val="99BB56">
              <a:alpha val="8931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600" b="1" dirty="0">
                <a:latin typeface="Arial" panose="020B0604020202020204" pitchFamily="34" charset="0"/>
                <a:cs typeface="Arial" panose="020B0604020202020204" pitchFamily="34" charset="0"/>
              </a:rPr>
              <a:t>LDL class A repeats (1-7):</a:t>
            </a:r>
          </a:p>
          <a:p>
            <a:pPr marL="285750" indent="-285750">
              <a:lnSpc>
                <a:spcPct val="150000"/>
              </a:lnSpc>
              <a:buFont typeface="Arial" panose="020B0604020202020204" pitchFamily="34" charset="0"/>
              <a:buChar char="•"/>
            </a:pPr>
            <a:r>
              <a:rPr lang="en-GB" sz="1400" dirty="0">
                <a:latin typeface="Arial" panose="020B0604020202020204" pitchFamily="34" charset="0"/>
                <a:cs typeface="Arial" panose="020B0604020202020204" pitchFamily="34" charset="0"/>
              </a:rPr>
              <a:t>3 pairs of cysteines stabilize class A repeats, one coordinated Ca</a:t>
            </a:r>
            <a:r>
              <a:rPr lang="en-GB" sz="1400" baseline="30000" dirty="0">
                <a:latin typeface="Arial" panose="020B0604020202020204" pitchFamily="34" charset="0"/>
                <a:cs typeface="Arial" panose="020B0604020202020204" pitchFamily="34" charset="0"/>
              </a:rPr>
              <a:t>2+</a:t>
            </a:r>
            <a:r>
              <a:rPr lang="en-GB" sz="1400" dirty="0">
                <a:latin typeface="Arial" panose="020B0604020202020204" pitchFamily="34" charset="0"/>
                <a:cs typeface="Arial" panose="020B0604020202020204" pitchFamily="34" charset="0"/>
              </a:rPr>
              <a:t> per repeat</a:t>
            </a:r>
            <a:endParaRPr lang="en-GB" sz="1400" baseline="30000" dirty="0">
              <a:latin typeface="Arial" panose="020B0604020202020204" pitchFamily="34" charset="0"/>
              <a:cs typeface="Arial" panose="020B0604020202020204" pitchFamily="34" charset="0"/>
              <a:sym typeface="Wingdings" pitchFamily="2" charset="2"/>
            </a:endParaRPr>
          </a:p>
          <a:p>
            <a:pPr marL="285750" indent="-285750">
              <a:lnSpc>
                <a:spcPct val="150000"/>
              </a:lnSpc>
              <a:buFont typeface="Arial" panose="020B0604020202020204" pitchFamily="34" charset="0"/>
              <a:buChar char="•"/>
            </a:pPr>
            <a:r>
              <a:rPr lang="en-GB" sz="1400" dirty="0">
                <a:latin typeface="Arial" panose="020B0604020202020204" pitchFamily="34" charset="0"/>
                <a:cs typeface="Arial" panose="020B0604020202020204" pitchFamily="34" charset="0"/>
                <a:sym typeface="Wingdings" pitchFamily="2" charset="2"/>
              </a:rPr>
              <a:t>acidic AAs interact with Apolipoprotein B100 &amp; E</a:t>
            </a:r>
          </a:p>
        </p:txBody>
      </p:sp>
      <p:sp>
        <p:nvSpPr>
          <p:cNvPr id="16" name="Rounded Rectangle 15">
            <a:extLst>
              <a:ext uri="{FF2B5EF4-FFF2-40B4-BE49-F238E27FC236}">
                <a16:creationId xmlns:a16="http://schemas.microsoft.com/office/drawing/2014/main" id="{96322AF6-75F7-D819-C673-EFE8F82E525A}"/>
              </a:ext>
            </a:extLst>
          </p:cNvPr>
          <p:cNvSpPr/>
          <p:nvPr/>
        </p:nvSpPr>
        <p:spPr>
          <a:xfrm>
            <a:off x="6910145" y="2218423"/>
            <a:ext cx="5072520" cy="2421154"/>
          </a:xfrm>
          <a:prstGeom prst="roundRect">
            <a:avLst/>
          </a:prstGeom>
          <a:solidFill>
            <a:srgbClr val="87C4D7">
              <a:alpha val="8931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600" b="1" dirty="0">
                <a:latin typeface="Arial" panose="020B0604020202020204" pitchFamily="34" charset="0"/>
                <a:cs typeface="Arial" panose="020B0604020202020204" pitchFamily="34" charset="0"/>
              </a:rPr>
              <a:t>EGF precursor homology domain:</a:t>
            </a:r>
          </a:p>
          <a:p>
            <a:pPr marL="285750" indent="-285750">
              <a:lnSpc>
                <a:spcPct val="150000"/>
              </a:lnSpc>
              <a:buFont typeface="Arial" panose="020B0604020202020204" pitchFamily="34" charset="0"/>
              <a:buChar char="•"/>
            </a:pPr>
            <a:r>
              <a:rPr lang="en-GB" sz="1400" dirty="0">
                <a:latin typeface="Arial" panose="020B0604020202020204" pitchFamily="34" charset="0"/>
                <a:cs typeface="Arial" panose="020B0604020202020204" pitchFamily="34" charset="0"/>
              </a:rPr>
              <a:t>-EGF-like repeat A + B: </a:t>
            </a:r>
          </a:p>
          <a:p>
            <a:pPr marL="742950" lvl="1" indent="-285750">
              <a:lnSpc>
                <a:spcPct val="150000"/>
              </a:lnSpc>
              <a:buFont typeface="Arial" panose="020B0604020202020204" pitchFamily="34" charset="0"/>
              <a:buChar char="•"/>
            </a:pPr>
            <a:r>
              <a:rPr lang="en-GB" sz="1400" b="1" dirty="0">
                <a:latin typeface="Arial" panose="020B0604020202020204" pitchFamily="34" charset="0"/>
                <a:cs typeface="Arial" panose="020B0604020202020204" pitchFamily="34" charset="0"/>
              </a:rPr>
              <a:t>PCSK9</a:t>
            </a:r>
            <a:r>
              <a:rPr lang="en-GB" sz="1400" dirty="0">
                <a:latin typeface="Arial" panose="020B0604020202020204" pitchFamily="34" charset="0"/>
                <a:cs typeface="Arial" panose="020B0604020202020204" pitchFamily="34" charset="0"/>
              </a:rPr>
              <a:t> binding domain (A)</a:t>
            </a:r>
          </a:p>
          <a:p>
            <a:pPr marL="285750" indent="-285750">
              <a:lnSpc>
                <a:spcPct val="150000"/>
              </a:lnSpc>
              <a:buFont typeface="Arial" panose="020B0604020202020204" pitchFamily="34" charset="0"/>
              <a:buChar char="•"/>
            </a:pPr>
            <a:r>
              <a:rPr lang="en-GB" sz="1400" dirty="0" err="1">
                <a:solidFill>
                  <a:schemeClr val="bg1"/>
                </a:solidFill>
                <a:latin typeface="Arial" panose="020B0604020202020204" pitchFamily="34" charset="0"/>
                <a:cs typeface="Arial" panose="020B0604020202020204" pitchFamily="34" charset="0"/>
              </a:rPr>
              <a:t>ß</a:t>
            </a:r>
            <a:r>
              <a:rPr lang="en-GB" sz="1400" dirty="0">
                <a:solidFill>
                  <a:schemeClr val="bg1"/>
                </a:solidFill>
                <a:latin typeface="Arial" panose="020B0604020202020204" pitchFamily="34" charset="0"/>
                <a:cs typeface="Arial" panose="020B0604020202020204" pitchFamily="34" charset="0"/>
              </a:rPr>
              <a:t>-propeller: </a:t>
            </a:r>
          </a:p>
          <a:p>
            <a:pPr marL="742950" lvl="1" indent="-285750">
              <a:lnSpc>
                <a:spcPct val="150000"/>
              </a:lnSpc>
              <a:buFont typeface="Arial" panose="020B0604020202020204" pitchFamily="34" charset="0"/>
              <a:buChar char="•"/>
            </a:pPr>
            <a:r>
              <a:rPr lang="en-GB" sz="1400" dirty="0">
                <a:solidFill>
                  <a:schemeClr val="bg1"/>
                </a:solidFill>
                <a:latin typeface="Arial" panose="020B0604020202020204" pitchFamily="34" charset="0"/>
                <a:cs typeface="Arial" panose="020B0604020202020204" pitchFamily="34" charset="0"/>
              </a:rPr>
              <a:t>Interacts with LR 4 + 5 for lipoprotein release</a:t>
            </a:r>
          </a:p>
          <a:p>
            <a:pPr marL="742950" lvl="1" indent="-285750">
              <a:lnSpc>
                <a:spcPct val="150000"/>
              </a:lnSpc>
              <a:buFont typeface="Arial" panose="020B0604020202020204" pitchFamily="34" charset="0"/>
              <a:buChar char="•"/>
            </a:pPr>
            <a:r>
              <a:rPr lang="en-GB" sz="1400" dirty="0">
                <a:solidFill>
                  <a:schemeClr val="bg1"/>
                </a:solidFill>
                <a:latin typeface="Arial" panose="020B0604020202020204" pitchFamily="34" charset="0"/>
                <a:cs typeface="Arial" panose="020B0604020202020204" pitchFamily="34" charset="0"/>
              </a:rPr>
              <a:t>Binds Apolipoprotein B100</a:t>
            </a:r>
          </a:p>
        </p:txBody>
      </p:sp>
      <p:sp>
        <p:nvSpPr>
          <p:cNvPr id="19" name="Rounded Rectangle 18">
            <a:extLst>
              <a:ext uri="{FF2B5EF4-FFF2-40B4-BE49-F238E27FC236}">
                <a16:creationId xmlns:a16="http://schemas.microsoft.com/office/drawing/2014/main" id="{26CB8B60-285F-82A1-564E-D9088336D838}"/>
              </a:ext>
            </a:extLst>
          </p:cNvPr>
          <p:cNvSpPr/>
          <p:nvPr/>
        </p:nvSpPr>
        <p:spPr>
          <a:xfrm>
            <a:off x="6910145" y="4827777"/>
            <a:ext cx="5072520" cy="1238025"/>
          </a:xfrm>
          <a:prstGeom prst="roundRect">
            <a:avLst/>
          </a:prstGeom>
          <a:solidFill>
            <a:srgbClr val="E57316">
              <a:alpha val="8931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600" b="1" dirty="0">
                <a:latin typeface="Arial" panose="020B0604020202020204" pitchFamily="34" charset="0"/>
                <a:cs typeface="Arial" panose="020B0604020202020204" pitchFamily="34" charset="0"/>
              </a:rPr>
              <a:t>Cytoplasmic domain:</a:t>
            </a:r>
          </a:p>
          <a:p>
            <a:pPr marL="285750" indent="-285750">
              <a:lnSpc>
                <a:spcPct val="150000"/>
              </a:lnSpc>
              <a:buFont typeface="Arial" panose="020B0604020202020204" pitchFamily="34" charset="0"/>
              <a:buChar char="•"/>
            </a:pPr>
            <a:r>
              <a:rPr lang="en-GB" sz="1400" dirty="0">
                <a:latin typeface="Arial" panose="020B0604020202020204" pitchFamily="34" charset="0"/>
                <a:cs typeface="Arial" panose="020B0604020202020204" pitchFamily="34" charset="0"/>
              </a:rPr>
              <a:t>NPXY motif (localization for receptor to coated pits)</a:t>
            </a:r>
          </a:p>
          <a:p>
            <a:pPr marL="285750" indent="-285750">
              <a:lnSpc>
                <a:spcPct val="150000"/>
              </a:lnSpc>
              <a:buFont typeface="Arial" panose="020B0604020202020204" pitchFamily="34" charset="0"/>
              <a:buChar char="•"/>
            </a:pPr>
            <a:r>
              <a:rPr lang="en-GB" sz="1400" dirty="0">
                <a:latin typeface="Arial" panose="020B0604020202020204" pitchFamily="34" charset="0"/>
                <a:cs typeface="Arial" panose="020B0604020202020204" pitchFamily="34" charset="0"/>
              </a:rPr>
              <a:t>MYLIP binding domains </a:t>
            </a:r>
          </a:p>
        </p:txBody>
      </p:sp>
      <p:grpSp>
        <p:nvGrpSpPr>
          <p:cNvPr id="21" name="Group 20">
            <a:extLst>
              <a:ext uri="{FF2B5EF4-FFF2-40B4-BE49-F238E27FC236}">
                <a16:creationId xmlns:a16="http://schemas.microsoft.com/office/drawing/2014/main" id="{EE922F2A-6C0D-BBD0-1B38-CF6E6672C092}"/>
              </a:ext>
            </a:extLst>
          </p:cNvPr>
          <p:cNvGrpSpPr/>
          <p:nvPr/>
        </p:nvGrpSpPr>
        <p:grpSpPr>
          <a:xfrm>
            <a:off x="642716" y="1530972"/>
            <a:ext cx="6015932" cy="5327028"/>
            <a:chOff x="89825" y="1242034"/>
            <a:chExt cx="6328099" cy="4886803"/>
          </a:xfrm>
        </p:grpSpPr>
        <p:pic>
          <p:nvPicPr>
            <p:cNvPr id="6" name="Picture 5">
              <a:extLst>
                <a:ext uri="{FF2B5EF4-FFF2-40B4-BE49-F238E27FC236}">
                  <a16:creationId xmlns:a16="http://schemas.microsoft.com/office/drawing/2014/main" id="{FBDC2795-EDEB-CEAB-73D6-A05F64593372}"/>
                </a:ext>
              </a:extLst>
            </p:cNvPr>
            <p:cNvPicPr>
              <a:picLocks noChangeAspect="1"/>
            </p:cNvPicPr>
            <p:nvPr/>
          </p:nvPicPr>
          <p:blipFill>
            <a:blip r:embed="rId3"/>
            <a:stretch>
              <a:fillRect/>
            </a:stretch>
          </p:blipFill>
          <p:spPr>
            <a:xfrm>
              <a:off x="581248" y="1321546"/>
              <a:ext cx="5209953" cy="4807291"/>
            </a:xfrm>
            <a:prstGeom prst="rect">
              <a:avLst/>
            </a:prstGeom>
          </p:spPr>
        </p:pic>
        <p:sp>
          <p:nvSpPr>
            <p:cNvPr id="7" name="TextBox 6">
              <a:extLst>
                <a:ext uri="{FF2B5EF4-FFF2-40B4-BE49-F238E27FC236}">
                  <a16:creationId xmlns:a16="http://schemas.microsoft.com/office/drawing/2014/main" id="{30BC3E90-BB69-1A2F-5975-50D73B10340E}"/>
                </a:ext>
              </a:extLst>
            </p:cNvPr>
            <p:cNvSpPr txBox="1"/>
            <p:nvPr/>
          </p:nvSpPr>
          <p:spPr>
            <a:xfrm>
              <a:off x="491147" y="1242034"/>
              <a:ext cx="3543038" cy="307777"/>
            </a:xfrm>
            <a:prstGeom prst="rect">
              <a:avLst/>
            </a:prstGeom>
            <a:solidFill>
              <a:schemeClr val="bg1"/>
            </a:solidFill>
          </p:spPr>
          <p:txBody>
            <a:bodyPr wrap="square" rtlCol="0">
              <a:spAutoFit/>
            </a:bodyPr>
            <a:lstStyle/>
            <a:p>
              <a:pPr algn="ctr"/>
              <a:r>
                <a:rPr lang="en-GB" sz="1400" b="1">
                  <a:solidFill>
                    <a:srgbClr val="99BB56"/>
                  </a:solidFill>
                  <a:latin typeface="Arial" panose="020B0604020202020204" pitchFamily="34" charset="0"/>
                  <a:cs typeface="Arial" panose="020B0604020202020204" pitchFamily="34" charset="0"/>
                </a:rPr>
                <a:t>LDL type-A repeat domain (LR 1-7) </a:t>
              </a:r>
            </a:p>
          </p:txBody>
        </p:sp>
        <p:sp>
          <p:nvSpPr>
            <p:cNvPr id="8" name="TextBox 7">
              <a:extLst>
                <a:ext uri="{FF2B5EF4-FFF2-40B4-BE49-F238E27FC236}">
                  <a16:creationId xmlns:a16="http://schemas.microsoft.com/office/drawing/2014/main" id="{6B03E03F-BE81-5229-B781-E647A482C069}"/>
                </a:ext>
              </a:extLst>
            </p:cNvPr>
            <p:cNvSpPr txBox="1"/>
            <p:nvPr/>
          </p:nvSpPr>
          <p:spPr>
            <a:xfrm>
              <a:off x="2181591" y="3121223"/>
              <a:ext cx="1091695" cy="523220"/>
            </a:xfrm>
            <a:prstGeom prst="rect">
              <a:avLst/>
            </a:prstGeom>
            <a:solidFill>
              <a:schemeClr val="bg1"/>
            </a:solidFill>
          </p:spPr>
          <p:txBody>
            <a:bodyPr wrap="square" rtlCol="0">
              <a:spAutoFit/>
            </a:bodyPr>
            <a:lstStyle/>
            <a:p>
              <a:pPr algn="ctr"/>
              <a:r>
                <a:rPr lang="en-GB" sz="1400" b="1" dirty="0" err="1">
                  <a:solidFill>
                    <a:srgbClr val="E9B7BB"/>
                  </a:solidFill>
                  <a:latin typeface="Arial" panose="020B0604020202020204" pitchFamily="34" charset="0"/>
                  <a:cs typeface="Arial" panose="020B0604020202020204" pitchFamily="34" charset="0"/>
                </a:rPr>
                <a:t>ß</a:t>
              </a:r>
              <a:r>
                <a:rPr lang="en-GB" sz="1400" b="1" dirty="0">
                  <a:solidFill>
                    <a:srgbClr val="E9B7BB"/>
                  </a:solidFill>
                  <a:latin typeface="Arial" panose="020B0604020202020204" pitchFamily="34" charset="0"/>
                  <a:cs typeface="Arial" panose="020B0604020202020204" pitchFamily="34" charset="0"/>
                </a:rPr>
                <a:t>-propeller</a:t>
              </a:r>
            </a:p>
          </p:txBody>
        </p:sp>
        <p:sp>
          <p:nvSpPr>
            <p:cNvPr id="9" name="TextBox 8">
              <a:extLst>
                <a:ext uri="{FF2B5EF4-FFF2-40B4-BE49-F238E27FC236}">
                  <a16:creationId xmlns:a16="http://schemas.microsoft.com/office/drawing/2014/main" id="{AD194DFF-1775-0A6D-6CCF-12C19FBD639F}"/>
                </a:ext>
              </a:extLst>
            </p:cNvPr>
            <p:cNvSpPr txBox="1"/>
            <p:nvPr/>
          </p:nvSpPr>
          <p:spPr>
            <a:xfrm>
              <a:off x="4671151" y="2428725"/>
              <a:ext cx="1746773" cy="1600438"/>
            </a:xfrm>
            <a:prstGeom prst="rect">
              <a:avLst/>
            </a:prstGeom>
            <a:solidFill>
              <a:schemeClr val="bg1"/>
            </a:solidFill>
          </p:spPr>
          <p:txBody>
            <a:bodyPr wrap="square" rtlCol="0">
              <a:spAutoFit/>
            </a:bodyPr>
            <a:lstStyle/>
            <a:p>
              <a:pPr algn="ctr"/>
              <a:endParaRPr lang="en-GB" sz="1400" b="1">
                <a:solidFill>
                  <a:srgbClr val="87C4D7"/>
                </a:solidFill>
                <a:latin typeface="Arial" panose="020B0604020202020204" pitchFamily="34" charset="0"/>
                <a:cs typeface="Arial" panose="020B0604020202020204" pitchFamily="34" charset="0"/>
              </a:endParaRPr>
            </a:p>
            <a:p>
              <a:pPr algn="ctr"/>
              <a:endParaRPr lang="en-GB" sz="1400" b="1">
                <a:solidFill>
                  <a:srgbClr val="87C4D7"/>
                </a:solidFill>
                <a:latin typeface="Arial" panose="020B0604020202020204" pitchFamily="34" charset="0"/>
                <a:cs typeface="Arial" panose="020B0604020202020204" pitchFamily="34" charset="0"/>
              </a:endParaRPr>
            </a:p>
            <a:p>
              <a:pPr algn="ctr"/>
              <a:r>
                <a:rPr lang="en-GB" sz="1400" b="1">
                  <a:solidFill>
                    <a:srgbClr val="87C4D7"/>
                  </a:solidFill>
                  <a:latin typeface="Arial" panose="020B0604020202020204" pitchFamily="34" charset="0"/>
                  <a:cs typeface="Arial" panose="020B0604020202020204" pitchFamily="34" charset="0"/>
                </a:rPr>
                <a:t>EGF precursor homology domain</a:t>
              </a:r>
            </a:p>
            <a:p>
              <a:pPr algn="ctr"/>
              <a:endParaRPr lang="en-GB" sz="1400" b="1">
                <a:solidFill>
                  <a:srgbClr val="87C4D7"/>
                </a:solidFill>
                <a:latin typeface="Arial" panose="020B0604020202020204" pitchFamily="34" charset="0"/>
                <a:cs typeface="Arial" panose="020B0604020202020204" pitchFamily="34" charset="0"/>
              </a:endParaRPr>
            </a:p>
            <a:p>
              <a:pPr algn="ctr"/>
              <a:endParaRPr lang="en-GB" sz="1400" b="1">
                <a:solidFill>
                  <a:srgbClr val="87C4D7"/>
                </a:solidFill>
                <a:latin typeface="Arial" panose="020B0604020202020204" pitchFamily="34" charset="0"/>
                <a:cs typeface="Arial" panose="020B0604020202020204" pitchFamily="34" charset="0"/>
              </a:endParaRPr>
            </a:p>
            <a:p>
              <a:pPr algn="ctr"/>
              <a:endParaRPr lang="en-GB" sz="1400" b="1">
                <a:solidFill>
                  <a:srgbClr val="87C4D7"/>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83CC1C9-0069-9E3B-C269-595C653AF541}"/>
                </a:ext>
              </a:extLst>
            </p:cNvPr>
            <p:cNvSpPr txBox="1"/>
            <p:nvPr/>
          </p:nvSpPr>
          <p:spPr>
            <a:xfrm>
              <a:off x="1223546" y="4040254"/>
              <a:ext cx="1252120" cy="646331"/>
            </a:xfrm>
            <a:prstGeom prst="rect">
              <a:avLst/>
            </a:prstGeom>
            <a:solidFill>
              <a:schemeClr val="bg1"/>
            </a:solidFill>
          </p:spPr>
          <p:txBody>
            <a:bodyPr wrap="square" rtlCol="0">
              <a:spAutoFit/>
            </a:bodyPr>
            <a:lstStyle/>
            <a:p>
              <a:pPr algn="ctr"/>
              <a:r>
                <a:rPr lang="en-GB" sz="1200" b="1">
                  <a:solidFill>
                    <a:srgbClr val="C35B57"/>
                  </a:solidFill>
                  <a:latin typeface="Arial" panose="020B0604020202020204" pitchFamily="34" charset="0"/>
                  <a:cs typeface="Arial" panose="020B0604020202020204" pitchFamily="34" charset="0"/>
                </a:rPr>
                <a:t>O-linked glycosylation domain</a:t>
              </a:r>
            </a:p>
          </p:txBody>
        </p:sp>
        <p:sp>
          <p:nvSpPr>
            <p:cNvPr id="12" name="TextBox 11">
              <a:extLst>
                <a:ext uri="{FF2B5EF4-FFF2-40B4-BE49-F238E27FC236}">
                  <a16:creationId xmlns:a16="http://schemas.microsoft.com/office/drawing/2014/main" id="{DEEDCFD7-23D3-F782-5228-9BFD7B211BC6}"/>
                </a:ext>
              </a:extLst>
            </p:cNvPr>
            <p:cNvSpPr txBox="1"/>
            <p:nvPr/>
          </p:nvSpPr>
          <p:spPr>
            <a:xfrm>
              <a:off x="89825" y="4766097"/>
              <a:ext cx="1133721" cy="738664"/>
            </a:xfrm>
            <a:prstGeom prst="rect">
              <a:avLst/>
            </a:prstGeom>
            <a:solidFill>
              <a:schemeClr val="bg1"/>
            </a:solidFill>
          </p:spPr>
          <p:txBody>
            <a:bodyPr wrap="square" rtlCol="0">
              <a:spAutoFit/>
            </a:bodyPr>
            <a:lstStyle/>
            <a:p>
              <a:pPr algn="ctr"/>
              <a:r>
                <a:rPr lang="en-GB" sz="1400" b="1">
                  <a:solidFill>
                    <a:srgbClr val="856BA5"/>
                  </a:solidFill>
                  <a:latin typeface="Arial" panose="020B0604020202020204" pitchFamily="34" charset="0"/>
                  <a:cs typeface="Arial" panose="020B0604020202020204" pitchFamily="34" charset="0"/>
                </a:rPr>
                <a:t>Membrane spanning domain</a:t>
              </a:r>
            </a:p>
          </p:txBody>
        </p:sp>
        <p:sp>
          <p:nvSpPr>
            <p:cNvPr id="13" name="TextBox 12">
              <a:extLst>
                <a:ext uri="{FF2B5EF4-FFF2-40B4-BE49-F238E27FC236}">
                  <a16:creationId xmlns:a16="http://schemas.microsoft.com/office/drawing/2014/main" id="{EFFE4923-9697-6433-F3B3-84B17EDF27BA}"/>
                </a:ext>
              </a:extLst>
            </p:cNvPr>
            <p:cNvSpPr txBox="1"/>
            <p:nvPr/>
          </p:nvSpPr>
          <p:spPr>
            <a:xfrm>
              <a:off x="4550203" y="5402106"/>
              <a:ext cx="1317847" cy="523220"/>
            </a:xfrm>
            <a:prstGeom prst="rect">
              <a:avLst/>
            </a:prstGeom>
            <a:solidFill>
              <a:schemeClr val="bg1"/>
            </a:solidFill>
          </p:spPr>
          <p:txBody>
            <a:bodyPr wrap="square" rtlCol="0">
              <a:spAutoFit/>
            </a:bodyPr>
            <a:lstStyle/>
            <a:p>
              <a:pPr algn="ctr"/>
              <a:r>
                <a:rPr lang="en-GB" sz="1400" b="1">
                  <a:solidFill>
                    <a:srgbClr val="E57316"/>
                  </a:solidFill>
                  <a:latin typeface="Arial" panose="020B0604020202020204" pitchFamily="34" charset="0"/>
                  <a:cs typeface="Arial" panose="020B0604020202020204" pitchFamily="34" charset="0"/>
                </a:rPr>
                <a:t>Cytoplasmic domain</a:t>
              </a:r>
            </a:p>
          </p:txBody>
        </p:sp>
      </p:grpSp>
      <p:sp>
        <p:nvSpPr>
          <p:cNvPr id="15" name="Title 1">
            <a:extLst>
              <a:ext uri="{FF2B5EF4-FFF2-40B4-BE49-F238E27FC236}">
                <a16:creationId xmlns:a16="http://schemas.microsoft.com/office/drawing/2014/main" id="{426FA1EC-8CD7-E4BA-EF64-6D8BD0B0746D}"/>
              </a:ext>
            </a:extLst>
          </p:cNvPr>
          <p:cNvSpPr>
            <a:spLocks noGrp="1"/>
          </p:cNvSpPr>
          <p:nvPr>
            <p:ph type="title"/>
          </p:nvPr>
        </p:nvSpPr>
        <p:spPr>
          <a:xfrm>
            <a:off x="538655" y="349360"/>
            <a:ext cx="6255845" cy="1325563"/>
          </a:xfrm>
        </p:spPr>
        <p:txBody>
          <a:bodyPr/>
          <a:lstStyle/>
          <a:p>
            <a:r>
              <a:rPr lang="en-US" dirty="0"/>
              <a:t>What does LDLR look like? </a:t>
            </a:r>
          </a:p>
        </p:txBody>
      </p:sp>
      <p:sp>
        <p:nvSpPr>
          <p:cNvPr id="22" name="Content Placeholder 2">
            <a:extLst>
              <a:ext uri="{FF2B5EF4-FFF2-40B4-BE49-F238E27FC236}">
                <a16:creationId xmlns:a16="http://schemas.microsoft.com/office/drawing/2014/main" id="{6F133649-1FA3-FAFA-70A8-F21C48615A6A}"/>
              </a:ext>
            </a:extLst>
          </p:cNvPr>
          <p:cNvSpPr txBox="1">
            <a:spLocks/>
          </p:cNvSpPr>
          <p:nvPr/>
        </p:nvSpPr>
        <p:spPr>
          <a:xfrm>
            <a:off x="496388" y="6264379"/>
            <a:ext cx="2414475" cy="410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dirty="0"/>
              <a:t>Jain et al. 2013</a:t>
            </a:r>
          </a:p>
        </p:txBody>
      </p:sp>
    </p:spTree>
    <p:extLst>
      <p:ext uri="{BB962C8B-B14F-4D97-AF65-F5344CB8AC3E}">
        <p14:creationId xmlns:p14="http://schemas.microsoft.com/office/powerpoint/2010/main" val="11051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4fba52dc-5a2b-47e6-aaf4-24637d0224d9"/>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01cb9557-16d3-49ef-ac56-22c6b4e1176c&quot;:{&quot;id&quot;:&quot;01cb9557-16d3-49ef-ac56-22c6b4e1176c&quot;,&quot;name&quot;:&quot;Virus 1&quot;,&quot;displayName&quot;:&quot;Virus 1 (symbol)&quot;,&quot;type&quot;:&quot;FIGURE_OBJECT&quot;,&quot;relativeTransform&quot;:{&quot;translate&quot;:{&quot;x&quot;:-321.9389463527237,&quot;y&quot;:-48.30644985132754},&quot;rotate&quot;:0,&quot;skewX&quot;:0,&quot;scale&quot;:{&quot;x&quot;:0.5576604790811682,&quot;y&quot;:0.5576604790811682}},&quot;image&quot;:{&quot;url&quot;:&quot;https://icons.cdn.biorender.com/biorender/61e8623ca373b400299f0f45/61e861e5a373b400299f0f28.png&quot;,&quot;isPremium&quot;:false,&quot;isOrgIcon&quot;:false,&quot;size&quot;:{&quot;x&quot;:100,&quot;y&quot;:100},&quot;fallbackUrl&quot;:&quot;sources/icons/61e8623ca373b400299f0f45/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05&quot;}},&quot;97dfc159-9d93-481e-b7b4-e9cfdc53cd41&quot;:{&quot;id&quot;:&quot;97dfc159-9d93-481e-b7b4-e9cfdc53cd41&quot;,&quot;name&quot;:&quot;Virus 1&quot;,&quot;displayName&quot;:&quot;Virus 1 (symbol)&quot;,&quot;type&quot;:&quot;FIGURE_OBJECT&quot;,&quot;relativeTransform&quot;:{&quot;translate&quot;:{&quot;x&quot;:-291.3575652418208,&quot;y&quot;:-86.98290243276344},&quot;rotate&quot;:0,&quot;skewX&quot;:0,&quot;scale&quot;:{&quot;x&quot;:0.5576604790811682,&quot;y&quot;:0.5576604790811682}},&quot;image&quot;:{&quot;url&quot;:&quot;https://icons.cdn.biorender.com/biorender/61e8623ca373b400299f0f44/61e861e5a373b400299f0f28.png&quot;,&quot;isPremium&quot;:false,&quot;isOrgIcon&quot;:false,&quot;size&quot;:{&quot;x&quot;:100,&quot;y&quot;:100},&quot;fallbackUrl&quot;:&quot;sources/icons/61e8623ca373b400299f0f44/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1&quot;}},&quot;146d3ada-a213-4e4d-9608-84103bffdd51&quot;:{&quot;id&quot;:&quot;146d3ada-a213-4e4d-9608-84103bffdd51&quot;,&quot;name&quot;:&quot;Virus 1&quot;,&quot;displayName&quot;:&quot;Virus 1 (symbol)&quot;,&quot;type&quot;:&quot;FIGURE_OBJECT&quot;,&quot;relativeTransform&quot;:{&quot;translate&quot;:{&quot;x&quot;:-276.96632707198427,&quot;y&quot;:-48.30644985132756},&quot;rotate&quot;:0,&quot;skewX&quot;:0,&quot;scale&quot;:{&quot;x&quot;:0.5576604790811682,&quot;y&quot;:0.5576604790811682}},&quot;image&quot;:{&quot;url&quot;:&quot;https://icons.cdn.biorender.com/biorender/61e861e5a373b400299f0f28/20220119191048/image/61e861e5a373b400299f0f28.png&quot;,&quot;isPremium&quot;:false,&quot;isOrgIcon&quot;:false,&quot;size&quot;:{&quot;x&quot;:100,&quot;y&quot;:100}},&quot;source&quot;:{&quot;id&quot;:&quot;61e861e5a373b400299f0f28&quot;,&quot;version&quot;:&quot;20220119191048&quot;,&quot;type&quot;:&quot;ASSETS&quot;},&quot;isPremium&quot;:false,&quot;parent&quot;:{&quot;type&quot;:&quot;CHILD&quot;,&quot;parentId&quot;:&quot;4fba52dc-5a2b-47e6-aaf4-24637d0224d9&quot;,&quot;order&quot;:&quot;15&quot;}},&quot;d55c649d-881a-4ed6-a835-5a57abddeb5f&quot;:{&quot;id&quot;:&quot;d55c649d-881a-4ed6-a835-5a57abddeb5f&quot;,&quot;name&quot;:&quot;Virus 1&quot;,&quot;displayName&quot;:&quot;Virus 1 (symbol)&quot;,&quot;type&quot;:&quot;FIGURE_OBJECT&quot;,&quot;relativeTransform&quot;:{&quot;translate&quot;:{&quot;x&quot;:-347.12375443961054,&quot;y&quot;:-18.801752589340996},&quot;rotate&quot;:0,&quot;skewX&quot;:0,&quot;scale&quot;:{&quot;x&quot;:0.5576604790811682,&quot;y&quot;:0.5576604790811682}},&quot;image&quot;:{&quot;url&quot;:&quot;https://icons.cdn.biorender.com/biorender/61e8623ca373b400299f0f3f/61e861e5a373b400299f0f28.png&quot;,&quot;isPremium&quot;:false,&quot;isOrgIcon&quot;:false,&quot;size&quot;:{&quot;x&quot;:100,&quot;y&quot;:100},&quot;fallbackUrl&quot;:&quot;sources/icons/61e8623ca373b400299f0f3f/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2&quot;}},&quot;67fde40b-944a-40e1-972b-9ad1286ab49c&quot;:{&quot;id&quot;:&quot;67fde40b-944a-40e1-972b-9ad1286ab49c&quot;,&quot;name&quot;:&quot;Virus 1&quot;,&quot;displayName&quot;:&quot;Virus 1 (symbol)&quot;,&quot;type&quot;:&quot;FIGURE_OBJECT&quot;,&quot;relativeTransform&quot;:{&quot;translate&quot;:{&quot;x&quot;:-291.3575330744839,&quot;y&quot;:-4.451964252689175},&quot;rotate&quot;:0,&quot;skewX&quot;:0,&quot;scale&quot;:{&quot;x&quot;:0.5576604790811682,&quot;y&quot;:0.5576604790811682}},&quot;image&quot;:{&quot;url&quot;:&quot;https://icons.cdn.biorender.com/biorender/61e8623ca373b400299f0f3d/61e861e5a373b400299f0f28.png&quot;,&quot;isPremium&quot;:false,&quot;isOrgIcon&quot;:false,&quot;size&quot;:{&quot;x&quot;:100,&quot;y&quot;:100},&quot;fallbackUrl&quot;:&quot;sources/icons/61e8623ca373b400299f0f3d/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25&quot;}},&quot;706b8746-2c91-4235-b2de-0482ecc47f22&quot;:{&quot;id&quot;:&quot;706b8746-2c91-4235-b2de-0482ecc47f22&quot;,&quot;name&quot;:&quot;Virus 1&quot;,&quot;displayName&quot;:&quot;Virus 1 (symbol)&quot;,&quot;type&quot;:&quot;FIGURE_OBJECT&quot;,&quot;relativeTransform&quot;:{&quot;translate&quot;:{&quot;x&quot;:-227.2062648286886,&quot;y&quot;:-44.39304161362745},&quot;rotate&quot;:0,&quot;skewX&quot;:0,&quot;scale&quot;:{&quot;x&quot;:0.5576604790811682,&quot;y&quot;:0.5576604790811682}},&quot;image&quot;:{&quot;url&quot;:&quot;https://icons.cdn.biorender.com/biorender/61e8623ca373b400299f0f42/61e861e5a373b400299f0f28.png&quot;,&quot;isPremium&quot;:false,&quot;isOrgIcon&quot;:false,&quot;size&quot;:{&quot;x&quot;:100,&quot;y&quot;:100},&quot;fallbackUrl&quot;:&quot;sources/icons/61e8623ca373b400299f0f42/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3&quot;}},&quot;0679bc3b-5e6f-4302-85ea-ca023285a04f&quot;:{&quot;id&quot;:&quot;0679bc3b-5e6f-4302-85ea-ca023285a04f&quot;,&quot;name&quot;:&quot;Virus 1&quot;,&quot;displayName&quot;:&quot;Virus 1 (symbol)&quot;,&quot;type&quot;:&quot;FIGURE_OBJECT&quot;,&quot;relativeTransform&quot;:{&quot;translate&quot;:{&quot;x&quot;:-247.28484410130042,&quot;y&quot;:-86.98257413916167},&quot;rotate&quot;:0,&quot;skewX&quot;:0,&quot;scale&quot;:{&quot;x&quot;:0.5576604790811682,&quot;y&quot;:0.5576604790811682}},&quot;image&quot;:{&quot;url&quot;:&quot;https://icons.cdn.biorender.com/biorender/61e8623ca373b400299f0f43/61e861e5a373b400299f0f28.png&quot;,&quot;isPremium&quot;:false,&quot;isOrgIcon&quot;:false,&quot;size&quot;:{&quot;x&quot;:100,&quot;y&quot;:100},&quot;fallbackUrl&quot;:&quot;sources/icons/61e8623ca373b400299f0f43/61e861e5a373b400299f0f28.svg&quot;},&quot;source&quot;:{&quot;id&quot;:&quot;61e861e5a373b400299f0f28&quot;,&quot;version&quot;:&quot;20220119191048&quot;,&quot;type&quot;:&quot;ASSETS&quot;},&quot;isPremium&quot;:false,&quot;parent&quot;:{&quot;type&quot;:&quot;CHILD&quot;,&quot;parentId&quot;:&quot;4fba52dc-5a2b-47e6-aaf4-24637d0224d9&quot;,&quot;order&quot;:&quot;5&quot;}},&quot;6d47445b-7be7-4d3f-a425-bcdb942bdb3c&quot;:{&quot;id&quot;:&quot;6d47445b-7be7-4d3f-a425-bcdb942bdb3c&quot;,&quot;name&quot;:&quot;Spheroidal cell&quot;,&quot;displayName&quot;:&quot;&quot;,&quot;type&quot;:&quot;FIGURE_OBJECT&quot;,&quot;relativeTransform&quot;:{&quot;translate&quot;:{&quot;x&quot;:-304.25496289158184,&quot;y&quot;:81.89384609899466},&quot;rotate&quot;:0,&quot;skewX&quot;:0,&quot;scale&quot;:{&quot;x&quot;:0.899452385614788,&quot;y&quot;:0.899452385614788}},&quot;image&quot;:{&quot;url&quot;:&quot;https://icons.cdn.biorender.com/biorender/5f32bc680be41f0028c4b1b3/20200811154432/image/5f32bc680be41f0028c4b1b3.png&quot;,&quot;isPremium&quot;:false,&quot;isOrgIcon&quot;:false,&quot;size&quot;:{&quot;x&quot;:100,&quot;y&quot;:98.08917197452229},&quot;fallbackUrl&quot;:&quot;sources/icons/5f32bc680be41f0028c4b1b3/20200811154432/image/5f32bc680be41f0028c4b1b3.svg&quot;},&quot;source&quot;:{&quot;id&quot;:&quot;5f32bc680be41f0028c4b1b3&quot;,&quot;version&quot;:&quot;20200811154432&quot;,&quot;type&quot;:&quot;ASSETS&quot;},&quot;isPremium&quot;:false,&quot;parent&quot;:{&quot;type&quot;:&quot;CHILD&quot;,&quot;parentId&quot;:&quot;4fba52dc-5a2b-47e6-aaf4-24637d0224d9&quot;,&quot;order&quot;:&quot;55&quot;}},&quot;82e734e7-6ccf-41f2-84c4-ccfade959656&quot;:{&quot;id&quot;:&quot;82e734e7-6ccf-41f2-84c4-ccfade959656&quot;,&quot;name&quot;:&quot;Spheroidal cell&quot;,&quot;displayName&quot;:&quot;&quot;,&quot;type&quot;:&quot;FIGURE_OBJECT&quot;,&quot;relativeTransform&quot;:{&quot;translate&quot;:{&quot;x&quot;:-255.68451448219437,&quot;y&quot;:67.54424373453544},&quot;rotate&quot;:0,&quot;skewX&quot;:0,&quot;scale&quot;:{&quot;x&quot;:0.899452385614788,&quot;y&quot;:0.899452385614788}},&quot;image&quot;:{&quot;url&quot;:&quot;https://icons.cdn.biorender.com/biorender/5f32bc680be41f0028c4b1b3/20200811154432/image/5f32bc680be41f0028c4b1b3.png&quot;,&quot;isPremium&quot;:false,&quot;isOrgIcon&quot;:false,&quot;size&quot;:{&quot;x&quot;:100,&quot;y&quot;:98.08917197452229},&quot;fallbackUrl&quot;:&quot;sources/icons/5f32bc680be41f0028c4b1b3/20200811154432/image/5f32bc680be41f0028c4b1b3.svg&quot;},&quot;source&quot;:{&quot;id&quot;:&quot;5f32bc680be41f0028c4b1b3&quot;,&quot;version&quot;:&quot;20200811154432&quot;,&quot;type&quot;:&quot;ASSETS&quot;},&quot;isPremium&quot;:false,&quot;parent&quot;:{&quot;type&quot;:&quot;CHILD&quot;,&quot;parentId&quot;:&quot;4fba52dc-5a2b-47e6-aaf4-24637d0224d9&quot;,&quot;order&quot;:&quot;6&quot;}},&quot;3772a9bf-40e6-432e-a383-d19fda6a76e3&quot;:{&quot;id&quot;:&quot;3772a9bf-40e6-432e-a383-d19fda6a76e3&quot;,&quot;name&quot;:&quot;Spheroidal cell&quot;,&quot;displayName&quot;:&quot;&quot;,&quot;type&quot;:&quot;FIGURE_OBJECT&quot;,&quot;relativeTransform&quot;:{&quot;translate&quot;:{&quot;x&quot;:-334.8360734766673,&quot;y&quot;:132.73854530722554},&quot;rotate&quot;:0,&quot;skewX&quot;:0,&quot;scale&quot;:{&quot;x&quot;:0.899452385614788,&quot;y&quot;:0.899452385614788}},&quot;image&quot;:{&quot;url&quot;:&quot;https://icons.cdn.biorender.com/biorender/5f32bc680be41f0028c4b1b3/20200811154432/image/5f32bc680be41f0028c4b1b3.png&quot;,&quot;isPremium&quot;:false,&quot;isOrgIcon&quot;:false,&quot;size&quot;:{&quot;x&quot;:100,&quot;y&quot;:98.08917197452229},&quot;fallbackUrl&quot;:&quot;sources/icons/5f32bc680be41f0028c4b1b3/20200811154432/image/5f32bc680be41f0028c4b1b3.svg&quot;},&quot;source&quot;:{&quot;id&quot;:&quot;5f32bc680be41f0028c4b1b3&quot;,&quot;version&quot;:&quot;20200811154432&quot;,&quot;type&quot;:&quot;ASSETS&quot;},&quot;isPremium&quot;:false,&quot;parent&quot;:{&quot;type&quot;:&quot;CHILD&quot;,&quot;parentId&quot;:&quot;4fba52dc-5a2b-47e6-aaf4-24637d0224d9&quot;,&quot;order&quot;:&quot;7&quot;}},&quot;781ce7a5-bad9-414c-8972-06753bb8124e&quot;:{&quot;id&quot;:&quot;781ce7a5-bad9-414c-8972-06753bb8124e&quot;,&quot;name&quot;:&quot;Spheroidal cell&quot;,&quot;displayName&quot;:&quot;&quot;,&quot;type&quot;:&quot;FIGURE_OBJECT&quot;,&quot;relativeTransform&quot;:{&quot;translate&quot;:{&quot;x&quot;:-270.0753466003888,&quot;y&quot;:143.67099253290942},&quot;rotate&quot;:0,&quot;skewX&quot;:0,&quot;scale&quot;:{&quot;x&quot;:0.899452385614788,&quot;y&quot;:0.899452385614788}},&quot;image&quot;:{&quot;url&quot;:&quot;https://icons.cdn.biorender.com/biorender/5f32bc680be41f0028c4b1b3/20200811154432/image/5f32bc680be41f0028c4b1b3.png&quot;,&quot;isPremium&quot;:false,&quot;isOrgIcon&quot;:false,&quot;size&quot;:{&quot;x&quot;:100,&quot;y&quot;:98.08917197452229},&quot;fallbackUrl&quot;:&quot;sources/icons/5f32bc680be41f0028c4b1b3/20200811154432/image/5f32bc680be41f0028c4b1b3.svg&quot;},&quot;source&quot;:{&quot;id&quot;:&quot;5f32bc680be41f0028c4b1b3&quot;,&quot;version&quot;:&quot;20200811154432&quot;,&quot;type&quot;:&quot;ASSETS&quot;},&quot;isPremium&quot;:false,&quot;parent&quot;:{&quot;type&quot;:&quot;CHILD&quot;,&quot;parentId&quot;:&quot;4fba52dc-5a2b-47e6-aaf4-24637d0224d9&quot;,&quot;order&quot;:&quot;75&quot;}},&quot;2423747d-6e01-427d-a203-c99ac2e13c31&quot;:{&quot;id&quot;:&quot;2423747d-6e01-427d-a203-c99ac2e13c31&quot;,&quot;name&quot;:&quot;Spheroidal cell&quot;,&quot;displayName&quot;:&quot;&quot;,&quot;type&quot;:&quot;FIGURE_OBJECT&quot;,&quot;relativeTransform&quot;:{&quot;translate&quot;:{&quot;x&quot;:-214.30931775262835,&quot;y&quot;:116.81393405264245},&quot;rotate&quot;:0,&quot;skewX&quot;:0,&quot;scale&quot;:{&quot;x&quot;:0.899452385614788,&quot;y&quot;:0.899452385614788}},&quot;image&quot;:{&quot;url&quot;:&quot;https://icons.cdn.biorender.com/biorender/5f32bc680be41f0028c4b1b3/20200811154432/image/5f32bc680be41f0028c4b1b3.png&quot;,&quot;isPremium&quot;:false,&quot;isOrgIcon&quot;:false,&quot;size&quot;:{&quot;x&quot;:100,&quot;y&quot;:98.08917197452229},&quot;fallbackUrl&quot;:&quot;sources/icons/5f32bc680be41f0028c4b1b3/20200811154432/image/5f32bc680be41f0028c4b1b3.svg&quot;},&quot;source&quot;:{&quot;id&quot;:&quot;5f32bc680be41f0028c4b1b3&quot;,&quot;version&quot;:&quot;20200811154432&quot;,&quot;type&quot;:&quot;ASSETS&quot;},&quot;isPremium&quot;:false,&quot;parent&quot;:{&quot;type&quot;:&quot;CHILD&quot;,&quot;parentId&quot;:&quot;4fba52dc-5a2b-47e6-aaf4-24637d0224d9&quot;,&quot;order&quot;:&quot;8&quot;}},&quot;4fba52dc-5a2b-47e6-aaf4-24637d0224d9&quot;:{&quot;type&quot;:&quot;FIGURE_OBJECT&quot;,&quot;id&quot;:&quot;4fba52dc-5a2b-47e6-aaf4-24637d0224d9&quot;,&quot;parent&quot;:{&quot;type&quot;:&quot;CHILD&quot;,&quot;parentId&quot;:&quot;13fdf9e2-2b35-4615-a4cd-0880c8b06f74&quot;,&quot;order&quot;:&quot;999&quot;},&quot;relativeTransform&quot;:{&quot;translate&quot;:{&quot;x&quot;:-1.565221793570501,&quot;y&quot;:-106.0934868628371},&quot;rotate&quot;:0,&quot;skewX&quot;:0,&quot;scale&quot;:{&quot;x&quot;:1,&quot;y&quot;:1}}},&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2.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0becdbd2-26c0-4155-96d7-b61cc0b7a649"/>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0becdbd2-26c0-4155-96d7-b61cc0b7a649&quot;:{&quot;relativeTransform&quot;:{&quot;translate&quot;:{&quot;x&quot;:12.520781813499472,&quot;y&quot;:-113.06043106750212},&quot;rotate&quot;:3.141592653589793},&quot;type&quot;:&quot;FIGURE_OBJECT&quot;,&quot;id&quot;:&quot;0becdbd2-26c0-4155-96d7-b61cc0b7a649&quot;,&quot;opacity&quot;:1,&quot;path&quot;:{&quot;type&quot;:&quot;POLY_LINE&quot;,&quot;points&quot;:[{&quot;x&quot;:2.4985247713347015e-31,&quot;y&quot;:11.411820737851523},{&quot;x&quot;:-2.4985247713347015e-31,&quot;y&quot;:-11.411820737851523}],&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13fdf9e2-2b35-4615-a4cd-0880c8b06f74&quot;,&quot;order&quot;:&quot;999951&quot;},&quot;connectorInfo&quot;:{&quot;connectedObjects&quot;:[],&quot;type&quot;:&quot;LINE&quot;,&quot;offset&quot;:{&quot;x&quot;:0,&quot;y&quot;:0},&quot;bending&quot;:0.1,&quot;firstElementIsHead&quot;:true,&quot;customized&quot;:false},&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name&quot;:&quot;Straight arrow (editable)&quot;,&quot;displayName&quot;:&quot;Straight arrow (editable)&quot;,&quot;source&quot;:{&quot;id&quot;:&quot;6487423a8019b8fcc30323a5&quot;,&quot;type&quot;:&quot;ASSETS&quot;},&quot;isPremium&quot;:false},&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3.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3435c804-8f80-4e6c-bf02-336917f5a87d"/>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3435c804-8f80-4e6c-bf02-336917f5a87d&quot;:{&quot;id&quot;:&quot;3435c804-8f80-4e6c-bf02-336917f5a87d&quot;,&quot;name&quot;:&quot;Cell sorter (CytoFLEX SRT)&quot;,&quot;displayName&quot;:&quot;&quot;,&quot;type&quot;:&quot;FIGURE_OBJECT&quot;,&quot;relativeTransform&quot;:{&quot;translate&quot;:{&quot;x&quot;:12.520672696165015,&quot;y&quot;:-61.85439918100738},&quot;rotate&quot;:0,&quot;skewX&quot;:0,&quot;scale&quot;:{&quot;x&quot;:0.4085056155132134,&quot;y&quot;:0.40850561551321335}},&quot;image&quot;:{&quot;url&quot;:&quot;https://icons.cdn.biorender.com/biorender/642c349fe9b2b6001f15b23d/20230404143228/image/642c349fe9b2b6001f15b23d.png&quot;,&quot;isPremium&quot;:false,&quot;isOrgIcon&quot;:false,&quot;size&quot;:{&quot;x&quot;:250,&quot;y&quot;:170}},&quot;source&quot;:{&quot;id&quot;:&quot;642c349fe9b2b6001f15b23d&quot;,&quot;version&quot;:&quot;20230404143228&quot;,&quot;type&quot;:&quot;ASSETS&quot;},&quot;isPremium&quot;:false,&quot;parent&quot;:{&quot;type&quot;:&quot;CHILD&quot;,&quot;parentId&quot;:&quot;13fdf9e2-2b35-4615-a4cd-0880c8b06f74&quot;,&quot;order&quot;:&quot;999955&quot;}},&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4.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3144387d-37d1-4110-bcc6-d5c455e610c7"/>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25e808b8-7952-45ff-b582-d3d05a714613&quot;:{&quot;type&quot;:&quot;FIGURE_OBJECT&quot;,&quot;id&quot;:&quot;25e808b8-7952-45ff-b582-d3d05a714613&quot;,&quot;name&quot;:&quot;Spheroidal cell&quot;,&quot;relativeTransform&quot;:{&quot;translate&quot;:{&quot;x&quot;:-38.3847358068208,&quot;y&quot;:-159.7174765751945},&quot;rotate&quot;:0.16567988901875041,&quot;skewX&quot;:-3.5653192220844493e-17,&quot;scale&quot;:{&quot;x&quot;:0.4411597818135868,&quot;y&quot;:0.4411597818135865}},&quot;opacity&quot;:0.99,&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05&quot;},&quot;styles&quot;:{&quot;cell&quot;:[{&quot;monochromeTargetColor&quot;:&quot;#006400&quot;,&quot;styleName&quot;:&quot;FILL&quot;,&quot;color&quot;:&quot;#96ba96&quot;},{&quot;monochromeTargetColor&quot;:&quot;#006400&quot;,&quot;styleName&quot;:&quot;STROKE&quot;,&quot;color&quot;:&quot;#255c25&quot;}],&quot;nucleus&quot;:[{&quot;monochromeTargetColor&quot;:&quot;#006400&quot;,&quot;styleName&quot;:&quot;FILL&quot;,&quot;color&quot;:&quot;#6b9b6b&quot;},{&quot;monochromeTargetColor&quot;:&quot;#006400&quot;,&quot;styleName&quot;:&quot;STROKE&quot;,&quot;color&quot;:&quot;#4d824d&quot;}]}},&quot;b850ced0-40ed-4b03-bebc-caf0afba6c14&quot;:{&quot;type&quot;:&quot;FIGURE_OBJECT&quot;,&quot;id&quot;:&quot;b850ced0-40ed-4b03-bebc-caf0afba6c14&quot;,&quot;name&quot;:&quot;Spheroidal cell&quot;,&quot;relativeTransform&quot;:{&quot;translate&quot;:{&quot;x&quot;:41.13360018495416,&quot;y&quot;:-173.99297095270003},&quot;rotate&quot;:0.16567988901875041,&quot;skewX&quot;:-3.5653192220844493e-17,&quot;scale&quot;:{&quot;x&quot;:0.4411597818135868,&quot;y&quot;:0.4411597818135865}},&quot;opacity&quot;:0.99,&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1&quot;},&quot;styles&quot;:{&quot;cell&quot;:[{&quot;monochromeTargetColor&quot;:&quot;#00E500&quot;,&quot;styleName&quot;:&quot;FILL&quot;,&quot;color&quot;:&quot;#96f396&quot;},{&quot;monochromeTargetColor&quot;:&quot;#00E500&quot;,&quot;styleName&quot;:&quot;STROKE&quot;,&quot;color&quot;:&quot;#25dc25&quot;}],&quot;nucleus&quot;:[{&quot;monochromeTargetColor&quot;:&quot;#00E500&quot;,&quot;styleName&quot;:&quot;FILL&quot;,&quot;color&quot;:&quot;#6bec6b&quot;},{&quot;monochromeTargetColor&quot;:&quot;#00E500&quot;,&quot;styleName&quot;:&quot;STROKE&quot;,&quot;color&quot;:&quot;#4de64d&quot;}]}},&quot;f247d49f-60b0-4352-ad58-f6b771e34155&quot;:{&quot;type&quot;:&quot;FIGURE_OBJECT&quot;,&quot;id&quot;:&quot;f247d49f-60b0-4352-ad58-f6b771e34155&quot;,&quot;name&quot;:&quot;Spheroidal cell&quot;,&quot;relativeTransform&quot;:{&quot;translate&quot;:{&quot;x&quot;:-17.01130525161011,&quot;y&quot;:-114.10642057272011},&quot;rotate&quot;:0,&quot;skewX&quot;:0,&quot;scale&quot;:{&quot;x&quot;:0.44115978181358645,&quot;y&quot;:0.44115978181358645}},&quot;opacity&quot;:0.99,&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15&quot;},&quot;styles&quot;:{&quot;cell&quot;:[{&quot;monochromeTargetColor&quot;:&quot;#00A500&quot;,&quot;styleName&quot;:&quot;FILL&quot;,&quot;color&quot;:&quot;#96d596&quot;},{&quot;monochromeTargetColor&quot;:&quot;#00A500&quot;,&quot;styleName&quot;:&quot;STROKE&quot;,&quot;color&quot;:&quot;#259325&quot;}],&quot;nucleus&quot;:[{&quot;monochromeTargetColor&quot;:&quot;#00A500&quot;,&quot;styleName&quot;:&quot;FILL&quot;,&quot;color&quot;:&quot;#6bc16b&quot;},{&quot;monochromeTargetColor&quot;:&quot;#00A500&quot;,&quot;styleName&quot;:&quot;STROKE&quot;,&quot;color&quot;:&quot;#4db04d&quot;}]}},&quot;674c476a-65a3-4dcd-8865-3d9e3c1df6cf&quot;:{&quot;type&quot;:&quot;FIGURE_OBJECT&quot;,&quot;id&quot;:&quot;674c476a-65a3-4dcd-8865-3d9e3c1df6cf&quot;,&quot;name&quot;:&quot;Spheroidal cell&quot;,&quot;relativeTransform&quot;:{&quot;translate&quot;:{&quot;x&quot;:-3.294119834340563,&quot;y&quot;:-173.99201133454255},&quot;rotate&quot;:-2.447656139780367,&quot;skewX&quot;:0,&quot;scale&quot;:{&quot;x&quot;:0.44115978181358634,&quot;y&quot;:0.4411597818135866}},&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2&quot;},&quot;styles&quot;:{&quot;cell&quot;:[{&quot;monochromeTargetColor&quot;:&quot;#00E700&quot;,&quot;styleName&quot;:&quot;FILL&quot;,&quot;color&quot;:&quot;#96f396&quot;},{&quot;monochromeTargetColor&quot;:&quot;#00E700&quot;,&quot;styleName&quot;:&quot;STROKE&quot;,&quot;color&quot;:&quot;#25de25&quot;}],&quot;nucleus&quot;:[{&quot;monochromeTargetColor&quot;:&quot;#00E700&quot;,&quot;styleName&quot;:&quot;FILL&quot;,&quot;color&quot;:&quot;#6bed6b&quot;},{&quot;monochromeTargetColor&quot;:&quot;#00E700&quot;,&quot;styleName&quot;:&quot;STROKE&quot;,&quot;color&quot;:&quot;#4de84d&quot;}],&quot;editable&quot;:[{&quot;styleName&quot;:&quot;SATURATE&quot;,&quot;index&quot;:0,&quot;value&quot;:100}]}},&quot;d6347b65-fbed-4b1f-a02c-9d176672a538&quot;:{&quot;type&quot;:&quot;FIGURE_OBJECT&quot;,&quot;id&quot;:&quot;d6347b65-fbed-4b1f-a02c-9d176672a538&quot;,&quot;name&quot;:&quot;Spheroidal cell&quot;,&quot;relativeTransform&quot;:{&quot;translate&quot;:{&quot;x&quot;:46.66110707941982,&quot;y&quot;:-128.39965431476003},&quot;rotate&quot;:2.5130506582729475,&quot;skewX&quot;:0,&quot;scale&quot;:{&quot;x&quot;:0.4411597818135864,&quot;y&quot;:0.4411597818135864}},&quot;opacity&quot;:0.99,&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25&quot;},&quot;styles&quot;:{&quot;cell&quot;:[{&quot;monochromeTargetColor&quot;:&quot;#004000&quot;,&quot;styleName&quot;:&quot;FILL&quot;,&quot;color&quot;:&quot;#96ad96&quot;},{&quot;monochromeTargetColor&quot;:&quot;#004000&quot;,&quot;styleName&quot;:&quot;STROKE&quot;,&quot;color&quot;:&quot;#254425&quot;}],&quot;nucleus&quot;:[{&quot;monochromeTargetColor&quot;:&quot;#004000&quot;,&quot;styleName&quot;:&quot;FILL&quot;,&quot;color&quot;:&quot;#6b886b&quot;},{&quot;monochromeTargetColor&quot;:&quot;#004000&quot;,&quot;styleName&quot;:&quot;STROKE&quot;,&quot;color&quot;:&quot;#4d6d4d&quot;}]}},&quot;908e8811-4842-4230-af5c-bb24897ef726&quot;:{&quot;type&quot;:&quot;FIGURE_OBJECT&quot;,&quot;id&quot;:&quot;908e8811-4842-4230-af5c-bb24897ef726&quot;,&quot;name&quot;:&quot;Spheroidal cell&quot;,&quot;relativeTransform&quot;:{&quot;translate&quot;:{&quot;x&quot;:11.742072880922478,&quot;y&quot;:-140.51644950902963},&quot;rotate&quot;:2.5130506582729475,&quot;skewX&quot;:0,&quot;scale&quot;:{&quot;x&quot;:0.4411597818135864,&quot;y&quot;:0.4411597818135864}},&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3144387d-37d1-4110-bcc6-d5c455e610c7&quot;,&quot;order&quot;:&quot;3&quot;},&quot;styles&quot;:{&quot;cell&quot;:[{&quot;monochromeTargetColor&quot;:&quot;#00A500&quot;,&quot;styleName&quot;:&quot;FILL&quot;,&quot;color&quot;:&quot;#96d596&quot;},{&quot;monochromeTargetColor&quot;:&quot;#00A500&quot;,&quot;styleName&quot;:&quot;STROKE&quot;,&quot;color&quot;:&quot;#259325&quot;}],&quot;nucleus&quot;:[{&quot;monochromeTargetColor&quot;:&quot;#00A500&quot;,&quot;styleName&quot;:&quot;FILL&quot;,&quot;color&quot;:&quot;#6bc16b&quot;},{&quot;monochromeTargetColor&quot;:&quot;#00A500&quot;,&quot;styleName&quot;:&quot;STROKE&quot;,&quot;color&quot;:&quot;#4db04d&quot;}]}},&quot;be5d97f4-6315-45b9-a1a8-c57e0b4bef07&quot;:{&quot;relativeTransform&quot;:{&quot;translate&quot;:{&quot;x&quot;:2.036566038575643,&quot;y&quot;:-174.68824106709562},&quot;rotate&quot;:0,&quot;skewX&quot;:0,&quot;scale&quot;:{&quot;x&quot;:1,&quot;y&quot;:1}},&quot;type&quot;:&quot;FIGURE_OBJECT&quot;,&quot;id&quot;:&quot;be5d97f4-6315-45b9-a1a8-c57e0b4bef07&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48, 110, 128, 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5&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e46255aa-3c06-4413-b5c2-b5985acf8464&quot;:{&quot;relativeTransform&quot;:{&quot;translate&quot;:{&quot;x&quot;:-41.502318957475495,&quot;y&quot;:-157.87667809049876},&quot;rotate&quot;:0,&quot;skewX&quot;:0,&quot;scale&quot;:{&quot;x&quot;:1,&quot;y&quot;:1}},&quot;type&quot;:&quot;FIGURE_OBJECT&quot;,&quot;id&quot;:&quot;e46255aa-3c06-4413-b5c2-b5985acf8464&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192,56,48,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55&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f543ad55-212c-45ff-9827-16932398d558&quot;:{&quot;relativeTransform&quot;:{&quot;translate&quot;:{&quot;x&quot;:-19.786430637728927,&quot;y&quot;:-111.77539847198366},&quot;rotate&quot;:0,&quot;skewX&quot;:0,&quot;scale&quot;:{&quot;x&quot;:1,&quot;y&quot;:1}},&quot;type&quot;:&quot;FIGURE_OBJECT&quot;,&quot;id&quot;:&quot;f543ad55-212c-45ff-9827-16932398d558&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90, 123, 41, 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6&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18a6815a-d2b8-4266-8516-726505691d80&quot;:{&quot;relativeTransform&quot;:{&quot;translate&quot;:{&quot;x&quot;:13.372883482700331,&quot;y&quot;:-144.9607035861595},&quot;rotate&quot;:0,&quot;skewX&quot;:0,&quot;scale&quot;:{&quot;x&quot;:1,&quot;y&quot;:1}},&quot;type&quot;:&quot;FIGURE_OBJECT&quot;,&quot;id&quot;:&quot;18a6815a-d2b8-4266-8516-726505691d80&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138, 79, 33, 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7&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469e30ff-389e-43d5-b6c9-703b434d145a&quot;:{&quot;relativeTransform&quot;:{&quot;translate&quot;:{&quot;x&quot;:50.34667287002381,&quot;y&quot;:-131.55492209786107},&quot;rotate&quot;:0,&quot;skewX&quot;:0,&quot;scale&quot;:{&quot;x&quot;:1,&quot;y&quot;:1}},&quot;type&quot;:&quot;FIGURE_OBJECT&quot;,&quot;id&quot;:&quot;469e30ff-389e-43d5-b6c9-703b434d145a&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50, 64, 104, 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75&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3a6c473c-bada-45ab-b1c8-5537811f9c0a&quot;:{&quot;relativeTransform&quot;:{&quot;translate&quot;:{&quot;x&quot;:37.48212749006257,&quot;y&quot;:-171.4155589291018},&quot;rotate&quot;:0,&quot;skewX&quot;:0,&quot;scale&quot;:{&quot;x&quot;:1,&quot;y&quot;:1}},&quot;type&quot;:&quot;FIGURE_OBJECT&quot;,&quot;id&quot;:&quot;3a6c473c-bada-45ab-b1c8-5537811f9c0a&quot;,&quot;opacity&quot;:1,&quot;path&quot;:{&quot;type&quot;:&quot;POLY_LINE&quot;,&quot;points&quot;:[{&quot;x&quot;:-7.66125789797058,&quot;y&quot;:0},{&quot;x&quot;:-3.83062894898529,&quot;y&quot;:-4.5413349443826805},{&quot;x&quot;:3.83062894898529,&quot;y&quot;:4.5413349443826805},{&quot;x&quot;:7.66125789797058,&quot;y&quot;:0}],&quot;closed&quot;:false},&quot;pathStyles&quot;:[{&quot;type&quot;:&quot;FILL&quot;,&quot;fillStyle&quot;:&quot;rgba(0,0,0,0)&quot;},{&quot;type&quot;:&quot;STROKE&quot;,&quot;strokeStyle&quot;:&quot;rgba(79, 96, 156, 1)&quot;,&quot;lineWidth&quot;:1.1019353338197955,&quot;lineJoin&quot;:&quot;round&quot;,&quot;dashArray&quot;:[0]}],&quot;pathSmoothing&quot;:{&quot;type&quot;:&quot;CATMULL_SMOOTHING&quot;,&quot;smoothing&quot;:0.2},&quot;isLocked&quot;:false,&quot;parent&quot;:{&quot;type&quot;:&quot;CHILD&quot;,&quot;parentId&quot;:&quot;3144387d-37d1-4110-bcc6-d5c455e610c7&quot;,&quot;order&quot;:&quot;8&quot;},&quot;connectorInfo&quot;:{&quot;connectedObjects&quot;:[],&quot;type&quot;:&quot;CUBIC&quot;,&quot;offset&quot;:{&quot;x&quot;:0,&quot;y&quot;:0},&quot;bending&quot;:0.1,&quot;firstElementIsHead&quot;:true,&quot;customized&quot;:false},&quot;name&quot;:&quot; Line (editable) 3&quot;,&quot;displayName&quot;:&quot; Line (editable) 3&quot;,&quot;source&quot;:{&quot;id&quot;:&quot;6328c90b794a355670220351&quot;,&quot;type&quot;:&quot;ASSETS&quot;},&quot;isPremium&quot;:false},&quot;3144387d-37d1-4110-bcc6-d5c455e610c7&quot;:{&quot;type&quot;:&quot;FIGURE_OBJECT&quot;,&quot;id&quot;:&quot;3144387d-37d1-4110-bcc6-d5c455e610c7&quot;,&quot;parent&quot;:{&quot;type&quot;:&quot;CHILD&quot;,&quot;parentId&quot;:&quot;13fdf9e2-2b35-4615-a4cd-0880c8b06f74&quot;,&quot;order&quot;:&quot;99998&quot;},&quot;relativeTransform&quot;:{&quot;translate&quot;:{&quot;x&quot;:4.2696530082047275,&quot;y&quot;:-45.33545454531432},&quot;rotate&quot;:0,&quot;skewX&quot;:0,&quot;scale&quot;:{&quot;x&quot;:1,&quot;y&quot;:1}}},&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5.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4be4d89d-98df-4df9-a446-5f925c5982e3"/>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4be4d89d-98df-4df9-a446-5f925c5982e3&quot;:{&quot;type&quot;:&quot;FIGURE_OBJECT&quot;,&quot;id&quot;:&quot;4be4d89d-98df-4df9-a446-5f925c5982e3&quot;,&quot;name&quot;:&quot;Spheroidal cell&quot;,&quot;relativeTransform&quot;:{&quot;translate&quot;:{&quot;x&quot;:98.31670242753222,&quot;y&quot;:181.28674231531122},&quot;rotate&quot;:2.5130506582729475,&quot;skewX&quot;:0,&quot;scale&quot;:{&quot;x&quot;:0.4411597818135864,&quot;y&quot;:0.4411597818135864}},&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13fdf9e2-2b35-4615-a4cd-0880c8b06f74&quot;,&quot;order&quot;:&quot;999982&quot;},&quot;styles&quot;:{&quot;cell&quot;:[{&quot;monochromeTargetColor&quot;:&quot;#00FF00&quot;,&quot;styleName&quot;:&quot;FILL&quot;,&quot;color&quot;:&quot;#96ff96&quot;},{&quot;monochromeTargetColor&quot;:&quot;#00FF00&quot;,&quot;styleName&quot;:&quot;STROKE&quot;,&quot;color&quot;:&quot;#25ff25&quot;}],&quot;nucleus&quot;:[{&quot;monochromeTargetColor&quot;:&quot;#00FF00&quot;,&quot;styleName&quot;:&quot;FILL&quot;,&quot;color&quot;:&quot;#6bff6b&quot;},{&quot;monochromeTargetColor&quot;:&quot;#00FF00&quot;,&quot;styleName&quot;:&quot;STROKE&quot;,&quot;color&quot;:&quot;#4dff4d&quot;}],&quot;editable&quot;:[{&quot;styleName&quot;:&quot;SATURATE&quot;,&quot;index&quot;:0,&quot;value&quot;:100}]}},&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6.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9bd10c60-0bfe-4698-9b8c-30309b875796"/>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9bd10c60-0bfe-4698-9b8c-30309b875796&quot;:{&quot;type&quot;:&quot;FIGURE_OBJECT&quot;,&quot;id&quot;:&quot;9bd10c60-0bfe-4698-9b8c-30309b875796&quot;,&quot;name&quot;:&quot;Spheroidal cell&quot;,&quot;relativeTransform&quot;:{&quot;translate&quot;:{&quot;x&quot;:42.146390229561575,&quot;y&quot;:181.28722461260764},&quot;rotate&quot;:2.5130506582729475,&quot;skewX&quot;:0,&quot;scale&quot;:{&quot;x&quot;:0.4411597818135864,&quot;y&quot;:0.4411597818135864}},&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13fdf9e2-2b35-4615-a4cd-0880c8b06f74&quot;,&quot;order&quot;:&quot;999985&quot;},&quot;styles&quot;:{&quot;cell&quot;:[{&quot;monochromeTargetColor&quot;:&quot;#00C000&quot;,&quot;styleName&quot;:&quot;FILL&quot;,&quot;color&quot;:&quot;#96e196&quot;},{&quot;monochromeTargetColor&quot;:&quot;#00C000&quot;,&quot;styleName&quot;:&quot;STROKE&quot;,&quot;color&quot;:&quot;#25af25&quot;}],&quot;nucleus&quot;:[{&quot;monochromeTargetColor&quot;:&quot;#00C000&quot;,&quot;styleName&quot;:&quot;FILL&quot;,&quot;color&quot;:&quot;#6bd26b&quot;},{&quot;monochromeTargetColor&quot;:&quot;#00C000&quot;,&quot;styleName&quot;:&quot;STROKE&quot;,&quot;color&quot;:&quot;#4dc64d&quot;}],&quot;editable&quot;:[{&quot;styleName&quot;:&quot;SATURATE&quot;,&quot;index&quot;:0,&quot;value&quot;:100}]}},&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7.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1bb07d66-d4d0-477c-bf21-6559dec60319"/>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1bb07d66-d4d0-477c-bf21-6559dec60319&quot;:{&quot;type&quot;:&quot;FIGURE_OBJECT&quot;,&quot;id&quot;:&quot;1bb07d66-d4d0-477c-bf21-6559dec60319&quot;,&quot;name&quot;:&quot;Spheroidal cell&quot;,&quot;relativeTransform&quot;:{&quot;translate&quot;:{&quot;x&quot;:-17.096066928139635,&quot;y&quot;:181.2867635514036},&quot;rotate&quot;:2.5130506582729475,&quot;skewX&quot;:0,&quot;scale&quot;:{&quot;x&quot;:0.4411597818135864,&quot;y&quot;:0.4411597818135864}},&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13fdf9e2-2b35-4615-a4cd-0880c8b06f74&quot;,&quot;order&quot;:&quot;99999&quot;},&quot;styles&quot;:{&quot;cell&quot;:[{&quot;monochromeTargetColor&quot;:&quot;#008000&quot;,&quot;styleName&quot;:&quot;FILL&quot;,&quot;color&quot;:&quot;#96c696&quot;},{&quot;monochromeTargetColor&quot;:&quot;#008000&quot;,&quot;styleName&quot;:&quot;STROKE&quot;,&quot;color&quot;:&quot;#257125&quot;}],&quot;nucleus&quot;:[{&quot;monochromeTargetColor&quot;:&quot;#008000&quot;,&quot;styleName&quot;:&quot;FILL&quot;,&quot;color&quot;:&quot;#6bab6b&quot;},{&quot;monochromeTargetColor&quot;:&quot;#008000&quot;,&quot;styleName&quot;:&quot;STROKE&quot;,&quot;color&quot;:&quot;#4d954d&quot;}],&quot;editable&quot;:[{&quot;styleName&quot;:&quot;SATURATE&quot;,&quot;index&quot;:0,&quot;value&quot;:100}]}},&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8.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c03d66b5-f494-4bc2-8dea-a1f8eae55193"/>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c03d66b5-f494-4bc2-8dea-a1f8eae55193&quot;:{&quot;type&quot;:&quot;FIGURE_OBJECT&quot;,&quot;id&quot;:&quot;c03d66b5-f494-4bc2-8dea-a1f8eae55193&quot;,&quot;name&quot;:&quot;Spheroidal cell&quot;,&quot;relativeTransform&quot;:{&quot;translate&quot;:{&quot;x&quot;:-74.44139257679558,&quot;y&quot;:181.28711032781686},&quot;rotate&quot;:2.5130506582729475,&quot;skewX&quot;:0,&quot;scale&quot;:{&quot;x&quot;:0.4411597818135864,&quot;y&quot;:0.4411597818135864}},&quot;opacity&quot;:1,&quot;image&quot;:{&quot;url&quot;:&quot;https://icons.biorender.com/biorender/5f32bc680be41f0028c4b1b3/20200811154432/image/spheroidal-cell.png&quot;,&quot;fallbackUrl&quot;:&quot;https://res.cloudinary.com/dlcjuc3ej/image/upload/v1597160672/xdzhhqchl0aw7rxptj2g.svg#/keystone/api/icons/5f32bc680be41f0028c4b1b3/20200811154432/image/spheroidal-cell.svg&quot;,&quot;size&quot;:{&quot;x&quot;:157,&quot;y&quot;:154},&quot;isPremium&quot;:false},&quot;source&quot;:{&quot;id&quot;:&quot;5f32bc680be41f0028c4b1b3&quot;,&quot;type&quot;:&quot;ASSETS&quot;},&quot;pathStyles&quot;:[{&quot;type&quot;:&quot;FILL&quot;,&quot;fillStyle&quot;:&quot;rgb(0,0,0)&quot;}],&quot;isLocked&quot;:false,&quot;parent&quot;:{&quot;type&quot;:&quot;CHILD&quot;,&quot;parentId&quot;:&quot;13fdf9e2-2b35-4615-a4cd-0880c8b06f74&quot;,&quot;order&quot;:&quot;999995&quot;},&quot;styles&quot;:{&quot;cell&quot;:[{&quot;monochromeTargetColor&quot;:&quot;#004000&quot;,&quot;styleName&quot;:&quot;FILL&quot;,&quot;color&quot;:&quot;#96ad96&quot;},{&quot;monochromeTargetColor&quot;:&quot;#004000&quot;,&quot;styleName&quot;:&quot;STROKE&quot;,&quot;color&quot;:&quot;#254425&quot;}],&quot;nucleus&quot;:[{&quot;monochromeTargetColor&quot;:&quot;#004000&quot;,&quot;styleName&quot;:&quot;FILL&quot;,&quot;color&quot;:&quot;#6b886b&quot;},{&quot;monochromeTargetColor&quot;:&quot;#004000&quot;,&quot;styleName&quot;:&quot;STROKE&quot;,&quot;color&quot;:&quot;#4d6d4d&quot;}],&quot;editable&quot;:[{&quot;styleName&quot;:&quot;SATURATE&quot;,&quot;index&quot;:0,&quot;value&quot;:100}]}},&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9.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9fc47154-fdc9-46b2-8acc-2b48afd2acd8"/>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339cea17-3886-4c2e-ba55-5ce1d2f3a8c4&quot;:{&quot;id&quot;:&quot;339cea17-3886-4c2e-ba55-5ce1d2f3a8c4&quot;,&quot;name&quot;:&quot;Test tube (15 mL, empty)&quot;,&quot;displayName&quot;:&quot;Test tube (15 mL, empty)&quot;,&quot;type&quot;:&quot;FIGURE_OBJECT&quot;,&quot;relativeTransform&quot;:{&quot;translate&quot;:{&quot;x&quot;:-88.53075915706548,&quot;y&quot;:150.96753424232838},&quot;rotate&quot;:0,&quot;skewX&quot;:0,&quot;scale&quot;:{&quot;x&quot;:0.5910205999900443,&quot;y&quot;:0.5910205999900443}},&quot;image&quot;:{&quot;url&quot;:&quot;https://icons.cdn.biorender.com/biorender/5e569295c45c7c0028ca1e66/20200226155116/image/5e569295c45c7c0028ca1e66.png&quot;,&quot;isPremium&quot;:false,&quot;isOrgIcon&quot;:false,&quot;size&quot;:{&quot;x&quot;:50,&quot;y&quot;:222.80701754385964}},&quot;source&quot;:{&quot;id&quot;:&quot;5e569295c45c7c0028ca1e66&quot;,&quot;version&quot;:&quot;20200226155116&quot;,&quot;type&quot;:&quot;ASSETS&quot;},&quot;isPremium&quot;:false,&quot;parent&quot;:{&quot;type&quot;:&quot;CHILD&quot;,&quot;parentId&quot;:&quot;9fc47154-fdc9-46b2-8acc-2b48afd2acd8&quot;,&quot;order&quot;:&quot;1&quot;}},&quot;3729ad20-0ad4-48eb-a395-4b5264ac89c7&quot;:{&quot;id&quot;:&quot;3729ad20-0ad4-48eb-a395-4b5264ac89c7&quot;,&quot;name&quot;:&quot;Test tube (15 mL, empty)&quot;,&quot;displayName&quot;:&quot;Test tube (15 mL, empty)&quot;,&quot;type&quot;:&quot;FIGURE_OBJECT&quot;,&quot;relativeTransform&quot;:{&quot;translate&quot;:{&quot;x&quot;:-36.668869575595494,&quot;y&quot;:150.96753424232838},&quot;rotate&quot;:0,&quot;skewX&quot;:0,&quot;scale&quot;:{&quot;x&quot;:0.5910205999900443,&quot;y&quot;:0.5910205999900443}},&quot;image&quot;:{&quot;url&quot;:&quot;https://icons.cdn.biorender.com/biorender/5e569295c45c7c0028ca1e66/20200226155116/image/5e569295c45c7c0028ca1e66.png&quot;,&quot;isPremium&quot;:false,&quot;isOrgIcon&quot;:false,&quot;size&quot;:{&quot;x&quot;:50,&quot;y&quot;:222.80701754385964}},&quot;source&quot;:{&quot;id&quot;:&quot;5e569295c45c7c0028ca1e66&quot;,&quot;version&quot;:&quot;20200226155116&quot;,&quot;type&quot;:&quot;ASSETS&quot;},&quot;isPremium&quot;:false,&quot;parent&quot;:{&quot;type&quot;:&quot;CHILD&quot;,&quot;parentId&quot;:&quot;9fc47154-fdc9-46b2-8acc-2b48afd2acd8&quot;,&quot;order&quot;:&quot;2&quot;}},&quot;b6cad7ad-f7a1-4eeb-b600-e2bc78bf4c1a&quot;:{&quot;id&quot;:&quot;b6cad7ad-f7a1-4eeb-b600-e2bc78bf4c1a&quot;,&quot;name&quot;:&quot;Test tube (15 mL, empty)&quot;,&quot;displayName&quot;:&quot;Test tube (15 mL, empty)&quot;,&quot;type&quot;:&quot;FIGURE_OBJECT&quot;,&quot;relativeTransform&quot;:{&quot;translate&quot;:{&quot;x&quot;:23.508290988041427,&quot;y&quot;:150.9683612621655},&quot;rotate&quot;:0,&quot;skewX&quot;:0,&quot;scale&quot;:{&quot;x&quot;:0.5910205999900443,&quot;y&quot;:0.5910205999900443}},&quot;image&quot;:{&quot;url&quot;:&quot;https://icons.cdn.biorender.com/biorender/5e569295c45c7c0028ca1e66/20200226155116/image/5e569295c45c7c0028ca1e66.png&quot;,&quot;isPremium&quot;:false,&quot;isOrgIcon&quot;:false,&quot;size&quot;:{&quot;x&quot;:50,&quot;y&quot;:222.80701754385964}},&quot;source&quot;:{&quot;id&quot;:&quot;5e569295c45c7c0028ca1e66&quot;,&quot;version&quot;:&quot;20200226155116&quot;,&quot;type&quot;:&quot;ASSETS&quot;},&quot;isPremium&quot;:false,&quot;parent&quot;:{&quot;type&quot;:&quot;CHILD&quot;,&quot;parentId&quot;:&quot;9fc47154-fdc9-46b2-8acc-2b48afd2acd8&quot;,&quot;order&quot;:&quot;5&quot;}},&quot;97fa1eb1-ca53-4c30-a424-15251484274c&quot;:{&quot;id&quot;:&quot;97fa1eb1-ca53-4c30-a424-15251484274c&quot;,&quot;name&quot;:&quot;Test tube (15 mL, empty)&quot;,&quot;displayName&quot;:&quot;Test tube (15 mL, empty)&quot;,&quot;type&quot;:&quot;FIGURE_OBJECT&quot;,&quot;relativeTransform&quot;:{&quot;translate&quot;:{&quot;x&quot;:79.31648136589708,&quot;y&quot;:150.9678636463285},&quot;rotate&quot;:0,&quot;skewX&quot;:0,&quot;scale&quot;:{&quot;x&quot;:0.5910205999900443,&quot;y&quot;:0.5910205999900443}},&quot;image&quot;:{&quot;url&quot;:&quot;https://icons.cdn.biorender.com/biorender/5e569295c45c7c0028ca1e66/20200226155116/image/5e569295c45c7c0028ca1e66.png&quot;,&quot;isPremium&quot;:false,&quot;isOrgIcon&quot;:false,&quot;size&quot;:{&quot;x&quot;:50,&quot;y&quot;:222.80701754385964}},&quot;source&quot;:{&quot;id&quot;:&quot;5e569295c45c7c0028ca1e66&quot;,&quot;version&quot;:&quot;20200226155116&quot;,&quot;type&quot;:&quot;ASSETS&quot;},&quot;isPremium&quot;:false,&quot;parent&quot;:{&quot;type&quot;:&quot;CHILD&quot;,&quot;parentId&quot;:&quot;9fc47154-fdc9-46b2-8acc-2b48afd2acd8&quot;,&quot;order&quot;:&quot;7&quot;}},&quot;9fc47154-fdc9-46b2-8acc-2b48afd2acd8&quot;:{&quot;type&quot;:&quot;FIGURE_OBJECT&quot;,&quot;id&quot;:&quot;9fc47154-fdc9-46b2-8acc-2b48afd2acd8&quot;,&quot;parent&quot;:{&quot;type&quot;:&quot;CHILD&quot;,&quot;parentId&quot;:&quot;13fdf9e2-2b35-4615-a4cd-0880c8b06f74&quot;,&quot;order&quot;:&quot;9999995&quot;},&quot;relativeTransform&quot;:{&quot;translate&quot;:{&quot;x&quot;:17.127762648864746,&quot;y&quot;:-83.36227433057255},&quot;rotate&quot;:0,&quot;skewX&quot;:0,&quot;scale&quot;:{&quot;x&quot;:1,&quot;y&quot;:1}}},&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0.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8175f02e-c680-49b2-9e94-07b5c3a00a76"/>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8175f02e-c680-49b2-9e94-07b5c3a00a76&quot;:{&quot;id&quot;:&quot;8175f02e-c680-49b2-9e94-07b5c3a00a76&quot;,&quot;name&quot;:&quot;Laser beam (cone 1)&quot;,&quot;type&quot;:&quot;FIGURE_OBJECT&quot;,&quot;relativeTransform&quot;:{&quot;translate&quot;:{&quot;x&quot;:-276.29423218122736,&quot;y&quot;:73.91189108309152},&quot;rotate&quot;:1.5707963267948966,&quot;skewX&quot;:0,&quot;scale&quot;:{&quot;x&quot;:0.6177883114359328,&quot;y&quot;:7.466686989788494}},&quot;image&quot;:{&quot;url&quot;:&quot;https://icons.cdn.biorender.com/biorender/5a9d6ef2a7596b0014af6779/20180305162355/image/5a9d6ef2a7596b0014af6779.png&quot;,&quot;isPremium&quot;:false,&quot;isOrgIcon&quot;:false,&quot;size&quot;:{&quot;x&quot;:100,&quot;y&quot;:22.63109475620975}},&quot;source&quot;:{&quot;id&quot;:&quot;5a9d6ef2a7596b0014af6779&quot;,&quot;version&quot;:&quot;20180305162355&quot;,&quot;type&quot;:&quot;ASSETS&quot;},&quot;isPremium&quot;:false,&quot;parent&quot;:{&quot;type&quot;:&quot;CHILD&quot;,&quot;parentId&quot;:&quot;13fdf9e2-2b35-4615-a4cd-0880c8b06f74&quot;,&quot;order&quot;:&quot;9999999&quot;},&quot;opacity&quot;:0.49},&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1.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f8f36380-3124-48e4-848d-b26b6ad58e6f"/>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f8f36380-3124-48e4-848d-b26b6ad58e6f&quot;:{&quot;id&quot;:&quot;f8f36380-3124-48e4-848d-b26b6ad58e6f&quot;,&quot;name&quot;:&quot;DNA (2D, squiggle 2)&quot;,&quot;displayName&quot;:&quot;&quot;,&quot;type&quot;:&quot;FIGURE_OBJECT&quot;,&quot;relativeTransform&quot;:{&quot;translate&quot;:{&quot;x&quot;:-301.949395137323,&quot;y&quot;:120.87912833584818},&quot;rotate&quot;:0,&quot;skewX&quot;:0,&quot;scale&quot;:{&quot;x&quot;:1,&quot;y&quot;:1}},&quot;image&quot;:{&quot;url&quot;:&quot;https://icons.cdn.biorender.com/biorender/5b59e3b30bb8280014d9f995/20180726150821/image/5b59e3b30bb8280014d9f995.png&quot;,&quot;isPremium&quot;:false,&quot;isOrgIcon&quot;:false,&quot;size&quot;:{&quot;x&quot;:200,&quot;y&quot;:56.98324022346368}},&quot;source&quot;:{&quot;id&quot;:&quot;5b59e3b30bb8280014d9f995&quot;,&quot;version&quot;:&quot;20180726150821&quot;,&quot;type&quot;:&quot;ASSETS&quot;},&quot;isPremium&quot;:false,&quot;parent&quot;:{&quot;type&quot;:&quot;CHILD&quot;,&quot;parentId&quot;:&quot;13fdf9e2-2b35-4615-a4cd-0880c8b06f74&quot;,&quot;order&quot;:&quot;99999995&quot;}},&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2.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0b411174-deba-4664-9a09-a42ec6ed718f"/>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0b411174-deba-4664-9a09-a42ec6ed718f&quot;:{&quot;relativeTransform&quot;:{&quot;translate&quot;:{&quot;x&quot;:-199.25329128044697,&quot;y&quot;:16.23335878300106},&quot;rotate&quot;:0,&quot;skewX&quot;:0,&quot;scale&quot;:{&quot;x&quot;:1,&quot;y&quot;:1}},&quot;type&quot;:&quot;FIGURE_OBJECT&quot;,&quot;id&quot;:&quot;0b411174-deba-4664-9a09-a42ec6ed718f&quot;,&quot;parent&quot;:{&quot;type&quot;:&quot;CHILD&quot;,&quot;parentId&quot;:&quot;13fdf9e2-2b35-4615-a4cd-0880c8b06f74&quot;,&quot;order&quot;:&quot;99999997&quot;},&quot;name&quot;:&quot;Prime editor (reverse transcription)&quot;,&quot;displayName&quot;:&quot;Prime editor (reverse transcription)&quot;,&quot;source&quot;:{&quot;id&quot;:&quot;614381b61da99700a73e784b&quot;,&quot;type&quot;:&quot;ASSETS&quot;},&quot;isPremium&quot;:true},&quot;79f15255-b201-4a24-a60f-9da81f699512&quot;:{&quot;id&quot;:&quot;79f15255-b201-4a24-a60f-9da81f699512&quot;,&quot;name&quot;:&quot;Reverse transcriptase&quot;,&quot;type&quot;:&quot;FIGURE_OBJECT&quot;,&quot;relativeTransform&quot;:{&quot;translate&quot;:{&quot;x&quot;:-22.798507155476074,&quot;y&quot;:107.29847142958818},&quot;rotate&quot;:0,&quot;skewX&quot;:0,&quot;scale&quot;:{&quot;x&quot;:0.532801577894864,&quot;y&quot;:0.5328015778948639}},&quot;image&quot;:{&quot;url&quot;:&quot;https://icons.biorender.com/biorender/5b5b3988f1e48c0014a498d2/20180727153248/image/reverse-transcriptase-1.png&quot;,&quot;fallbackUrl&quot;:&quot;https://res.cloudinary.com/dlcjuc3ej/image/upload/v1532705568/uqlveh98s3hb6xensqtc.svg#/keystone/api/icons/5b5b3988f1e48c0014a498d2/20180727153248/image/reverse-transcriptase-1.svg&quot;,&quot;isPremium&quot;:false,&quot;isPacked&quot;:true,&quot;size&quot;:{&quot;x&quot;:100,&quot;y&quot;:89.26553672316385}},&quot;source&quot;:{&quot;id&quot;:&quot;5b5b3988f1e48c0014a498d2&quot;,&quot;type&quot;:&quot;ASSETS&quot;},&quot;parent&quot;:{&quot;type&quot;:&quot;CHILD&quot;,&quot;parentId&quot;:&quot;0b411174-deba-4664-9a09-a42ec6ed718f&quot;,&quot;order&quot;:&quot;2&quot;},&quot;opacity&quot;:0.83},&quot;7461f3e2-c6c0-4ae8-bcef-b3b61a75cb76&quot;:{&quot;id&quot;:&quot;7461f3e2-c6c0-4ae8-bcef-b3b61a75cb76&quot;,&quot;name&quot;:&quot;Cas9&quot;,&quot;type&quot;:&quot;FIGURE_OBJECT&quot;,&quot;relativeTransform&quot;:{&quot;translate&quot;:{&quot;x&quot;:-68.0562357915438,&quot;y&quot;:137.2626674648875},&quot;rotate&quot;:0,&quot;skewX&quot;:0,&quot;scale&quot;:{&quot;x&quot;:0.8869905811909962,&quot;y&quot;:0.886990581190996}},&quot;image&quot;:{&quot;url&quot;:&quot;https://icons.biorender.com/biorender/5aa6dc6487dd8000142cc8b9/cas9.png&quot;,&quot;fallbackUrl&quot;:&quot;https://res.cloudinary.com/dlcjuc3ej/image/upload/v1520884813/eualytfb3s5fhiehz6zk.svg#/keystone/api/icons/5aa6dc6487dd8000142cc8b9/cas9.svg&quot;,&quot;isPremium&quot;:false,&quot;isPacked&quot;:true,&quot;size&quot;:{&quot;x&quot;:100,&quot;y&quot;:85.0609756097561}},&quot;source&quot;:{&quot;id&quot;:&quot;5aa6dc22eebd7a0014d025b7&quot;,&quot;type&quot;:&quot;ASSETS&quot;},&quot;parent&quot;:{&quot;type&quot;:&quot;CHILD&quot;,&quot;parentId&quot;:&quot;0b411174-deba-4664-9a09-a42ec6ed718f&quot;,&quot;order&quot;:&quot;5&quot;},&quot;opacity&quot;:0.83},&quot;742826ee-24c9-4ebe-8b3a-9a8285ccc2bc&quot;:{&quot;id&quot;:&quot;742826ee-24c9-4ebe-8b3a-9a8285ccc2bc&quot;,&quot;name&quot;:&quot;pegRNA (reverse transcription)&quot;,&quot;type&quot;:&quot;FIGURE_OBJECT&quot;,&quot;relativeTransform&quot;:{&quot;translate&quot;:{&quot;x&quot;:-31.289999999999985,&quot;y&quot;:145.93696629213483},&quot;rotate&quot;:0,&quot;skewX&quot;:0,&quot;scale&quot;:{&quot;x&quot;:1.0266666666666666,&quot;y&quot;:1.0266666666666666}},&quot;image&quot;:{&quot;url&quot;:&quot;https://icons.biorender.com/biorender/61434f946ec98d0026200aed/20210916140904/image/pegrna-reverse-transcription.png&quot;,&quot;fallbackUrl&quot;:&quot;https://res.cloudinary.com/dlcjuc3ej/image/upload/v1631801344/l6voc31j8u4x0knyq6gv.svg#/keystone/api/icons/61434f946ec98d0026200aed/20210916140904/image/pegrna-reverse-transcription.svg&quot;,&quot;isPremium&quot;:false,&quot;isPacked&quot;:true,&quot;size&quot;:{&quot;x&quot;:135,&quot;y&quot;:114.52247191011236}},&quot;source&quot;:{&quot;id&quot;:&quot;61434f946ec98d0026200aed&quot;,&quot;type&quot;:&quot;ASSETS&quot;},&quot;parent&quot;:{&quot;type&quot;:&quot;CHILD&quot;,&quot;parentId&quot;:&quot;0b411174-deba-4664-9a09-a42ec6ed718f&quot;,&quot;order&quot;:&quot;7&quot;}},&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3.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950e34c9-2cf7-42df-9a8d-6a513789bcba"/>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950e34c9-2cf7-42df-9a8d-6a513789bcba&quot;:{&quot;relativeTransform&quot;:{&quot;translate&quot;:{&quot;x&quot;:-55.2892498325824,&quot;y&quot;:-17.938603606564087},&quot;rotate&quot;:-2.3561944901923453,&quot;skewX&quot;:0,&quot;scale&quot;:{&quot;x&quot;:1,&quot;y&quot;:1}},&quot;type&quot;:&quot;FIGURE_OBJECT&quot;,&quot;id&quot;:&quot;950e34c9-2cf7-42df-9a8d-6a513789bcba&quot;,&quot;opacity&quot;:1,&quot;path&quot;:{&quot;type&quot;:&quot;POLY_LINE&quot;,&quot;points&quot;:[{&quot;x&quot;:0,&quot;y&quot;:10.999893914480694},{&quot;x&quot;:-2.4985247713347015e-31,&quot;y&quot;:-11.411820737851523}],&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13fdf9e2-2b35-4615-a4cd-0880c8b06f74&quot;,&quot;order&quot;:&quot;99999998&quot;},&quot;connectorInfo&quot;:{&quot;connectedObjects&quot;:[],&quot;type&quot;:&quot;LINE&quot;,&quot;offset&quot;:{&quot;x&quot;:0,&quot;y&quot;:0},&quot;bending&quot;:0.1,&quot;firstElementIsHead&quot;:true,&quot;customized&quot;:false},&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name&quot;:&quot;Straight arrow (editable)&quot;,&quot;displayName&quot;:&quot;Straight arrow (editable)&quot;,&quot;source&quot;:{&quot;id&quot;:&quot;6487423a8019b8fcc30323a5&quot;,&quot;type&quot;:&quot;ASSETS&quot;},&quot;isPremium&quot;:false},&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4.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fd09fef2-e6d4-4b0e-bae4-0921b576eb73"/>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fd09fef2-e6d4-4b0e-bae4-0921b576eb73&quot;:{&quot;relativeTransform&quot;:{&quot;translate&quot;:{&quot;x&quot;:79.86149137342035,&quot;y&quot;:-17.938552199978865},&quot;rotate&quot;:2.3561944901923444,&quot;skewX&quot;:0,&quot;scale&quot;:{&quot;x&quot;:1,&quot;y&quot;:1}},&quot;type&quot;:&quot;FIGURE_OBJECT&quot;,&quot;id&quot;:&quot;fd09fef2-e6d4-4b0e-bae4-0921b576eb73&quot;,&quot;opacity&quot;:1,&quot;path&quot;:{&quot;type&quot;:&quot;POLY_LINE&quot;,&quot;points&quot;:[{&quot;x&quot;:0,&quot;y&quot;:10.999893914480694},{&quot;x&quot;:-2.4985247713347015e-31,&quot;y&quot;:-11.411820737851523}],&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13fdf9e2-2b35-4615-a4cd-0880c8b06f74&quot;,&quot;order&quot;:&quot;99999999&quot;},&quot;connectorInfo&quot;:{&quot;connectedObjects&quot;:[],&quot;type&quot;:&quot;LINE&quot;,&quot;offset&quot;:{&quot;x&quot;:0,&quot;y&quot;:0},&quot;bending&quot;:0.1,&quot;firstElementIsHead&quot;:true,&quot;customized&quot;:false},&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name&quot;:&quot;Straight arrow (editable)&quot;,&quot;displayName&quot;:&quot;Straight arrow (editable)&quot;,&quot;source&quot;:{&quot;id&quot;:&quot;6487423a8019b8fcc30323a5&quot;,&quot;type&quot;:&quot;ASSETS&quot;},&quot;isPremium&quot;:false},&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5.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cb012e94-0058-4e63-9dd1-871d6027153e"/>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cb012e94-0058-4e63-9dd1-871d6027153e&quot;:{&quot;relativeTransform&quot;:{&quot;translate&quot;:{&quot;x&quot;:40.9306910902119,&quot;y&quot;:-15.130646642634083},&quot;rotate&quot;:3.141592653589793,&quot;skewX&quot;:0,&quot;scale&quot;:{&quot;x&quot;:0.9999999999999999,&quot;y&quot;:0.9999999999999999}},&quot;type&quot;:&quot;FIGURE_OBJECT&quot;,&quot;id&quot;:&quot;cb012e94-0058-4e63-9dd1-871d6027153e&quot;,&quot;opacity&quot;:1,&quot;path&quot;:{&quot;type&quot;:&quot;POLY_LINE&quot;,&quot;points&quot;:[{&quot;x&quot;:0,&quot;y&quot;:10.999893914480694},{&quot;x&quot;:-2.4985247713347015e-31,&quot;y&quot;:-11.411820737851523}],&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13fdf9e2-2b35-4615-a4cd-0880c8b06f74&quot;,&quot;order&quot;:&quot;999999995&quot;},&quot;connectorInfo&quot;:{&quot;connectedObjects&quot;:[],&quot;type&quot;:&quot;LINE&quot;,&quot;offset&quot;:{&quot;x&quot;:0,&quot;y&quot;:0},&quot;bending&quot;:0.1,&quot;firstElementIsHead&quot;:true,&quot;customized&quot;:false},&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name&quot;:&quot;Straight arrow (editable)&quot;,&quot;displayName&quot;:&quot;Straight arrow (editable)&quot;,&quot;source&quot;:{&quot;id&quot;:&quot;6487423a8019b8fcc30323a5&quot;,&quot;type&quot;:&quot;ASSETS&quot;},&quot;isPremium&quot;:false},&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ags/tag16.xml><?xml version="1.0" encoding="utf-8"?>
<p:tagLst xmlns:a="http://schemas.openxmlformats.org/drawingml/2006/main" xmlns:r="http://schemas.openxmlformats.org/officeDocument/2006/relationships" xmlns:p="http://schemas.openxmlformats.org/presentationml/2006/main">
  <p:tag name="ID" val="695f131d2b32b8b246be7763"/>
  <p:tag name="FIGURESLIDEID" val="13fdf9e2-2b35-4615-a4cd-0880c8b06f74"/>
  <p:tag name="SELECTIONIDS" val="ec521160-65cf-44e4-b1f8-44a53ba41ae7"/>
  <p:tag name="TRANSPARENTBACKGROUND" val="true"/>
  <p:tag name="VERSION" val="1767839753952"/>
  <p:tag name="TITLE" val="LDLR prime editing intro 1/7/26"/>
  <p:tag name="CREATORNAME" val="Phillip Zhou"/>
  <p:tag name="DATEINSERTED" val="1767839754200"/>
  <p:tag name="DPI" val="300"/>
  <p:tag name="BIOJSON" val="{&quot;id&quot;:&quot;268bd03d-5811-46ee-9631-589df946422c&quot;,&quot;objects&quot;:{&quot;ec521160-65cf-44e4-b1f8-44a53ba41ae7&quot;:{&quot;relativeTransform&quot;:{&quot;translate&quot;:{&quot;x&quot;:-19.49289765710646,&quot;y&quot;:-15.13111123989648},&quot;rotate&quot;:3.141592653589793,&quot;skewX&quot;:0,&quot;scale&quot;:{&quot;x&quot;:0.9999999999999999,&quot;y&quot;:0.9999999999999999}},&quot;type&quot;:&quot;FIGURE_OBJECT&quot;,&quot;id&quot;:&quot;ec521160-65cf-44e4-b1f8-44a53ba41ae7&quot;,&quot;opacity&quot;:1,&quot;path&quot;:{&quot;type&quot;:&quot;POLY_LINE&quot;,&quot;points&quot;:[{&quot;x&quot;:0,&quot;y&quot;:10.999893914480694},{&quot;x&quot;:-2.4985247713347015e-31,&quot;y&quot;:-11.411820737851523}],&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13fdf9e2-2b35-4615-a4cd-0880c8b06f74&quot;,&quot;order&quot;:&quot;999999997&quot;},&quot;connectorInfo&quot;:{&quot;connectedObjects&quot;:[],&quot;type&quot;:&quot;LINE&quot;,&quot;offset&quot;:{&quot;x&quot;:0,&quot;y&quot;:0},&quot;bending&quot;:0.1,&quot;firstElementIsHead&quot;:true,&quot;customized&quot;:false},&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name&quot;:&quot;Straight arrow (editable)&quot;,&quot;displayName&quot;:&quot;Straight arrow (editable)&quot;,&quot;source&quot;:{&quot;id&quot;:&quot;6487423a8019b8fcc30323a5&quot;,&quot;type&quot;:&quot;ASSETS&quot;},&quot;isPremium&quot;:false},&quot;13fdf9e2-2b35-4615-a4cd-0880c8b06f74&quot;:{&quot;id&quot;:&quot;13fdf9e2-2b35-4615-a4cd-0880c8b06f74&quot;,&quot;type&quot;:&quot;FIGURE_OBJECT&quot;,&quot;document&quot;:{&quot;type&quot;:&quot;FIGURE&quot;,&quot;canvasType&quot;:&quot;FIGURE&quot;,&quot;units&quot;:&quot;in&quot;},&quot;parent&quot;:{&quot;parentId&quot;:&quot;268bd03d-5811-46ee-9631-589df946422c&quot;,&quot;type&quot;:&quot;DOCUMENT&quot;,&quot;order&quot;:&quot;5&quot;}},&quot;268bd03d-5811-46ee-9631-589df946422c&quot;:{&quot;id&quot;:&quot;268bd03d-5811-46ee-9631-589df946422c&quot;,&quot;type&quot;:&quot;FIGURE_OBJECT&quot;,&quot;document&quot;:{&quot;type&quot;:&quot;DOCUMENT_GROUP&quot;,&quot;canvasType&quot;:&quot;FIGURE&quot;,&quot;units&quot;:&quot;in&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8003</TotalTime>
  <Words>3227</Words>
  <Application>Microsoft Macintosh PowerPoint</Application>
  <PresentationFormat>Widescreen</PresentationFormat>
  <Paragraphs>403</Paragraphs>
  <Slides>43</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Calibri</vt:lpstr>
      <vt:lpstr>Office Theme</vt:lpstr>
      <vt:lpstr>Identifying LDLR variant effects using prime editing screening</vt:lpstr>
      <vt:lpstr>LDLR is the main player in removing cholesterol from the bloodstream</vt:lpstr>
      <vt:lpstr>Prime editing (PE) screening reveals variant effect</vt:lpstr>
      <vt:lpstr>Objectives of our workshop</vt:lpstr>
      <vt:lpstr>Open the Colab notebook on Github</vt:lpstr>
      <vt:lpstr>Basic facts about library</vt:lpstr>
      <vt:lpstr>Basic facts about library</vt:lpstr>
      <vt:lpstr>PRIDICT/PRIDICT2.0 estimates PE frequencies </vt:lpstr>
      <vt:lpstr>How well does PRIDICT2.0 work? Try changing RT length!</vt:lpstr>
      <vt:lpstr>How well does PRIDICT2.0 work? Try changing RT length!</vt:lpstr>
      <vt:lpstr>Varying RT length changes editing efficiency</vt:lpstr>
      <vt:lpstr>Objectives of our workshop</vt:lpstr>
      <vt:lpstr>Overview of LDLR-FL spreadsheet</vt:lpstr>
      <vt:lpstr>Overview of BEAN/FUSE </vt:lpstr>
      <vt:lpstr>AlphaMissense/Differential PFAM</vt:lpstr>
      <vt:lpstr>Try running the cell with Diff PFAM/AM!</vt:lpstr>
      <vt:lpstr>LDLR cysteines pop up at top for AM, dPFAM</vt:lpstr>
      <vt:lpstr>Objectives of our workshop</vt:lpstr>
      <vt:lpstr>What does LDLR look like? </vt:lpstr>
      <vt:lpstr>What does LDLR look like? </vt:lpstr>
      <vt:lpstr>What class A repeat might be most interesting to study? </vt:lpstr>
      <vt:lpstr>LDLR class A repeat 5 has top GOFs</vt:lpstr>
      <vt:lpstr>How to represent deep mutational scan data? </vt:lpstr>
      <vt:lpstr>How to represent deep mutational scan data? </vt:lpstr>
      <vt:lpstr>How to represent deep mutational scan data? </vt:lpstr>
      <vt:lpstr>How do we predict variant impact on protein structure? </vt:lpstr>
      <vt:lpstr>DDMut-PPI: A webserver for predicting variant effects on PPIs</vt:lpstr>
      <vt:lpstr>Arpeggio: variant effect on interatom interactions </vt:lpstr>
      <vt:lpstr>Objectives of our workshop</vt:lpstr>
      <vt:lpstr>Tabet et al. 2025 accomplishes a similar goal to us</vt:lpstr>
      <vt:lpstr>Tabet et al. 2025 recapitulates LDLR biology</vt:lpstr>
      <vt:lpstr>How does our experiment differ from theirs? </vt:lpstr>
      <vt:lpstr>How does our experiment differ from theirs? </vt:lpstr>
      <vt:lpstr>Prime editing allows for RNA splicing effect measurement</vt:lpstr>
      <vt:lpstr>AlphaGenome for splice site usage prediction</vt:lpstr>
      <vt:lpstr>AlphaGenome for splice site usage prediction</vt:lpstr>
      <vt:lpstr>Data exploration philosophy: </vt:lpstr>
      <vt:lpstr>Data exploration philosophy: </vt:lpstr>
      <vt:lpstr>Data exploration philosophy: </vt:lpstr>
      <vt:lpstr>Resources for CRISPR screening/variant analysis</vt:lpstr>
      <vt:lpstr>Thanks for listening! Questions? </vt:lpstr>
      <vt:lpstr>Why PE instead of BE? </vt:lpstr>
      <vt:lpstr>What does LDLR look like?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Zhou, Phillip</dc:creator>
  <cp:lastModifiedBy>Zhou, Phillip</cp:lastModifiedBy>
  <cp:revision>318</cp:revision>
  <dcterms:created xsi:type="dcterms:W3CDTF">2026-01-07T19:46:52Z</dcterms:created>
  <dcterms:modified xsi:type="dcterms:W3CDTF">2026-01-13T09:10:14Z</dcterms:modified>
</cp:coreProperties>
</file>
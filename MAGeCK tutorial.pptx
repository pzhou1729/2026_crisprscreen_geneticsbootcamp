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74" r:id="rId4"/>
    <p:sldId id="275" r:id="rId5"/>
    <p:sldId id="268" r:id="rId6"/>
    <p:sldId id="267" r:id="rId7"/>
    <p:sldId id="276" r:id="rId8"/>
    <p:sldId id="269" r:id="rId9"/>
    <p:sldId id="271" r:id="rId10"/>
    <p:sldId id="265" r:id="rId11"/>
    <p:sldId id="277" r:id="rId12"/>
    <p:sldId id="278" r:id="rId13"/>
    <p:sldId id="279" r:id="rId14"/>
    <p:sldId id="260" r:id="rId15"/>
    <p:sldId id="281" r:id="rId16"/>
    <p:sldId id="282" r:id="rId17"/>
    <p:sldId id="284" r:id="rId18"/>
    <p:sldId id="283" r:id="rId19"/>
    <p:sldId id="262" r:id="rId20"/>
    <p:sldId id="273" r:id="rId21"/>
    <p:sldId id="285" r:id="rId22"/>
    <p:sldId id="286" r:id="rId23"/>
    <p:sldId id="287" r:id="rId24"/>
    <p:sldId id="288" r:id="rId25"/>
    <p:sldId id="289" r:id="rId26"/>
    <p:sldId id="263" r:id="rId27"/>
    <p:sldId id="297" r:id="rId28"/>
    <p:sldId id="290" r:id="rId29"/>
    <p:sldId id="259" r:id="rId30"/>
    <p:sldId id="270"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373"/>
    <p:restoredTop sz="65924"/>
  </p:normalViewPr>
  <p:slideViewPr>
    <p:cSldViewPr snapToGrid="0">
      <p:cViewPr>
        <p:scale>
          <a:sx n="73" d="100"/>
          <a:sy n="73" d="100"/>
        </p:scale>
        <p:origin x="2664"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C18C0E-A00F-A247-8177-EAD359AE70A3}" type="datetimeFigureOut">
              <a:rPr lang="en-US" smtClean="0"/>
              <a:t>1/12/26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E0D33C-A3C8-F345-9A99-E958909C408C}" type="slidenum">
              <a:rPr lang="en-US" smtClean="0"/>
              <a:t>‹#›</a:t>
            </a:fld>
            <a:endParaRPr lang="en-US"/>
          </a:p>
        </p:txBody>
      </p:sp>
    </p:spTree>
    <p:extLst>
      <p:ext uri="{BB962C8B-B14F-4D97-AF65-F5344CB8AC3E}">
        <p14:creationId xmlns:p14="http://schemas.microsoft.com/office/powerpoint/2010/main" val="10603996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E0D33C-A3C8-F345-9A99-E958909C408C}" type="slidenum">
              <a:rPr lang="en-US" smtClean="0"/>
              <a:t>1</a:t>
            </a:fld>
            <a:endParaRPr lang="en-US"/>
          </a:p>
        </p:txBody>
      </p:sp>
    </p:spTree>
    <p:extLst>
      <p:ext uri="{BB962C8B-B14F-4D97-AF65-F5344CB8AC3E}">
        <p14:creationId xmlns:p14="http://schemas.microsoft.com/office/powerpoint/2010/main" val="30510569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MAGeCK</a:t>
            </a:r>
            <a:r>
              <a:rPr lang="en-US" dirty="0"/>
              <a:t> is a computational tool used to analyze CRISPR screen data and has been in use since 2014. It is very widely used in the CRISPR screening field.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 seeks to address the following question: How are statistically significant genes/sgRNAs identified from CRISPR screen data?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not such an easy task.</a:t>
            </a:r>
          </a:p>
          <a:p>
            <a:endParaRPr lang="en-US" dirty="0"/>
          </a:p>
          <a:p>
            <a:r>
              <a:rPr lang="en-US" dirty="0"/>
              <a:t>The fundamental issue:</a:t>
            </a:r>
            <a:br>
              <a:rPr lang="en-US" dirty="0"/>
            </a:br>
            <a:endParaRPr lang="en-US" dirty="0"/>
          </a:p>
          <a:p>
            <a:r>
              <a:rPr lang="en-US" dirty="0"/>
              <a:t>How to normalize raw data (to account for differences in read depth) </a:t>
            </a:r>
            <a:br>
              <a:rPr lang="en-US" dirty="0"/>
            </a:br>
            <a:r>
              <a:rPr lang="en-US" dirty="0"/>
              <a:t>Some gRNAs work better than others. </a:t>
            </a:r>
          </a:p>
          <a:p>
            <a:r>
              <a:rPr lang="en-US" dirty="0"/>
              <a:t>How do we identify key genes if there are multiple sgRNAs per gene? </a:t>
            </a:r>
          </a:p>
          <a:p>
            <a:endParaRPr lang="en-US" dirty="0"/>
          </a:p>
          <a:p>
            <a:r>
              <a:rPr lang="en-US" dirty="0"/>
              <a:t>If guides for one gene are skewed to the left, or skewed to the right, that indicates that that gene is probably a real hit</a:t>
            </a:r>
          </a:p>
          <a:p>
            <a:r>
              <a:rPr lang="en-US" dirty="0"/>
              <a:t>Kolmogorov-Smirnov test can be used for sgRNA analysis (just like in GSEA)</a:t>
            </a:r>
          </a:p>
          <a:p>
            <a:endParaRPr lang="en-US" dirty="0"/>
          </a:p>
          <a:p>
            <a:endParaRPr lang="en-US" dirty="0"/>
          </a:p>
        </p:txBody>
      </p:sp>
      <p:sp>
        <p:nvSpPr>
          <p:cNvPr id="4" name="Slide Number Placeholder 3"/>
          <p:cNvSpPr>
            <a:spLocks noGrp="1"/>
          </p:cNvSpPr>
          <p:nvPr>
            <p:ph type="sldNum" sz="quarter" idx="5"/>
          </p:nvPr>
        </p:nvSpPr>
        <p:spPr/>
        <p:txBody>
          <a:bodyPr/>
          <a:lstStyle/>
          <a:p>
            <a:fld id="{99E0D33C-A3C8-F345-9A99-E958909C408C}" type="slidenum">
              <a:rPr lang="en-US" smtClean="0"/>
              <a:t>2</a:t>
            </a:fld>
            <a:endParaRPr lang="en-US"/>
          </a:p>
        </p:txBody>
      </p:sp>
    </p:spTree>
    <p:extLst>
      <p:ext uri="{BB962C8B-B14F-4D97-AF65-F5344CB8AC3E}">
        <p14:creationId xmlns:p14="http://schemas.microsoft.com/office/powerpoint/2010/main" val="33736133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24FAF-9046-0B57-16FE-C9E9B0AF12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C651CD-4321-9A69-AA5C-756B92033A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9FABFD-D374-FD70-BFBD-63E112C75C59}"/>
              </a:ext>
            </a:extLst>
          </p:cNvPr>
          <p:cNvSpPr>
            <a:spLocks noGrp="1"/>
          </p:cNvSpPr>
          <p:nvPr>
            <p:ph type="body" idx="1"/>
          </p:nvPr>
        </p:nvSpPr>
        <p:spPr/>
        <p:txBody>
          <a:bodyPr/>
          <a:lstStyle/>
          <a:p>
            <a:r>
              <a:rPr lang="en-US" dirty="0"/>
              <a:t>From replicate to replicate in an experiment, sgRNA sequencing reads can vary. How do you account for these differences in sequencing depth such that you can make reliable statistical comparisons between replicates? </a:t>
            </a:r>
          </a:p>
          <a:p>
            <a:endParaRPr lang="en-US" dirty="0"/>
          </a:p>
          <a:p>
            <a:r>
              <a:rPr lang="en-US" dirty="0"/>
              <a:t>One sgRNA when it “knocks out” a gene, is mechanistically inducing a specific double-stranded break with a specific repair outcome and off-target profile. Thus, using one sgRNA to edit a gene is a proxy for measuring true gene effects. That’s why it would be nice to use multiple sgRNAs and somehow average their effects together. </a:t>
            </a:r>
          </a:p>
        </p:txBody>
      </p:sp>
      <p:sp>
        <p:nvSpPr>
          <p:cNvPr id="4" name="Slide Number Placeholder 3">
            <a:extLst>
              <a:ext uri="{FF2B5EF4-FFF2-40B4-BE49-F238E27FC236}">
                <a16:creationId xmlns:a16="http://schemas.microsoft.com/office/drawing/2014/main" id="{7847B5E9-D177-A5E7-756B-C2F222B0B3FF}"/>
              </a:ext>
            </a:extLst>
          </p:cNvPr>
          <p:cNvSpPr>
            <a:spLocks noGrp="1"/>
          </p:cNvSpPr>
          <p:nvPr>
            <p:ph type="sldNum" sz="quarter" idx="5"/>
          </p:nvPr>
        </p:nvSpPr>
        <p:spPr/>
        <p:txBody>
          <a:bodyPr/>
          <a:lstStyle/>
          <a:p>
            <a:fld id="{99E0D33C-A3C8-F345-9A99-E958909C408C}" type="slidenum">
              <a:rPr lang="en-US" smtClean="0"/>
              <a:t>3</a:t>
            </a:fld>
            <a:endParaRPr lang="en-US"/>
          </a:p>
        </p:txBody>
      </p:sp>
    </p:spTree>
    <p:extLst>
      <p:ext uri="{BB962C8B-B14F-4D97-AF65-F5344CB8AC3E}">
        <p14:creationId xmlns:p14="http://schemas.microsoft.com/office/powerpoint/2010/main" val="32826116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1C317-862E-67DD-64B6-DC613650C5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9D28CB-6143-993D-91A9-DD16D06D99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03103B-6D27-2F9F-6A14-2CC7EDAB2637}"/>
              </a:ext>
            </a:extLst>
          </p:cNvPr>
          <p:cNvSpPr>
            <a:spLocks noGrp="1"/>
          </p:cNvSpPr>
          <p:nvPr>
            <p:ph type="body" idx="1"/>
          </p:nvPr>
        </p:nvSpPr>
        <p:spPr/>
        <p:txBody>
          <a:bodyPr/>
          <a:lstStyle/>
          <a:p>
            <a:r>
              <a:rPr lang="en-US" dirty="0"/>
              <a:t>Shirley Liu’s lab came up with a framework to statistically test for essential sgRNAs, genes, and pathways in CRISPR screens. </a:t>
            </a:r>
            <a:br>
              <a:rPr lang="en-US" dirty="0"/>
            </a:br>
            <a:endParaRPr lang="en-US" dirty="0"/>
          </a:p>
          <a:p>
            <a:r>
              <a:rPr lang="en-US" dirty="0"/>
              <a:t>How to normalize raw data (to account for differences in read depth) </a:t>
            </a:r>
            <a:br>
              <a:rPr lang="en-US" dirty="0"/>
            </a:br>
            <a:r>
              <a:rPr lang="en-US" dirty="0"/>
              <a:t>Some gRNAs work better than others. </a:t>
            </a:r>
          </a:p>
          <a:p>
            <a:r>
              <a:rPr lang="en-US" dirty="0"/>
              <a:t>How do we identify key genes if there are multiple sgRNAs per gene? </a:t>
            </a:r>
          </a:p>
          <a:p>
            <a:endParaRPr lang="en-US" dirty="0"/>
          </a:p>
          <a:p>
            <a:r>
              <a:rPr lang="en-US" dirty="0"/>
              <a:t>If guides for one gene are skewed to the left, or skewed to the right, that indicates that that gene is probably a real hit</a:t>
            </a:r>
          </a:p>
          <a:p>
            <a:r>
              <a:rPr lang="en-US" dirty="0"/>
              <a:t>Kolmogorov-Smirnov test can be used for sgRNA analysis (just like in GSEA)</a:t>
            </a:r>
          </a:p>
          <a:p>
            <a:endParaRPr lang="en-US" dirty="0"/>
          </a:p>
          <a:p>
            <a:endParaRPr lang="en-US" dirty="0"/>
          </a:p>
        </p:txBody>
      </p:sp>
      <p:sp>
        <p:nvSpPr>
          <p:cNvPr id="4" name="Slide Number Placeholder 3">
            <a:extLst>
              <a:ext uri="{FF2B5EF4-FFF2-40B4-BE49-F238E27FC236}">
                <a16:creationId xmlns:a16="http://schemas.microsoft.com/office/drawing/2014/main" id="{3A9912F6-A719-8BF3-A9F5-8C9BABDE8AEC}"/>
              </a:ext>
            </a:extLst>
          </p:cNvPr>
          <p:cNvSpPr>
            <a:spLocks noGrp="1"/>
          </p:cNvSpPr>
          <p:nvPr>
            <p:ph type="sldNum" sz="quarter" idx="5"/>
          </p:nvPr>
        </p:nvSpPr>
        <p:spPr/>
        <p:txBody>
          <a:bodyPr/>
          <a:lstStyle/>
          <a:p>
            <a:fld id="{99E0D33C-A3C8-F345-9A99-E958909C408C}" type="slidenum">
              <a:rPr lang="en-US" smtClean="0"/>
              <a:t>4</a:t>
            </a:fld>
            <a:endParaRPr lang="en-US"/>
          </a:p>
        </p:txBody>
      </p:sp>
    </p:spTree>
    <p:extLst>
      <p:ext uri="{BB962C8B-B14F-4D97-AF65-F5344CB8AC3E}">
        <p14:creationId xmlns:p14="http://schemas.microsoft.com/office/powerpoint/2010/main" val="25438759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FE532-B87D-D6BD-4390-BE080B640C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298011-7ECF-1107-CB25-54AF168006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3B0C92-913A-D072-D7B6-5CEB9741F828}"/>
              </a:ext>
            </a:extLst>
          </p:cNvPr>
          <p:cNvSpPr>
            <a:spLocks noGrp="1"/>
          </p:cNvSpPr>
          <p:nvPr>
            <p:ph type="body" idx="1"/>
          </p:nvPr>
        </p:nvSpPr>
        <p:spPr/>
        <p:txBody>
          <a:bodyPr/>
          <a:lstStyle/>
          <a:p>
            <a:r>
              <a:rPr lang="en-US" dirty="0"/>
              <a:t>I’m briefly going to touch on some of the steps of </a:t>
            </a:r>
            <a:r>
              <a:rPr lang="en-US" dirty="0" err="1"/>
              <a:t>MAGeCK</a:t>
            </a:r>
            <a:r>
              <a:rPr lang="en-US" dirty="0"/>
              <a:t> and why they are done. </a:t>
            </a:r>
          </a:p>
        </p:txBody>
      </p:sp>
      <p:sp>
        <p:nvSpPr>
          <p:cNvPr id="4" name="Slide Number Placeholder 3">
            <a:extLst>
              <a:ext uri="{FF2B5EF4-FFF2-40B4-BE49-F238E27FC236}">
                <a16:creationId xmlns:a16="http://schemas.microsoft.com/office/drawing/2014/main" id="{31026539-8808-52FA-0F3D-A3145CEDB028}"/>
              </a:ext>
            </a:extLst>
          </p:cNvPr>
          <p:cNvSpPr>
            <a:spLocks noGrp="1"/>
          </p:cNvSpPr>
          <p:nvPr>
            <p:ph type="sldNum" sz="quarter" idx="5"/>
          </p:nvPr>
        </p:nvSpPr>
        <p:spPr/>
        <p:txBody>
          <a:bodyPr/>
          <a:lstStyle/>
          <a:p>
            <a:fld id="{99E0D33C-A3C8-F345-9A99-E958909C408C}" type="slidenum">
              <a:rPr lang="en-US" smtClean="0"/>
              <a:t>5</a:t>
            </a:fld>
            <a:endParaRPr lang="en-US"/>
          </a:p>
        </p:txBody>
      </p:sp>
    </p:spTree>
    <p:extLst>
      <p:ext uri="{BB962C8B-B14F-4D97-AF65-F5344CB8AC3E}">
        <p14:creationId xmlns:p14="http://schemas.microsoft.com/office/powerpoint/2010/main" val="5538069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9C0B7-2627-F324-DE52-566519899F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CC4CB4-32BF-0E7C-14F9-E3A5818612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9B80B5-8291-CB07-9E27-280D3336AD5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Normalization is essential to remove systematic variation across replicates. Median normalization is used to make read count distributions have the same medians and rescale all other values accordingly. </a:t>
            </a:r>
          </a:p>
          <a:p>
            <a:endParaRPr lang="en-US" dirty="0"/>
          </a:p>
          <a:p>
            <a:r>
              <a:rPr lang="en-US" dirty="0"/>
              <a:t>Say your control and treatment samples have the same distribution shape of sgRNAs, but there are twice as many reads in the treatment. That would mean every sgRNA is enriched. The biology didn’t change in this case, it’s just that the sequencing depth was higher. The median is not influenced by outliers, which is why it is picked for normalization purposes</a:t>
            </a:r>
          </a:p>
          <a:p>
            <a:endParaRPr lang="en-US" dirty="0"/>
          </a:p>
          <a:p>
            <a:r>
              <a:rPr lang="en-US" dirty="0"/>
              <a:t>Each sample has a distribution that is slightly stretched or shrunk.</a:t>
            </a:r>
            <a:br>
              <a:rPr lang="en-US" dirty="0"/>
            </a:br>
            <a:r>
              <a:rPr lang="en-US" dirty="0"/>
              <a:t>Median-ratio normalization rescales the distribution so that the middle of the distribution lines up with the reference.</a:t>
            </a:r>
          </a:p>
          <a:p>
            <a:r>
              <a:rPr lang="en-US" dirty="0"/>
              <a:t>This assumes that most genes do not change biologically, so the center of the distribution (a ”typical gene” tells you how much your sample is scaled relative to the others</a:t>
            </a:r>
          </a:p>
          <a:p>
            <a:r>
              <a:rPr lang="en-US" dirty="0"/>
              <a:t>In other words, normalization asks: What is the multiplicative factor that best aligns the unchanged majority of genes across samples? </a:t>
            </a:r>
          </a:p>
          <a:p>
            <a:endParaRPr lang="en-US" dirty="0"/>
          </a:p>
          <a:p>
            <a:r>
              <a:rPr lang="en-US" dirty="0"/>
              <a:t>https://</a:t>
            </a:r>
            <a:r>
              <a:rPr lang="en-US" dirty="0" err="1"/>
              <a:t>mbernste.github.io</a:t>
            </a:r>
            <a:r>
              <a:rPr lang="en-US" dirty="0"/>
              <a:t>/posts/</a:t>
            </a:r>
            <a:r>
              <a:rPr lang="en-US" dirty="0" err="1"/>
              <a:t>median_ratio_norm</a:t>
            </a:r>
            <a:r>
              <a:rPr lang="en-US" dirty="0"/>
              <a:t>/</a:t>
            </a:r>
          </a:p>
        </p:txBody>
      </p:sp>
      <p:sp>
        <p:nvSpPr>
          <p:cNvPr id="4" name="Slide Number Placeholder 3">
            <a:extLst>
              <a:ext uri="{FF2B5EF4-FFF2-40B4-BE49-F238E27FC236}">
                <a16:creationId xmlns:a16="http://schemas.microsoft.com/office/drawing/2014/main" id="{F96F202E-E60B-498A-0E41-814710BB4BDD}"/>
              </a:ext>
            </a:extLst>
          </p:cNvPr>
          <p:cNvSpPr>
            <a:spLocks noGrp="1"/>
          </p:cNvSpPr>
          <p:nvPr>
            <p:ph type="sldNum" sz="quarter" idx="5"/>
          </p:nvPr>
        </p:nvSpPr>
        <p:spPr/>
        <p:txBody>
          <a:bodyPr/>
          <a:lstStyle/>
          <a:p>
            <a:fld id="{99E0D33C-A3C8-F345-9A99-E958909C408C}" type="slidenum">
              <a:rPr lang="en-US" smtClean="0"/>
              <a:t>6</a:t>
            </a:fld>
            <a:endParaRPr lang="en-US"/>
          </a:p>
        </p:txBody>
      </p:sp>
    </p:spTree>
    <p:extLst>
      <p:ext uri="{BB962C8B-B14F-4D97-AF65-F5344CB8AC3E}">
        <p14:creationId xmlns:p14="http://schemas.microsoft.com/office/powerpoint/2010/main" val="9824621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5947D-1120-A3B8-85F0-0E788FAFE9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AA1DA1-55A2-D4B0-B284-8102BA3C97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0E05B6-BF61-C362-7DC3-F3795DBB1AB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Normalization is essential to remove systematic variation across replicates. Median normalization is used to make read count distributions have the same medians and rescale all other values accordingly. </a:t>
            </a:r>
          </a:p>
          <a:p>
            <a:endParaRPr lang="en-US" dirty="0"/>
          </a:p>
          <a:p>
            <a:r>
              <a:rPr lang="en-US" dirty="0"/>
              <a:t>Say your control and treatment samples have the same distribution shape of sgRNAs, but there are twice as many reads in the treatment. That would mean every sgRNA is enriched. The biology didn’t change in this case, it’s just that the sequencing depth was higher. The median is not influenced by outliers, which is why it is picked for normalization purposes</a:t>
            </a:r>
          </a:p>
          <a:p>
            <a:endParaRPr lang="en-US" dirty="0"/>
          </a:p>
          <a:p>
            <a:r>
              <a:rPr lang="en-US" dirty="0"/>
              <a:t>Each sample has a distribution that is slightly stretched or shrunk.</a:t>
            </a:r>
            <a:br>
              <a:rPr lang="en-US" dirty="0"/>
            </a:br>
            <a:r>
              <a:rPr lang="en-US" dirty="0"/>
              <a:t>Median-ratio normalization rescales the distribution so that the middle of the distribution lines up with the reference.</a:t>
            </a:r>
          </a:p>
          <a:p>
            <a:r>
              <a:rPr lang="en-US" dirty="0"/>
              <a:t>This assumes that most genes do not change biologically, so the center of the distribution (a ”typical gene” tells you how much your sample is scaled relative to the others</a:t>
            </a:r>
          </a:p>
          <a:p>
            <a:r>
              <a:rPr lang="en-US" dirty="0"/>
              <a:t>In other words, normalization asks: What is the multiplicative factor that best aligns the unchanged majority of genes across samples? </a:t>
            </a:r>
          </a:p>
          <a:p>
            <a:endParaRPr lang="en-US" dirty="0"/>
          </a:p>
          <a:p>
            <a:r>
              <a:rPr lang="en-US" dirty="0"/>
              <a:t>https://</a:t>
            </a:r>
            <a:r>
              <a:rPr lang="en-US" dirty="0" err="1"/>
              <a:t>mbernste.github.io</a:t>
            </a:r>
            <a:r>
              <a:rPr lang="en-US" dirty="0"/>
              <a:t>/posts/</a:t>
            </a:r>
            <a:r>
              <a:rPr lang="en-US" dirty="0" err="1"/>
              <a:t>median_ratio_norm</a:t>
            </a:r>
            <a:r>
              <a:rPr lang="en-US" dirty="0"/>
              <a:t>/</a:t>
            </a:r>
          </a:p>
        </p:txBody>
      </p:sp>
      <p:sp>
        <p:nvSpPr>
          <p:cNvPr id="4" name="Slide Number Placeholder 3">
            <a:extLst>
              <a:ext uri="{FF2B5EF4-FFF2-40B4-BE49-F238E27FC236}">
                <a16:creationId xmlns:a16="http://schemas.microsoft.com/office/drawing/2014/main" id="{E3F3DA3F-C99D-0D7D-F03E-2F796D312DB6}"/>
              </a:ext>
            </a:extLst>
          </p:cNvPr>
          <p:cNvSpPr>
            <a:spLocks noGrp="1"/>
          </p:cNvSpPr>
          <p:nvPr>
            <p:ph type="sldNum" sz="quarter" idx="5"/>
          </p:nvPr>
        </p:nvSpPr>
        <p:spPr/>
        <p:txBody>
          <a:bodyPr/>
          <a:lstStyle/>
          <a:p>
            <a:fld id="{99E0D33C-A3C8-F345-9A99-E958909C408C}" type="slidenum">
              <a:rPr lang="en-US" smtClean="0"/>
              <a:t>7</a:t>
            </a:fld>
            <a:endParaRPr lang="en-US"/>
          </a:p>
        </p:txBody>
      </p:sp>
    </p:spTree>
    <p:extLst>
      <p:ext uri="{BB962C8B-B14F-4D97-AF65-F5344CB8AC3E}">
        <p14:creationId xmlns:p14="http://schemas.microsoft.com/office/powerpoint/2010/main" val="17716606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1F502-144B-E306-AEBE-2DAA8E4BD5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9D0DC0-8882-DDBC-083D-7B1E430F49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2B6D19-9157-2ECD-4A64-C3C54C4F6D6B}"/>
              </a:ext>
            </a:extLst>
          </p:cNvPr>
          <p:cNvSpPr>
            <a:spLocks noGrp="1"/>
          </p:cNvSpPr>
          <p:nvPr>
            <p:ph type="body" idx="1"/>
          </p:nvPr>
        </p:nvSpPr>
        <p:spPr/>
        <p:txBody>
          <a:bodyPr/>
          <a:lstStyle/>
          <a:p>
            <a:r>
              <a:rPr lang="en-US" dirty="0"/>
              <a:t>Doing differential expression with Poisson distribution:</a:t>
            </a:r>
          </a:p>
          <a:p>
            <a:r>
              <a:rPr lang="en-US" dirty="0"/>
              <a:t>How much could the read counts for an sgRNA differ due to random sampling of a Poisson distribution? If observed difference is too large to plausibly come from random sampling, we can call the sgRNA significant</a:t>
            </a:r>
          </a:p>
          <a:p>
            <a:endParaRPr lang="en-US" dirty="0"/>
          </a:p>
          <a:p>
            <a:r>
              <a:rPr lang="en-US" dirty="0"/>
              <a:t>The Poisson distribution has a single parameter lambda, where its variance and all other properties follow from it. The variance is equal to the mean. </a:t>
            </a:r>
          </a:p>
          <a:p>
            <a:r>
              <a:rPr lang="en-US" dirty="0"/>
              <a:t>In practice, there is “overdispersion,” i.e. counts from biological replicates tend to have variance exceeding the mean, so Poisson predicts smaller variations than what is observed in data. </a:t>
            </a:r>
          </a:p>
          <a:p>
            <a:endParaRPr lang="en-US" dirty="0"/>
          </a:p>
          <a:p>
            <a:r>
              <a:rPr lang="en-US" dirty="0"/>
              <a:t>Negative binomial distribution is used to model count data: determined by mean mu and variance sigma</a:t>
            </a:r>
          </a:p>
          <a:p>
            <a:r>
              <a:rPr lang="en-US" dirty="0"/>
              <a:t>Very standard for </a:t>
            </a:r>
            <a:r>
              <a:rPr lang="en-US" dirty="0" err="1"/>
              <a:t>DESeq</a:t>
            </a:r>
            <a:r>
              <a:rPr lang="en-US" dirty="0"/>
              <a:t>, etc. </a:t>
            </a:r>
          </a:p>
          <a:p>
            <a:endParaRPr lang="en-US" dirty="0"/>
          </a:p>
          <a:p>
            <a:r>
              <a:rPr lang="en-US" dirty="0"/>
              <a:t>Why use negative binomial? </a:t>
            </a:r>
          </a:p>
          <a:p>
            <a:r>
              <a:rPr lang="en-US" sz="1200" b="0" i="0" kern="1200" dirty="0">
                <a:solidFill>
                  <a:schemeClr val="tx1"/>
                </a:solidFill>
                <a:effectLst/>
                <a:latin typeface="+mn-lt"/>
                <a:ea typeface="+mn-ea"/>
                <a:cs typeface="+mn-cs"/>
              </a:rPr>
              <a:t>It's primarily because the negative binomial is A) a count distribution and B) let's you model a variance that is greater than the mean.</a:t>
            </a:r>
          </a:p>
          <a:p>
            <a:r>
              <a:rPr lang="en-US" sz="1200" b="0" i="0" kern="1200" dirty="0">
                <a:solidFill>
                  <a:schemeClr val="tx1"/>
                </a:solidFill>
                <a:effectLst/>
                <a:latin typeface="+mn-lt"/>
                <a:ea typeface="+mn-ea"/>
                <a:cs typeface="+mn-cs"/>
              </a:rPr>
              <a:t>Poisson is count based but you're stuck with mean=var which is clearly an underestimate of variance when you look at real data.</a:t>
            </a:r>
          </a:p>
          <a:p>
            <a:r>
              <a:rPr lang="en-US" sz="1200" b="0" i="0" kern="1200" dirty="0">
                <a:solidFill>
                  <a:schemeClr val="tx1"/>
                </a:solidFill>
                <a:effectLst/>
                <a:latin typeface="+mn-lt"/>
                <a:ea typeface="+mn-ea"/>
                <a:cs typeface="+mn-cs"/>
              </a:rPr>
              <a:t>Binomial is count based and let's you model variance separately but the way it's parameterized the variance is always less than or equal to the mean.</a:t>
            </a:r>
          </a:p>
          <a:p>
            <a:r>
              <a:rPr lang="en-US" sz="1200" b="0" i="0" kern="1200" dirty="0">
                <a:solidFill>
                  <a:schemeClr val="tx1"/>
                </a:solidFill>
                <a:effectLst/>
                <a:latin typeface="+mn-lt"/>
                <a:ea typeface="+mn-ea"/>
                <a:cs typeface="+mn-cs"/>
              </a:rPr>
              <a:t>Negative Binomial is the opposite - variance is always greater than or equal to the mean.</a:t>
            </a:r>
          </a:p>
          <a:p>
            <a:endParaRPr lang="en-US" dirty="0"/>
          </a:p>
          <a:p>
            <a:r>
              <a:rPr lang="en-US" sz="1200" b="0" i="0" kern="1200" dirty="0">
                <a:solidFill>
                  <a:schemeClr val="tx1"/>
                </a:solidFill>
                <a:effectLst/>
                <a:latin typeface="+mn-lt"/>
                <a:ea typeface="+mn-ea"/>
                <a:cs typeface="+mn-cs"/>
              </a:rPr>
              <a:t>it’s often the case that variance is greater than the mean, which violates the assumptions of a Poisson model. So you need a new model, negative binomial, which allows for more freedom in terms of the relationship between mean and variance.</a:t>
            </a:r>
          </a:p>
          <a:p>
            <a:endParaRPr lang="en-US" sz="1200" b="0" i="0" kern="1200" dirty="0">
              <a:solidFill>
                <a:schemeClr val="tx1"/>
              </a:solidFill>
              <a:effectLst/>
              <a:latin typeface="+mn-lt"/>
              <a:ea typeface="+mn-ea"/>
              <a:cs typeface="+mn-cs"/>
            </a:endParaRPr>
          </a:p>
          <a:p>
            <a:endParaRPr lang="en-US" dirty="0"/>
          </a:p>
          <a:p>
            <a:endParaRPr lang="en-US" dirty="0"/>
          </a:p>
        </p:txBody>
      </p:sp>
      <p:sp>
        <p:nvSpPr>
          <p:cNvPr id="4" name="Slide Number Placeholder 3">
            <a:extLst>
              <a:ext uri="{FF2B5EF4-FFF2-40B4-BE49-F238E27FC236}">
                <a16:creationId xmlns:a16="http://schemas.microsoft.com/office/drawing/2014/main" id="{00097C53-1D25-21C6-1947-8C818A4709E8}"/>
              </a:ext>
            </a:extLst>
          </p:cNvPr>
          <p:cNvSpPr>
            <a:spLocks noGrp="1"/>
          </p:cNvSpPr>
          <p:nvPr>
            <p:ph type="sldNum" sz="quarter" idx="5"/>
          </p:nvPr>
        </p:nvSpPr>
        <p:spPr/>
        <p:txBody>
          <a:bodyPr/>
          <a:lstStyle/>
          <a:p>
            <a:fld id="{99E0D33C-A3C8-F345-9A99-E958909C408C}" type="slidenum">
              <a:rPr lang="en-US" smtClean="0"/>
              <a:t>8</a:t>
            </a:fld>
            <a:endParaRPr lang="en-US"/>
          </a:p>
        </p:txBody>
      </p:sp>
    </p:spTree>
    <p:extLst>
      <p:ext uri="{BB962C8B-B14F-4D97-AF65-F5344CB8AC3E}">
        <p14:creationId xmlns:p14="http://schemas.microsoft.com/office/powerpoint/2010/main" val="25108738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50237-24FE-DF40-1F88-E4A2F412DA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4B5811-D4F9-C0C8-1603-A407923A5A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05C945-8172-E7B4-F970-D272D9E3330A}"/>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P-values derived from NB model testing are used to rank sgRNAs</a:t>
            </a:r>
          </a:p>
          <a:p>
            <a:endParaRPr lang="en-US" dirty="0"/>
          </a:p>
          <a:p>
            <a:r>
              <a:rPr lang="en-US" dirty="0"/>
              <a:t>Positive rank:</a:t>
            </a:r>
            <a:br>
              <a:rPr lang="en-US" dirty="0"/>
            </a:br>
            <a:r>
              <a:rPr lang="en-US" dirty="0"/>
              <a:t>Do gene’s gRNAs consistently appear near the top of the ranked list?</a:t>
            </a:r>
            <a:br>
              <a:rPr lang="en-US" dirty="0"/>
            </a:br>
            <a:br>
              <a:rPr lang="en-US" dirty="0"/>
            </a:br>
            <a:r>
              <a:rPr lang="en-US" dirty="0"/>
              <a:t>Negative rank:</a:t>
            </a:r>
          </a:p>
          <a:p>
            <a:r>
              <a:rPr lang="en-US" dirty="0"/>
              <a:t>Do gene’s gRNAs consistently appear near the bottom of the ranked list? </a:t>
            </a:r>
          </a:p>
        </p:txBody>
      </p:sp>
      <p:sp>
        <p:nvSpPr>
          <p:cNvPr id="4" name="Slide Number Placeholder 3">
            <a:extLst>
              <a:ext uri="{FF2B5EF4-FFF2-40B4-BE49-F238E27FC236}">
                <a16:creationId xmlns:a16="http://schemas.microsoft.com/office/drawing/2014/main" id="{5E288A23-4316-289B-59DD-BFB0B6B48D8A}"/>
              </a:ext>
            </a:extLst>
          </p:cNvPr>
          <p:cNvSpPr>
            <a:spLocks noGrp="1"/>
          </p:cNvSpPr>
          <p:nvPr>
            <p:ph type="sldNum" sz="quarter" idx="5"/>
          </p:nvPr>
        </p:nvSpPr>
        <p:spPr/>
        <p:txBody>
          <a:bodyPr/>
          <a:lstStyle/>
          <a:p>
            <a:fld id="{99E0D33C-A3C8-F345-9A99-E958909C408C}" type="slidenum">
              <a:rPr lang="en-US" smtClean="0"/>
              <a:t>9</a:t>
            </a:fld>
            <a:endParaRPr lang="en-US"/>
          </a:p>
        </p:txBody>
      </p:sp>
    </p:spTree>
    <p:extLst>
      <p:ext uri="{BB962C8B-B14F-4D97-AF65-F5344CB8AC3E}">
        <p14:creationId xmlns:p14="http://schemas.microsoft.com/office/powerpoint/2010/main" val="1173707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gRNAs per gene </a:t>
            </a:r>
          </a:p>
          <a:p>
            <a:endParaRPr lang="en-US" dirty="0"/>
          </a:p>
          <a:p>
            <a:pPr rtl="0"/>
            <a:r>
              <a:rPr lang="en-US" sz="1200" b="0" i="0" u="none" strike="noStrike" kern="1200" dirty="0">
                <a:solidFill>
                  <a:schemeClr val="tx1"/>
                </a:solidFill>
                <a:effectLst/>
                <a:latin typeface="+mn-lt"/>
                <a:ea typeface="+mn-ea"/>
                <a:cs typeface="+mn-cs"/>
              </a:rPr>
              <a:t> In the first screen, we did not do genome wide CRISPR screening, but a large screen that encompassed genes anywhere near a GWAS hit for LDLR level, and gRNAs that target every collection of SNPs. A set of 3000 guides (which were the top candidates from the initial screen) were used</a:t>
            </a:r>
            <a:endParaRPr lang="en-US" b="0" dirty="0">
              <a:effectLst/>
            </a:endParaRPr>
          </a:p>
          <a:p>
            <a:br>
              <a:rPr lang="en-US" dirty="0"/>
            </a:br>
            <a:endParaRPr lang="en-US" dirty="0"/>
          </a:p>
        </p:txBody>
      </p:sp>
      <p:sp>
        <p:nvSpPr>
          <p:cNvPr id="4" name="Slide Number Placeholder 3"/>
          <p:cNvSpPr>
            <a:spLocks noGrp="1"/>
          </p:cNvSpPr>
          <p:nvPr>
            <p:ph type="sldNum" sz="quarter" idx="5"/>
          </p:nvPr>
        </p:nvSpPr>
        <p:spPr/>
        <p:txBody>
          <a:bodyPr/>
          <a:lstStyle/>
          <a:p>
            <a:fld id="{99E0D33C-A3C8-F345-9A99-E958909C408C}" type="slidenum">
              <a:rPr lang="en-US" smtClean="0"/>
              <a:t>10</a:t>
            </a:fld>
            <a:endParaRPr lang="en-US"/>
          </a:p>
        </p:txBody>
      </p:sp>
    </p:spTree>
    <p:extLst>
      <p:ext uri="{BB962C8B-B14F-4D97-AF65-F5344CB8AC3E}">
        <p14:creationId xmlns:p14="http://schemas.microsoft.com/office/powerpoint/2010/main" val="26034636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EF539-9340-CF09-1B5B-3D341ECCF0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FBABDA-5A42-BEAA-E6D8-39A5E6F794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A046F-B48E-C9D8-449D-41973B1C42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A04A49-C8E4-37B5-A386-CB82E7C09C6C}"/>
              </a:ext>
            </a:extLst>
          </p:cNvPr>
          <p:cNvSpPr>
            <a:spLocks noGrp="1"/>
          </p:cNvSpPr>
          <p:nvPr>
            <p:ph type="sldNum" sz="quarter" idx="5"/>
          </p:nvPr>
        </p:nvSpPr>
        <p:spPr/>
        <p:txBody>
          <a:bodyPr/>
          <a:lstStyle/>
          <a:p>
            <a:fld id="{99E0D33C-A3C8-F345-9A99-E958909C408C}" type="slidenum">
              <a:rPr lang="en-US" smtClean="0"/>
              <a:t>11</a:t>
            </a:fld>
            <a:endParaRPr lang="en-US"/>
          </a:p>
        </p:txBody>
      </p:sp>
    </p:spTree>
    <p:extLst>
      <p:ext uri="{BB962C8B-B14F-4D97-AF65-F5344CB8AC3E}">
        <p14:creationId xmlns:p14="http://schemas.microsoft.com/office/powerpoint/2010/main" val="27170777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1B2E7-044C-B889-3F5A-329EFB284D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064111-2363-64B5-42F8-0FF36D475B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3955AE-C81E-5911-5F7F-53F5AFC268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2867F0-F110-9915-F773-399CFAC2BC98}"/>
              </a:ext>
            </a:extLst>
          </p:cNvPr>
          <p:cNvSpPr>
            <a:spLocks noGrp="1"/>
          </p:cNvSpPr>
          <p:nvPr>
            <p:ph type="sldNum" sz="quarter" idx="5"/>
          </p:nvPr>
        </p:nvSpPr>
        <p:spPr/>
        <p:txBody>
          <a:bodyPr/>
          <a:lstStyle/>
          <a:p>
            <a:fld id="{99E0D33C-A3C8-F345-9A99-E958909C408C}" type="slidenum">
              <a:rPr lang="en-US" smtClean="0"/>
              <a:t>12</a:t>
            </a:fld>
            <a:endParaRPr lang="en-US"/>
          </a:p>
        </p:txBody>
      </p:sp>
    </p:spTree>
    <p:extLst>
      <p:ext uri="{BB962C8B-B14F-4D97-AF65-F5344CB8AC3E}">
        <p14:creationId xmlns:p14="http://schemas.microsoft.com/office/powerpoint/2010/main" val="27836976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D54CC-8B2C-1342-A343-06EF3F8427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B702A3-0265-80F6-F23E-61350C5126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E196B5-4ECB-B550-6332-492A5EDD519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8AED04-FA49-66C8-29F1-14A57BC68849}"/>
              </a:ext>
            </a:extLst>
          </p:cNvPr>
          <p:cNvSpPr>
            <a:spLocks noGrp="1"/>
          </p:cNvSpPr>
          <p:nvPr>
            <p:ph type="sldNum" sz="quarter" idx="5"/>
          </p:nvPr>
        </p:nvSpPr>
        <p:spPr/>
        <p:txBody>
          <a:bodyPr/>
          <a:lstStyle/>
          <a:p>
            <a:fld id="{99E0D33C-A3C8-F345-9A99-E958909C408C}" type="slidenum">
              <a:rPr lang="en-US" smtClean="0"/>
              <a:t>13</a:t>
            </a:fld>
            <a:endParaRPr lang="en-US"/>
          </a:p>
        </p:txBody>
      </p:sp>
    </p:spTree>
    <p:extLst>
      <p:ext uri="{BB962C8B-B14F-4D97-AF65-F5344CB8AC3E}">
        <p14:creationId xmlns:p14="http://schemas.microsoft.com/office/powerpoint/2010/main" val="18541098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Making a weighted sum gives you </a:t>
            </a:r>
            <a:r>
              <a:rPr lang="en-US" b="1" dirty="0"/>
              <a:t>one number per sgRNA per replicate</a:t>
            </a:r>
            <a:r>
              <a:rPr lang="en-US" dirty="0"/>
              <a:t> summarizing “how top-heavy vs bottom-heavy” it is, instead of juggling multiple bins.</a:t>
            </a:r>
          </a:p>
        </p:txBody>
      </p:sp>
      <p:sp>
        <p:nvSpPr>
          <p:cNvPr id="4" name="Slide Number Placeholder 3"/>
          <p:cNvSpPr>
            <a:spLocks noGrp="1"/>
          </p:cNvSpPr>
          <p:nvPr>
            <p:ph type="sldNum" sz="quarter" idx="5"/>
          </p:nvPr>
        </p:nvSpPr>
        <p:spPr/>
        <p:txBody>
          <a:bodyPr/>
          <a:lstStyle/>
          <a:p>
            <a:fld id="{99E0D33C-A3C8-F345-9A99-E958909C408C}" type="slidenum">
              <a:rPr lang="en-US" smtClean="0"/>
              <a:t>14</a:t>
            </a:fld>
            <a:endParaRPr lang="en-US"/>
          </a:p>
        </p:txBody>
      </p:sp>
    </p:spTree>
    <p:extLst>
      <p:ext uri="{BB962C8B-B14F-4D97-AF65-F5344CB8AC3E}">
        <p14:creationId xmlns:p14="http://schemas.microsoft.com/office/powerpoint/2010/main" val="27885831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try </a:t>
            </a:r>
            <a:r>
              <a:rPr lang="en-US" dirty="0" err="1"/>
              <a:t>conda</a:t>
            </a:r>
            <a:r>
              <a:rPr lang="en-US" dirty="0"/>
              <a:t> list, </a:t>
            </a:r>
            <a:r>
              <a:rPr lang="en-US" dirty="0" err="1"/>
              <a:t>mageck</a:t>
            </a:r>
            <a:r>
              <a:rPr lang="en-US" dirty="0"/>
              <a:t> should pop up in the list of packages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Mageck</a:t>
            </a:r>
            <a:r>
              <a:rPr lang="en-US" dirty="0"/>
              <a:t> version should be </a:t>
            </a:r>
            <a:r>
              <a:rPr lang="en-US" sz="1200" kern="1200" dirty="0">
                <a:solidFill>
                  <a:schemeClr val="tx1"/>
                </a:solidFill>
                <a:effectLst/>
                <a:latin typeface="+mn-lt"/>
                <a:ea typeface="+mn-ea"/>
                <a:cs typeface="+mn-cs"/>
              </a:rPr>
              <a:t>0.5.9.5 as of January 13, 2026</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9E0D33C-A3C8-F345-9A99-E958909C408C}" type="slidenum">
              <a:rPr lang="en-US" smtClean="0"/>
              <a:t>15</a:t>
            </a:fld>
            <a:endParaRPr lang="en-US"/>
          </a:p>
        </p:txBody>
      </p:sp>
    </p:spTree>
    <p:extLst>
      <p:ext uri="{BB962C8B-B14F-4D97-AF65-F5344CB8AC3E}">
        <p14:creationId xmlns:p14="http://schemas.microsoft.com/office/powerpoint/2010/main" val="32814919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4D7CD-593D-4570-0CAB-1642DA2DB5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0462A2-880D-E112-4880-1C0263F027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0FB008-4261-44C8-75B9-A0D954E0AD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511D55-0852-16BB-28A2-0CF152E32028}"/>
              </a:ext>
            </a:extLst>
          </p:cNvPr>
          <p:cNvSpPr>
            <a:spLocks noGrp="1"/>
          </p:cNvSpPr>
          <p:nvPr>
            <p:ph type="sldNum" sz="quarter" idx="5"/>
          </p:nvPr>
        </p:nvSpPr>
        <p:spPr/>
        <p:txBody>
          <a:bodyPr/>
          <a:lstStyle/>
          <a:p>
            <a:fld id="{99E0D33C-A3C8-F345-9A99-E958909C408C}" type="slidenum">
              <a:rPr lang="en-US" smtClean="0"/>
              <a:t>17</a:t>
            </a:fld>
            <a:endParaRPr lang="en-US"/>
          </a:p>
        </p:txBody>
      </p:sp>
    </p:spTree>
    <p:extLst>
      <p:ext uri="{BB962C8B-B14F-4D97-AF65-F5344CB8AC3E}">
        <p14:creationId xmlns:p14="http://schemas.microsoft.com/office/powerpoint/2010/main" val="28941091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the sgRNA enrichments in the top fluorescent bins differ from the least fluorescent bins? </a:t>
            </a:r>
          </a:p>
        </p:txBody>
      </p:sp>
      <p:sp>
        <p:nvSpPr>
          <p:cNvPr id="4" name="Slide Number Placeholder 3"/>
          <p:cNvSpPr>
            <a:spLocks noGrp="1"/>
          </p:cNvSpPr>
          <p:nvPr>
            <p:ph type="sldNum" sz="quarter" idx="5"/>
          </p:nvPr>
        </p:nvSpPr>
        <p:spPr/>
        <p:txBody>
          <a:bodyPr/>
          <a:lstStyle/>
          <a:p>
            <a:fld id="{99E0D33C-A3C8-F345-9A99-E958909C408C}" type="slidenum">
              <a:rPr lang="en-US" smtClean="0"/>
              <a:t>18</a:t>
            </a:fld>
            <a:endParaRPr lang="en-US"/>
          </a:p>
        </p:txBody>
      </p:sp>
    </p:spTree>
    <p:extLst>
      <p:ext uri="{BB962C8B-B14F-4D97-AF65-F5344CB8AC3E}">
        <p14:creationId xmlns:p14="http://schemas.microsoft.com/office/powerpoint/2010/main" val="14913112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LDLR is knocked out, LDL uptake decreases</a:t>
            </a:r>
          </a:p>
          <a:p>
            <a:endParaRPr lang="en-US" dirty="0"/>
          </a:p>
          <a:p>
            <a:r>
              <a:rPr lang="en-US" dirty="0"/>
              <a:t>You might want to use the p-values and LFCs in volcano plots down the line </a:t>
            </a:r>
          </a:p>
        </p:txBody>
      </p:sp>
      <p:sp>
        <p:nvSpPr>
          <p:cNvPr id="4" name="Slide Number Placeholder 3"/>
          <p:cNvSpPr>
            <a:spLocks noGrp="1"/>
          </p:cNvSpPr>
          <p:nvPr>
            <p:ph type="sldNum" sz="quarter" idx="5"/>
          </p:nvPr>
        </p:nvSpPr>
        <p:spPr/>
        <p:txBody>
          <a:bodyPr/>
          <a:lstStyle/>
          <a:p>
            <a:fld id="{99E0D33C-A3C8-F345-9A99-E958909C408C}" type="slidenum">
              <a:rPr lang="en-US" smtClean="0"/>
              <a:t>21</a:t>
            </a:fld>
            <a:endParaRPr lang="en-US"/>
          </a:p>
        </p:txBody>
      </p:sp>
    </p:spTree>
    <p:extLst>
      <p:ext uri="{BB962C8B-B14F-4D97-AF65-F5344CB8AC3E}">
        <p14:creationId xmlns:p14="http://schemas.microsoft.com/office/powerpoint/2010/main" val="2302838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When MYLIP is knocked out, LDL uptake increases</a:t>
            </a:r>
          </a:p>
          <a:p>
            <a:endParaRPr lang="en-US" dirty="0"/>
          </a:p>
        </p:txBody>
      </p:sp>
      <p:sp>
        <p:nvSpPr>
          <p:cNvPr id="4" name="Slide Number Placeholder 3"/>
          <p:cNvSpPr>
            <a:spLocks noGrp="1"/>
          </p:cNvSpPr>
          <p:nvPr>
            <p:ph type="sldNum" sz="quarter" idx="5"/>
          </p:nvPr>
        </p:nvSpPr>
        <p:spPr/>
        <p:txBody>
          <a:bodyPr/>
          <a:lstStyle/>
          <a:p>
            <a:fld id="{99E0D33C-A3C8-F345-9A99-E958909C408C}" type="slidenum">
              <a:rPr lang="en-US" smtClean="0"/>
              <a:t>22</a:t>
            </a:fld>
            <a:endParaRPr lang="en-US"/>
          </a:p>
        </p:txBody>
      </p:sp>
    </p:spTree>
    <p:extLst>
      <p:ext uri="{BB962C8B-B14F-4D97-AF65-F5344CB8AC3E}">
        <p14:creationId xmlns:p14="http://schemas.microsoft.com/office/powerpoint/2010/main" val="42249913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a:solidFill>
                  <a:schemeClr val="tx1"/>
                </a:solidFill>
                <a:effectLst/>
                <a:latin typeface="+mn-lt"/>
                <a:ea typeface="+mn-ea"/>
                <a:cs typeface="+mn-cs"/>
              </a:rPr>
              <a:t>The #1 gRNA that decreases LDL uptake is targeting ATP6V1G2</a:t>
            </a:r>
            <a:endParaRPr lang="en-US" b="0" dirty="0">
              <a:effectLst/>
            </a:endParaRPr>
          </a:p>
          <a:p>
            <a:pPr rtl="0"/>
            <a:r>
              <a:rPr lang="en-US" sz="1200" b="0" i="0" u="none" strike="noStrike" kern="1200" dirty="0">
                <a:solidFill>
                  <a:schemeClr val="tx1"/>
                </a:solidFill>
                <a:effectLst/>
                <a:latin typeface="+mn-lt"/>
                <a:ea typeface="+mn-ea"/>
                <a:cs typeface="+mn-cs"/>
              </a:rPr>
              <a:t>At the gene level, that’s up there. It’s the 20th ranked gene. </a:t>
            </a:r>
            <a:endParaRPr lang="en-US" b="0" dirty="0">
              <a:effectLst/>
            </a:endParaRPr>
          </a:p>
          <a:p>
            <a:pPr rtl="0"/>
            <a:r>
              <a:rPr lang="en-US" sz="1200" b="0" i="0" u="none" strike="noStrike" kern="1200" dirty="0">
                <a:solidFill>
                  <a:schemeClr val="tx1"/>
                </a:solidFill>
                <a:effectLst/>
                <a:latin typeface="+mn-lt"/>
                <a:ea typeface="+mn-ea"/>
                <a:cs typeface="+mn-cs"/>
              </a:rPr>
              <a:t>The #2 gRNA targets HNF1A. It’s 26th on the gene list. Why is the top gRNA hit not in the top gene hit?</a:t>
            </a:r>
            <a:endParaRPr lang="en-US" b="0" dirty="0">
              <a:effectLst/>
            </a:endParaRPr>
          </a:p>
          <a:p>
            <a:pPr rtl="0"/>
            <a:r>
              <a:rPr lang="en-US" sz="1200" b="0" i="0" u="none" strike="noStrike" kern="1200" dirty="0">
                <a:solidFill>
                  <a:schemeClr val="tx1"/>
                </a:solidFill>
                <a:effectLst/>
                <a:latin typeface="+mn-lt"/>
                <a:ea typeface="+mn-ea"/>
                <a:cs typeface="+mn-cs"/>
              </a:rPr>
              <a:t>The answer: Clearly, the the other 3 gRNAs did not share the same level of enrichment for ATP6V1G2.</a:t>
            </a:r>
            <a:endParaRPr lang="en-US" b="0" dirty="0">
              <a:effectLst/>
            </a:endParaRPr>
          </a:p>
          <a:p>
            <a:pPr rtl="0"/>
            <a:r>
              <a:rPr lang="en-US" sz="1200" b="0" i="0" u="none" strike="noStrike" kern="1200" dirty="0">
                <a:solidFill>
                  <a:schemeClr val="tx1"/>
                </a:solidFill>
                <a:effectLst/>
                <a:latin typeface="+mn-lt"/>
                <a:ea typeface="+mn-ea"/>
                <a:cs typeface="+mn-cs"/>
              </a:rPr>
              <a:t>Either the gRNA was spuriously effective, or maybe the gRNA somehow had off target effects on LDLR. </a:t>
            </a:r>
            <a:endParaRPr lang="en-US" b="0" dirty="0">
              <a:effectLst/>
            </a:endParaRPr>
          </a:p>
          <a:p>
            <a:pPr rtl="0"/>
            <a:endParaRPr lang="en-US" sz="1200" b="0" i="0" u="none" strike="noStrike" kern="1200" dirty="0">
              <a:solidFill>
                <a:schemeClr val="tx1"/>
              </a:solidFill>
              <a:effectLst/>
              <a:latin typeface="+mn-lt"/>
              <a:ea typeface="+mn-ea"/>
              <a:cs typeface="+mn-cs"/>
            </a:endParaRPr>
          </a:p>
          <a:p>
            <a:pPr rtl="0"/>
            <a:r>
              <a:rPr lang="en-US" sz="1200" b="0" i="0" u="none" strike="noStrike" kern="1200" dirty="0">
                <a:solidFill>
                  <a:schemeClr val="tx1"/>
                </a:solidFill>
                <a:effectLst/>
                <a:latin typeface="+mn-lt"/>
                <a:ea typeface="+mn-ea"/>
                <a:cs typeface="+mn-cs"/>
              </a:rPr>
              <a:t>Activity normalization is a way to deal with this:</a:t>
            </a: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Can we drill down and say: This is the only one that caused frameshifts</a:t>
            </a:r>
            <a:endParaRPr lang="en-US" b="0" dirty="0">
              <a:effectLst/>
            </a:endParaRPr>
          </a:p>
          <a:p>
            <a:pPr rtl="0"/>
            <a:r>
              <a:rPr lang="en-US" sz="1200" b="0" i="0" u="none" strike="noStrike" kern="1200" dirty="0">
                <a:solidFill>
                  <a:schemeClr val="tx1"/>
                </a:solidFill>
                <a:effectLst/>
                <a:latin typeface="+mn-lt"/>
                <a:ea typeface="+mn-ea"/>
                <a:cs typeface="+mn-cs"/>
              </a:rPr>
              <a:t>That’s why we put multiple gRNAs in a screen, so that we can take the average result of them.</a:t>
            </a:r>
            <a:endParaRPr lang="en-US" b="0" dirty="0">
              <a:effectLst/>
            </a:endParaRPr>
          </a:p>
          <a:p>
            <a:pPr rtl="0"/>
            <a:r>
              <a:rPr lang="en-US" sz="1200" b="0" i="0" u="none" strike="noStrike" kern="1200" dirty="0">
                <a:solidFill>
                  <a:schemeClr val="tx1"/>
                </a:solidFill>
                <a:effectLst/>
                <a:latin typeface="+mn-lt"/>
                <a:ea typeface="+mn-ea"/>
                <a:cs typeface="+mn-cs"/>
              </a:rPr>
              <a:t>Don’t do a whole screen, look at the gene level output, and think that there’s nothing beyond that. </a:t>
            </a:r>
            <a:endParaRPr lang="en-US" b="0" dirty="0">
              <a:effectLst/>
            </a:endParaRPr>
          </a:p>
          <a:p>
            <a:pPr rtl="0"/>
            <a:r>
              <a:rPr lang="en-US" sz="1200" b="0" i="0" u="none" strike="noStrike" kern="1200" dirty="0">
                <a:solidFill>
                  <a:schemeClr val="tx1"/>
                </a:solidFill>
                <a:effectLst/>
                <a:latin typeface="+mn-lt"/>
                <a:ea typeface="+mn-ea"/>
                <a:cs typeface="+mn-cs"/>
              </a:rPr>
              <a:t>For instance, if ATP6V1G2 is of interest, maybe it’s worth thinking about why that one gRNA is so effective while the others aren’t. </a:t>
            </a:r>
            <a:endParaRPr lang="en-US" b="0" dirty="0">
              <a:effectLst/>
            </a:endParaRPr>
          </a:p>
          <a:p>
            <a:pPr rtl="0"/>
            <a:r>
              <a:rPr lang="en-US" sz="1200" b="0" i="0" u="none" strike="noStrike" kern="1200" dirty="0">
                <a:solidFill>
                  <a:schemeClr val="tx1"/>
                </a:solidFill>
                <a:effectLst/>
                <a:latin typeface="+mn-lt"/>
                <a:ea typeface="+mn-ea"/>
                <a:cs typeface="+mn-cs"/>
              </a:rPr>
              <a:t>There are a lot of counts for the top hits in </a:t>
            </a:r>
            <a:r>
              <a:rPr lang="en-US" sz="1200" b="0" i="0" u="none" strike="noStrike" kern="1200" dirty="0" err="1">
                <a:solidFill>
                  <a:schemeClr val="tx1"/>
                </a:solidFill>
                <a:effectLst/>
                <a:latin typeface="+mn-lt"/>
                <a:ea typeface="+mn-ea"/>
                <a:cs typeface="+mn-cs"/>
              </a:rPr>
              <a:t>ser_bottom_top.sgrna_library</a:t>
            </a:r>
            <a:r>
              <a:rPr lang="en-US" sz="1200" b="0" i="0" u="none" strike="noStrike" kern="1200" dirty="0">
                <a:solidFill>
                  <a:schemeClr val="tx1"/>
                </a:solidFill>
                <a:effectLst/>
                <a:latin typeface="+mn-lt"/>
                <a:ea typeface="+mn-ea"/>
                <a:cs typeface="+mn-cs"/>
              </a:rPr>
              <a:t>: ATP6V1G2 and HNF1A</a:t>
            </a:r>
            <a:endParaRPr lang="en-US" b="0" dirty="0">
              <a:effectLst/>
            </a:endParaRPr>
          </a:p>
          <a:p>
            <a:br>
              <a:rPr lang="en-US" dirty="0"/>
            </a:br>
            <a:endParaRPr lang="en-US" dirty="0"/>
          </a:p>
        </p:txBody>
      </p:sp>
      <p:sp>
        <p:nvSpPr>
          <p:cNvPr id="4" name="Slide Number Placeholder 3"/>
          <p:cNvSpPr>
            <a:spLocks noGrp="1"/>
          </p:cNvSpPr>
          <p:nvPr>
            <p:ph type="sldNum" sz="quarter" idx="5"/>
          </p:nvPr>
        </p:nvSpPr>
        <p:spPr/>
        <p:txBody>
          <a:bodyPr/>
          <a:lstStyle/>
          <a:p>
            <a:fld id="{99E0D33C-A3C8-F345-9A99-E958909C408C}" type="slidenum">
              <a:rPr lang="en-US" smtClean="0"/>
              <a:t>23</a:t>
            </a:fld>
            <a:endParaRPr lang="en-US"/>
          </a:p>
        </p:txBody>
      </p:sp>
    </p:spTree>
    <p:extLst>
      <p:ext uri="{BB962C8B-B14F-4D97-AF65-F5344CB8AC3E}">
        <p14:creationId xmlns:p14="http://schemas.microsoft.com/office/powerpoint/2010/main" val="28649479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E0D33C-A3C8-F345-9A99-E958909C408C}" type="slidenum">
              <a:rPr lang="en-US" smtClean="0"/>
              <a:t>24</a:t>
            </a:fld>
            <a:endParaRPr lang="en-US"/>
          </a:p>
        </p:txBody>
      </p:sp>
    </p:spTree>
    <p:extLst>
      <p:ext uri="{BB962C8B-B14F-4D97-AF65-F5344CB8AC3E}">
        <p14:creationId xmlns:p14="http://schemas.microsoft.com/office/powerpoint/2010/main" val="21510850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85323-9919-9AB3-600B-68414E9556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68ACC1-5CA7-1B71-B364-C7F413DC56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44B45C-E585-40E7-7A2B-B599432E4B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180EF7-1016-0507-1F02-FC00EEE9A0BE}"/>
              </a:ext>
            </a:extLst>
          </p:cNvPr>
          <p:cNvSpPr>
            <a:spLocks noGrp="1"/>
          </p:cNvSpPr>
          <p:nvPr>
            <p:ph type="sldNum" sz="quarter" idx="5"/>
          </p:nvPr>
        </p:nvSpPr>
        <p:spPr/>
        <p:txBody>
          <a:bodyPr/>
          <a:lstStyle/>
          <a:p>
            <a:fld id="{99E0D33C-A3C8-F345-9A99-E958909C408C}" type="slidenum">
              <a:rPr lang="en-US" smtClean="0"/>
              <a:t>25</a:t>
            </a:fld>
            <a:endParaRPr lang="en-US"/>
          </a:p>
        </p:txBody>
      </p:sp>
    </p:spTree>
    <p:extLst>
      <p:ext uri="{BB962C8B-B14F-4D97-AF65-F5344CB8AC3E}">
        <p14:creationId xmlns:p14="http://schemas.microsoft.com/office/powerpoint/2010/main" val="16818984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8"/>
        <p:cNvGrpSpPr/>
        <p:nvPr/>
      </p:nvGrpSpPr>
      <p:grpSpPr>
        <a:xfrm>
          <a:off x="0" y="0"/>
          <a:ext cx="0" cy="0"/>
          <a:chOff x="0" y="0"/>
          <a:chExt cx="0" cy="0"/>
        </a:xfrm>
      </p:grpSpPr>
      <p:sp>
        <p:nvSpPr>
          <p:cNvPr id="1229" name="Google Shape;1229;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0" name="Google Shape;1230;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Why use co-essentiality analysis instead of GO? </a:t>
            </a:r>
            <a:endParaRPr/>
          </a:p>
          <a:p>
            <a:pPr marL="0" lvl="0" indent="0" algn="l" rtl="0">
              <a:spcBef>
                <a:spcPts val="0"/>
              </a:spcBef>
              <a:spcAft>
                <a:spcPts val="0"/>
              </a:spcAft>
              <a:buNone/>
            </a:pPr>
            <a:endParaRPr/>
          </a:p>
          <a:p>
            <a:pPr marL="0" lvl="0" indent="0" algn="l" rtl="0">
              <a:spcBef>
                <a:spcPts val="0"/>
              </a:spcBef>
              <a:spcAft>
                <a:spcPts val="0"/>
              </a:spcAft>
              <a:buNone/>
            </a:pPr>
            <a:r>
              <a:rPr lang="en-US"/>
              <a:t>https://docs.google.com/document/d/14OclHMEKGYMUb_qqjsXl7PfR4tr5YduYH8awrytaKJs/edit?tab=t.0 </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a:t>Statistical method to create a genome wide set of functional modules</a:t>
            </a:r>
            <a:endParaRPr/>
          </a:p>
          <a:p>
            <a:pPr marL="0" lvl="0" indent="0" algn="l" rtl="0">
              <a:spcBef>
                <a:spcPts val="0"/>
              </a:spcBef>
              <a:spcAft>
                <a:spcPts val="0"/>
              </a:spcAft>
              <a:buNone/>
            </a:pPr>
            <a:r>
              <a:rPr lang="en-US"/>
              <a:t>Previously been shown to recapitulate diverse pathways and protein complexes</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a:t>Co-essential GSEA is based on generalized least squares</a:t>
            </a:r>
            <a:endParaRPr/>
          </a:p>
          <a:p>
            <a:pPr marL="0" lvl="0" indent="0" algn="l" rtl="0">
              <a:spcBef>
                <a:spcPts val="0"/>
              </a:spcBef>
              <a:spcAft>
                <a:spcPts val="0"/>
              </a:spcAft>
              <a:buNone/>
            </a:pPr>
            <a:r>
              <a:rPr lang="en-US"/>
              <a:t>Co-essential GSEA was benchmarked against CORUM (manually curated protein complex database), h.MAP: MS based PPI database, STRING: gene-gene interaction database integrating experimental evidence, co-expression, literature text mining, genomic colocalization, co-occurrence, etc. </a:t>
            </a:r>
            <a:endParaRPr/>
          </a:p>
          <a:p>
            <a:pPr marL="0" lvl="0" indent="0" algn="l" rtl="0">
              <a:spcBef>
                <a:spcPts val="0"/>
              </a:spcBef>
              <a:spcAft>
                <a:spcPts val="0"/>
              </a:spcAft>
              <a:buNone/>
            </a:pPr>
            <a:endParaRPr/>
          </a:p>
          <a:p>
            <a:pPr marL="0" lvl="0" indent="0" algn="l" rtl="0">
              <a:spcBef>
                <a:spcPts val="0"/>
              </a:spcBef>
              <a:spcAft>
                <a:spcPts val="0"/>
              </a:spcAft>
              <a:buNone/>
            </a:pPr>
            <a:r>
              <a:rPr lang="en-US"/>
              <a:t>Co-essentiality modules and enrichment Modules were generated using DepMap 21Q2 Project Achilles data43. This data was altered to account for gene proximity effects using the method described by FIREWORKS47. The proximity corrected data was then converted to modules using an existing method48. Module enrichments for gene subsets were calculated from the hypergeometric distribution implemented in scipy v1.6.3102. Gene Ontology103 (GO) terms were generated from PANTHER version 14 along with the tool’s implementations of term enrichment and FDR control104. All GSEA analysis was performed with gseapy v.0.10.469 with 10,000-100,000 iterations as negative control. Networks were constructed for all modules with a hypergeometric test FDR less than 0.01. t-Distributed Stochastic Neighbor Embedding (t-SNE)105 algorithm was used to reduce the dimensionality of the Achillies proximity corrected data, and the first and second principal components were used as the X and Y coordinates of the genes, respectively.</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231" name="Google Shape;1231;p4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come back for lunch, we’ll be able to see a case study in how to explore a CRISPR screening dataset with newer methods and experimental tools. </a:t>
            </a:r>
          </a:p>
        </p:txBody>
      </p:sp>
      <p:sp>
        <p:nvSpPr>
          <p:cNvPr id="4" name="Slide Number Placeholder 3"/>
          <p:cNvSpPr>
            <a:spLocks noGrp="1"/>
          </p:cNvSpPr>
          <p:nvPr>
            <p:ph type="sldNum" sz="quarter" idx="5"/>
          </p:nvPr>
        </p:nvSpPr>
        <p:spPr/>
        <p:txBody>
          <a:bodyPr/>
          <a:lstStyle/>
          <a:p>
            <a:fld id="{99E0D33C-A3C8-F345-9A99-E958909C408C}" type="slidenum">
              <a:rPr lang="en-US" smtClean="0"/>
              <a:t>28</a:t>
            </a:fld>
            <a:endParaRPr lang="en-US"/>
          </a:p>
        </p:txBody>
      </p:sp>
    </p:spTree>
    <p:extLst>
      <p:ext uri="{BB962C8B-B14F-4D97-AF65-F5344CB8AC3E}">
        <p14:creationId xmlns:p14="http://schemas.microsoft.com/office/powerpoint/2010/main" val="15392963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CBD48-0197-8927-3211-9262A332C4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7C3B9F3-0F63-8272-0D1B-9C4FA24935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08DC87E-E5C1-55C3-0837-E6A0146E6933}"/>
              </a:ext>
            </a:extLst>
          </p:cNvPr>
          <p:cNvSpPr>
            <a:spLocks noGrp="1"/>
          </p:cNvSpPr>
          <p:nvPr>
            <p:ph type="dt" sz="half" idx="10"/>
          </p:nvPr>
        </p:nvSpPr>
        <p:spPr/>
        <p:txBody>
          <a:bodyPr/>
          <a:lstStyle/>
          <a:p>
            <a:fld id="{82D3FF41-548D-3D45-AD13-3FA34094FC8B}" type="datetimeFigureOut">
              <a:rPr lang="en-US" smtClean="0"/>
              <a:t>1/12/26</a:t>
            </a:fld>
            <a:endParaRPr lang="en-US"/>
          </a:p>
        </p:txBody>
      </p:sp>
      <p:sp>
        <p:nvSpPr>
          <p:cNvPr id="5" name="Footer Placeholder 4">
            <a:extLst>
              <a:ext uri="{FF2B5EF4-FFF2-40B4-BE49-F238E27FC236}">
                <a16:creationId xmlns:a16="http://schemas.microsoft.com/office/drawing/2014/main" id="{EFC2688A-3AE4-8C4D-8990-B7268E3CE3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113E13-0D9A-13D8-29AF-3D0B8370F408}"/>
              </a:ext>
            </a:extLst>
          </p:cNvPr>
          <p:cNvSpPr>
            <a:spLocks noGrp="1"/>
          </p:cNvSpPr>
          <p:nvPr>
            <p:ph type="sldNum" sz="quarter" idx="12"/>
          </p:nvPr>
        </p:nvSpPr>
        <p:spPr/>
        <p:txBody>
          <a:bodyPr/>
          <a:lstStyle/>
          <a:p>
            <a:fld id="{D1F0400A-30B0-A643-959E-3B8868D300DA}" type="slidenum">
              <a:rPr lang="en-US" smtClean="0"/>
              <a:t>‹#›</a:t>
            </a:fld>
            <a:endParaRPr lang="en-US"/>
          </a:p>
        </p:txBody>
      </p:sp>
    </p:spTree>
    <p:extLst>
      <p:ext uri="{BB962C8B-B14F-4D97-AF65-F5344CB8AC3E}">
        <p14:creationId xmlns:p14="http://schemas.microsoft.com/office/powerpoint/2010/main" val="1681541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87021-0221-5AC5-75CD-05089CEFFE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8A9189-873F-9E96-B0AC-2826B45B3F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305AFC-4332-5742-3E53-6DEBD1748EE3}"/>
              </a:ext>
            </a:extLst>
          </p:cNvPr>
          <p:cNvSpPr>
            <a:spLocks noGrp="1"/>
          </p:cNvSpPr>
          <p:nvPr>
            <p:ph type="dt" sz="half" idx="10"/>
          </p:nvPr>
        </p:nvSpPr>
        <p:spPr/>
        <p:txBody>
          <a:bodyPr/>
          <a:lstStyle/>
          <a:p>
            <a:fld id="{82D3FF41-548D-3D45-AD13-3FA34094FC8B}" type="datetimeFigureOut">
              <a:rPr lang="en-US" smtClean="0"/>
              <a:t>1/12/26</a:t>
            </a:fld>
            <a:endParaRPr lang="en-US"/>
          </a:p>
        </p:txBody>
      </p:sp>
      <p:sp>
        <p:nvSpPr>
          <p:cNvPr id="5" name="Footer Placeholder 4">
            <a:extLst>
              <a:ext uri="{FF2B5EF4-FFF2-40B4-BE49-F238E27FC236}">
                <a16:creationId xmlns:a16="http://schemas.microsoft.com/office/drawing/2014/main" id="{F3D85477-9B22-1423-B9CD-3BE4876B2D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212014-045F-6B83-EB47-B210AE0DD833}"/>
              </a:ext>
            </a:extLst>
          </p:cNvPr>
          <p:cNvSpPr>
            <a:spLocks noGrp="1"/>
          </p:cNvSpPr>
          <p:nvPr>
            <p:ph type="sldNum" sz="quarter" idx="12"/>
          </p:nvPr>
        </p:nvSpPr>
        <p:spPr/>
        <p:txBody>
          <a:bodyPr/>
          <a:lstStyle/>
          <a:p>
            <a:fld id="{D1F0400A-30B0-A643-959E-3B8868D300DA}" type="slidenum">
              <a:rPr lang="en-US" smtClean="0"/>
              <a:t>‹#›</a:t>
            </a:fld>
            <a:endParaRPr lang="en-US"/>
          </a:p>
        </p:txBody>
      </p:sp>
    </p:spTree>
    <p:extLst>
      <p:ext uri="{BB962C8B-B14F-4D97-AF65-F5344CB8AC3E}">
        <p14:creationId xmlns:p14="http://schemas.microsoft.com/office/powerpoint/2010/main" val="2920990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A4B51-240A-2419-664A-07C94C8036B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AC4D9C4-F125-2C12-EA05-0A65C71BB45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BE322A-066D-90DD-6D4D-EED7C21FA44B}"/>
              </a:ext>
            </a:extLst>
          </p:cNvPr>
          <p:cNvSpPr>
            <a:spLocks noGrp="1"/>
          </p:cNvSpPr>
          <p:nvPr>
            <p:ph type="dt" sz="half" idx="10"/>
          </p:nvPr>
        </p:nvSpPr>
        <p:spPr/>
        <p:txBody>
          <a:bodyPr/>
          <a:lstStyle/>
          <a:p>
            <a:fld id="{82D3FF41-548D-3D45-AD13-3FA34094FC8B}" type="datetimeFigureOut">
              <a:rPr lang="en-US" smtClean="0"/>
              <a:t>1/12/26</a:t>
            </a:fld>
            <a:endParaRPr lang="en-US"/>
          </a:p>
        </p:txBody>
      </p:sp>
      <p:sp>
        <p:nvSpPr>
          <p:cNvPr id="5" name="Footer Placeholder 4">
            <a:extLst>
              <a:ext uri="{FF2B5EF4-FFF2-40B4-BE49-F238E27FC236}">
                <a16:creationId xmlns:a16="http://schemas.microsoft.com/office/drawing/2014/main" id="{A9F7D9CF-40CF-0993-520B-ED711DD9D3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6AA134-8D24-24F8-0CE1-68A7A3E457B7}"/>
              </a:ext>
            </a:extLst>
          </p:cNvPr>
          <p:cNvSpPr>
            <a:spLocks noGrp="1"/>
          </p:cNvSpPr>
          <p:nvPr>
            <p:ph type="sldNum" sz="quarter" idx="12"/>
          </p:nvPr>
        </p:nvSpPr>
        <p:spPr/>
        <p:txBody>
          <a:bodyPr/>
          <a:lstStyle/>
          <a:p>
            <a:fld id="{D1F0400A-30B0-A643-959E-3B8868D300DA}" type="slidenum">
              <a:rPr lang="en-US" smtClean="0"/>
              <a:t>‹#›</a:t>
            </a:fld>
            <a:endParaRPr lang="en-US"/>
          </a:p>
        </p:txBody>
      </p:sp>
    </p:spTree>
    <p:extLst>
      <p:ext uri="{BB962C8B-B14F-4D97-AF65-F5344CB8AC3E}">
        <p14:creationId xmlns:p14="http://schemas.microsoft.com/office/powerpoint/2010/main" val="1684633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B11BE-5782-8F08-EDDB-BA03ED543D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C9FEDE2-FCCB-38A6-63F5-2294F57A971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1CA668B-D599-4EF2-BF8D-723B6711B69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FD6F9C8-280F-26B3-709F-943D525EE5DE}"/>
              </a:ext>
            </a:extLst>
          </p:cNvPr>
          <p:cNvSpPr>
            <a:spLocks noGrp="1"/>
          </p:cNvSpPr>
          <p:nvPr>
            <p:ph type="dt" sz="half" idx="10"/>
          </p:nvPr>
        </p:nvSpPr>
        <p:spPr/>
        <p:txBody>
          <a:bodyPr/>
          <a:lstStyle/>
          <a:p>
            <a:fld id="{82D3FF41-548D-3D45-AD13-3FA34094FC8B}" type="datetimeFigureOut">
              <a:rPr lang="en-US" smtClean="0"/>
              <a:t>1/12/26</a:t>
            </a:fld>
            <a:endParaRPr lang="en-US"/>
          </a:p>
        </p:txBody>
      </p:sp>
      <p:sp>
        <p:nvSpPr>
          <p:cNvPr id="6" name="Footer Placeholder 5">
            <a:extLst>
              <a:ext uri="{FF2B5EF4-FFF2-40B4-BE49-F238E27FC236}">
                <a16:creationId xmlns:a16="http://schemas.microsoft.com/office/drawing/2014/main" id="{C272AB14-CE97-503E-C8C1-A878234168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6497F0-2AC2-462D-92A8-6B0F00B1B6DC}"/>
              </a:ext>
            </a:extLst>
          </p:cNvPr>
          <p:cNvSpPr>
            <a:spLocks noGrp="1"/>
          </p:cNvSpPr>
          <p:nvPr>
            <p:ph type="sldNum" sz="quarter" idx="12"/>
          </p:nvPr>
        </p:nvSpPr>
        <p:spPr/>
        <p:txBody>
          <a:bodyPr/>
          <a:lstStyle/>
          <a:p>
            <a:fld id="{D1F0400A-30B0-A643-959E-3B8868D300DA}" type="slidenum">
              <a:rPr lang="en-US" smtClean="0"/>
              <a:t>‹#›</a:t>
            </a:fld>
            <a:endParaRPr lang="en-US"/>
          </a:p>
        </p:txBody>
      </p:sp>
    </p:spTree>
    <p:extLst>
      <p:ext uri="{BB962C8B-B14F-4D97-AF65-F5344CB8AC3E}">
        <p14:creationId xmlns:p14="http://schemas.microsoft.com/office/powerpoint/2010/main" val="38340340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2431E-9D05-95E1-0513-F26CDB2144E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5EBFF8C-D31B-1872-5203-776CF1BDA0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7BEE88F-DBE5-597F-B72D-1E1E6D4D03E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237852D-239B-28DA-C009-27F727CFBF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36BE806-6650-4AD1-AE50-63F4299AC30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F16CF43-26F7-9F52-FFDA-15EDBA38E1F0}"/>
              </a:ext>
            </a:extLst>
          </p:cNvPr>
          <p:cNvSpPr>
            <a:spLocks noGrp="1"/>
          </p:cNvSpPr>
          <p:nvPr>
            <p:ph type="dt" sz="half" idx="10"/>
          </p:nvPr>
        </p:nvSpPr>
        <p:spPr/>
        <p:txBody>
          <a:bodyPr/>
          <a:lstStyle/>
          <a:p>
            <a:fld id="{82D3FF41-548D-3D45-AD13-3FA34094FC8B}" type="datetimeFigureOut">
              <a:rPr lang="en-US" smtClean="0"/>
              <a:t>1/12/26</a:t>
            </a:fld>
            <a:endParaRPr lang="en-US"/>
          </a:p>
        </p:txBody>
      </p:sp>
      <p:sp>
        <p:nvSpPr>
          <p:cNvPr id="8" name="Footer Placeholder 7">
            <a:extLst>
              <a:ext uri="{FF2B5EF4-FFF2-40B4-BE49-F238E27FC236}">
                <a16:creationId xmlns:a16="http://schemas.microsoft.com/office/drawing/2014/main" id="{2FE8A873-4F9B-15DE-3ABA-A8DFD10EA4F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61A8691-85F0-EA84-8E2F-1028E55A2241}"/>
              </a:ext>
            </a:extLst>
          </p:cNvPr>
          <p:cNvSpPr>
            <a:spLocks noGrp="1"/>
          </p:cNvSpPr>
          <p:nvPr>
            <p:ph type="sldNum" sz="quarter" idx="12"/>
          </p:nvPr>
        </p:nvSpPr>
        <p:spPr/>
        <p:txBody>
          <a:bodyPr/>
          <a:lstStyle/>
          <a:p>
            <a:fld id="{D1F0400A-30B0-A643-959E-3B8868D300DA}" type="slidenum">
              <a:rPr lang="en-US" smtClean="0"/>
              <a:t>‹#›</a:t>
            </a:fld>
            <a:endParaRPr lang="en-US"/>
          </a:p>
        </p:txBody>
      </p:sp>
    </p:spTree>
    <p:extLst>
      <p:ext uri="{BB962C8B-B14F-4D97-AF65-F5344CB8AC3E}">
        <p14:creationId xmlns:p14="http://schemas.microsoft.com/office/powerpoint/2010/main" val="3547897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F0CA6-3A05-410D-E8BF-2BE1A668DB9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E129C4F-230C-BF6C-57D2-18D7556FADB0}"/>
              </a:ext>
            </a:extLst>
          </p:cNvPr>
          <p:cNvSpPr>
            <a:spLocks noGrp="1"/>
          </p:cNvSpPr>
          <p:nvPr>
            <p:ph type="dt" sz="half" idx="10"/>
          </p:nvPr>
        </p:nvSpPr>
        <p:spPr/>
        <p:txBody>
          <a:bodyPr/>
          <a:lstStyle/>
          <a:p>
            <a:fld id="{82D3FF41-548D-3D45-AD13-3FA34094FC8B}" type="datetimeFigureOut">
              <a:rPr lang="en-US" smtClean="0"/>
              <a:t>1/12/26</a:t>
            </a:fld>
            <a:endParaRPr lang="en-US"/>
          </a:p>
        </p:txBody>
      </p:sp>
      <p:sp>
        <p:nvSpPr>
          <p:cNvPr id="4" name="Footer Placeholder 3">
            <a:extLst>
              <a:ext uri="{FF2B5EF4-FFF2-40B4-BE49-F238E27FC236}">
                <a16:creationId xmlns:a16="http://schemas.microsoft.com/office/drawing/2014/main" id="{5B7E2006-9ED1-E494-626D-5635FC7CB8B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0E4E0E4-532A-1958-4C7B-44110B2410B3}"/>
              </a:ext>
            </a:extLst>
          </p:cNvPr>
          <p:cNvSpPr>
            <a:spLocks noGrp="1"/>
          </p:cNvSpPr>
          <p:nvPr>
            <p:ph type="sldNum" sz="quarter" idx="12"/>
          </p:nvPr>
        </p:nvSpPr>
        <p:spPr/>
        <p:txBody>
          <a:bodyPr/>
          <a:lstStyle/>
          <a:p>
            <a:fld id="{D1F0400A-30B0-A643-959E-3B8868D300DA}" type="slidenum">
              <a:rPr lang="en-US" smtClean="0"/>
              <a:t>‹#›</a:t>
            </a:fld>
            <a:endParaRPr lang="en-US"/>
          </a:p>
        </p:txBody>
      </p:sp>
    </p:spTree>
    <p:extLst>
      <p:ext uri="{BB962C8B-B14F-4D97-AF65-F5344CB8AC3E}">
        <p14:creationId xmlns:p14="http://schemas.microsoft.com/office/powerpoint/2010/main" val="23642411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40DB55-3BF3-8130-DDEA-6CAAEFAB91AD}"/>
              </a:ext>
            </a:extLst>
          </p:cNvPr>
          <p:cNvSpPr>
            <a:spLocks noGrp="1"/>
          </p:cNvSpPr>
          <p:nvPr>
            <p:ph type="dt" sz="half" idx="10"/>
          </p:nvPr>
        </p:nvSpPr>
        <p:spPr/>
        <p:txBody>
          <a:bodyPr/>
          <a:lstStyle/>
          <a:p>
            <a:fld id="{82D3FF41-548D-3D45-AD13-3FA34094FC8B}" type="datetimeFigureOut">
              <a:rPr lang="en-US" smtClean="0"/>
              <a:t>1/12/26</a:t>
            </a:fld>
            <a:endParaRPr lang="en-US"/>
          </a:p>
        </p:txBody>
      </p:sp>
      <p:sp>
        <p:nvSpPr>
          <p:cNvPr id="3" name="Footer Placeholder 2">
            <a:extLst>
              <a:ext uri="{FF2B5EF4-FFF2-40B4-BE49-F238E27FC236}">
                <a16:creationId xmlns:a16="http://schemas.microsoft.com/office/drawing/2014/main" id="{03C67C8C-66E3-DD6A-8C1F-A5BF2A4E414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E24E73-CD3C-4FBF-8352-0DBF5A6DD72E}"/>
              </a:ext>
            </a:extLst>
          </p:cNvPr>
          <p:cNvSpPr>
            <a:spLocks noGrp="1"/>
          </p:cNvSpPr>
          <p:nvPr>
            <p:ph type="sldNum" sz="quarter" idx="12"/>
          </p:nvPr>
        </p:nvSpPr>
        <p:spPr/>
        <p:txBody>
          <a:bodyPr/>
          <a:lstStyle/>
          <a:p>
            <a:fld id="{D1F0400A-30B0-A643-959E-3B8868D300DA}" type="slidenum">
              <a:rPr lang="en-US" smtClean="0"/>
              <a:t>‹#›</a:t>
            </a:fld>
            <a:endParaRPr lang="en-US"/>
          </a:p>
        </p:txBody>
      </p:sp>
    </p:spTree>
    <p:extLst>
      <p:ext uri="{BB962C8B-B14F-4D97-AF65-F5344CB8AC3E}">
        <p14:creationId xmlns:p14="http://schemas.microsoft.com/office/powerpoint/2010/main" val="3831099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E5755-73A7-1390-D625-7F33F9CC2F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599F912-BEF9-AA7F-48CD-EA2C1E2297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4F2F145-A345-D676-B640-9AA2242129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B55361-4D30-464F-7679-0B860A6CEC07}"/>
              </a:ext>
            </a:extLst>
          </p:cNvPr>
          <p:cNvSpPr>
            <a:spLocks noGrp="1"/>
          </p:cNvSpPr>
          <p:nvPr>
            <p:ph type="dt" sz="half" idx="10"/>
          </p:nvPr>
        </p:nvSpPr>
        <p:spPr/>
        <p:txBody>
          <a:bodyPr/>
          <a:lstStyle/>
          <a:p>
            <a:fld id="{82D3FF41-548D-3D45-AD13-3FA34094FC8B}" type="datetimeFigureOut">
              <a:rPr lang="en-US" smtClean="0"/>
              <a:t>1/12/26</a:t>
            </a:fld>
            <a:endParaRPr lang="en-US"/>
          </a:p>
        </p:txBody>
      </p:sp>
      <p:sp>
        <p:nvSpPr>
          <p:cNvPr id="6" name="Footer Placeholder 5">
            <a:extLst>
              <a:ext uri="{FF2B5EF4-FFF2-40B4-BE49-F238E27FC236}">
                <a16:creationId xmlns:a16="http://schemas.microsoft.com/office/drawing/2014/main" id="{8B057B3D-7B17-9420-4AEB-FF94465EC1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B00728-B727-D96D-B9B5-89F7E22C851A}"/>
              </a:ext>
            </a:extLst>
          </p:cNvPr>
          <p:cNvSpPr>
            <a:spLocks noGrp="1"/>
          </p:cNvSpPr>
          <p:nvPr>
            <p:ph type="sldNum" sz="quarter" idx="12"/>
          </p:nvPr>
        </p:nvSpPr>
        <p:spPr/>
        <p:txBody>
          <a:bodyPr/>
          <a:lstStyle/>
          <a:p>
            <a:fld id="{D1F0400A-30B0-A643-959E-3B8868D300DA}" type="slidenum">
              <a:rPr lang="en-US" smtClean="0"/>
              <a:t>‹#›</a:t>
            </a:fld>
            <a:endParaRPr lang="en-US"/>
          </a:p>
        </p:txBody>
      </p:sp>
    </p:spTree>
    <p:extLst>
      <p:ext uri="{BB962C8B-B14F-4D97-AF65-F5344CB8AC3E}">
        <p14:creationId xmlns:p14="http://schemas.microsoft.com/office/powerpoint/2010/main" val="27061300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7A830-C77E-67D2-70C6-0FD91745DF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28AF173-7DAF-7F34-07B6-9874C3125B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47B337-481F-7DB7-F6FB-383236202E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F89546-60E6-2F65-9944-5BAF8594A180}"/>
              </a:ext>
            </a:extLst>
          </p:cNvPr>
          <p:cNvSpPr>
            <a:spLocks noGrp="1"/>
          </p:cNvSpPr>
          <p:nvPr>
            <p:ph type="dt" sz="half" idx="10"/>
          </p:nvPr>
        </p:nvSpPr>
        <p:spPr/>
        <p:txBody>
          <a:bodyPr/>
          <a:lstStyle/>
          <a:p>
            <a:fld id="{82D3FF41-548D-3D45-AD13-3FA34094FC8B}" type="datetimeFigureOut">
              <a:rPr lang="en-US" smtClean="0"/>
              <a:t>1/12/26</a:t>
            </a:fld>
            <a:endParaRPr lang="en-US"/>
          </a:p>
        </p:txBody>
      </p:sp>
      <p:sp>
        <p:nvSpPr>
          <p:cNvPr id="6" name="Footer Placeholder 5">
            <a:extLst>
              <a:ext uri="{FF2B5EF4-FFF2-40B4-BE49-F238E27FC236}">
                <a16:creationId xmlns:a16="http://schemas.microsoft.com/office/drawing/2014/main" id="{390B7221-A683-289F-AE50-164B851058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B8C731-D100-904E-750E-031AD5C22ABB}"/>
              </a:ext>
            </a:extLst>
          </p:cNvPr>
          <p:cNvSpPr>
            <a:spLocks noGrp="1"/>
          </p:cNvSpPr>
          <p:nvPr>
            <p:ph type="sldNum" sz="quarter" idx="12"/>
          </p:nvPr>
        </p:nvSpPr>
        <p:spPr/>
        <p:txBody>
          <a:bodyPr/>
          <a:lstStyle/>
          <a:p>
            <a:fld id="{D1F0400A-30B0-A643-959E-3B8868D300DA}" type="slidenum">
              <a:rPr lang="en-US" smtClean="0"/>
              <a:t>‹#›</a:t>
            </a:fld>
            <a:endParaRPr lang="en-US"/>
          </a:p>
        </p:txBody>
      </p:sp>
    </p:spTree>
    <p:extLst>
      <p:ext uri="{BB962C8B-B14F-4D97-AF65-F5344CB8AC3E}">
        <p14:creationId xmlns:p14="http://schemas.microsoft.com/office/powerpoint/2010/main" val="1395832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BCDF3-413F-DEF9-B116-9B4FB5F89EE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AC6F84B-A77A-7968-BF8C-7AF8435EDE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818E64-B2C5-AD34-3610-C50450926899}"/>
              </a:ext>
            </a:extLst>
          </p:cNvPr>
          <p:cNvSpPr>
            <a:spLocks noGrp="1"/>
          </p:cNvSpPr>
          <p:nvPr>
            <p:ph type="dt" sz="half" idx="10"/>
          </p:nvPr>
        </p:nvSpPr>
        <p:spPr/>
        <p:txBody>
          <a:bodyPr/>
          <a:lstStyle/>
          <a:p>
            <a:fld id="{82D3FF41-548D-3D45-AD13-3FA34094FC8B}" type="datetimeFigureOut">
              <a:rPr lang="en-US" smtClean="0"/>
              <a:t>1/12/26</a:t>
            </a:fld>
            <a:endParaRPr lang="en-US"/>
          </a:p>
        </p:txBody>
      </p:sp>
      <p:sp>
        <p:nvSpPr>
          <p:cNvPr id="5" name="Footer Placeholder 4">
            <a:extLst>
              <a:ext uri="{FF2B5EF4-FFF2-40B4-BE49-F238E27FC236}">
                <a16:creationId xmlns:a16="http://schemas.microsoft.com/office/drawing/2014/main" id="{D8C11770-4A55-D3A8-04F9-6893A55ED6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4EAD01-5185-D65B-EA64-F17218773B2C}"/>
              </a:ext>
            </a:extLst>
          </p:cNvPr>
          <p:cNvSpPr>
            <a:spLocks noGrp="1"/>
          </p:cNvSpPr>
          <p:nvPr>
            <p:ph type="sldNum" sz="quarter" idx="12"/>
          </p:nvPr>
        </p:nvSpPr>
        <p:spPr/>
        <p:txBody>
          <a:bodyPr/>
          <a:lstStyle/>
          <a:p>
            <a:fld id="{D1F0400A-30B0-A643-959E-3B8868D300DA}" type="slidenum">
              <a:rPr lang="en-US" smtClean="0"/>
              <a:t>‹#›</a:t>
            </a:fld>
            <a:endParaRPr lang="en-US"/>
          </a:p>
        </p:txBody>
      </p:sp>
    </p:spTree>
    <p:extLst>
      <p:ext uri="{BB962C8B-B14F-4D97-AF65-F5344CB8AC3E}">
        <p14:creationId xmlns:p14="http://schemas.microsoft.com/office/powerpoint/2010/main" val="16301993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9D3C5A-3BAB-B7D9-37DF-2F29AB492B3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B820E91-53E0-4CC6-8633-5D3B0B88300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80954C-D7CB-E47F-AD86-690ED3F2A24C}"/>
              </a:ext>
            </a:extLst>
          </p:cNvPr>
          <p:cNvSpPr>
            <a:spLocks noGrp="1"/>
          </p:cNvSpPr>
          <p:nvPr>
            <p:ph type="dt" sz="half" idx="10"/>
          </p:nvPr>
        </p:nvSpPr>
        <p:spPr/>
        <p:txBody>
          <a:bodyPr/>
          <a:lstStyle/>
          <a:p>
            <a:fld id="{82D3FF41-548D-3D45-AD13-3FA34094FC8B}" type="datetimeFigureOut">
              <a:rPr lang="en-US" smtClean="0"/>
              <a:t>1/12/26</a:t>
            </a:fld>
            <a:endParaRPr lang="en-US"/>
          </a:p>
        </p:txBody>
      </p:sp>
      <p:sp>
        <p:nvSpPr>
          <p:cNvPr id="5" name="Footer Placeholder 4">
            <a:extLst>
              <a:ext uri="{FF2B5EF4-FFF2-40B4-BE49-F238E27FC236}">
                <a16:creationId xmlns:a16="http://schemas.microsoft.com/office/drawing/2014/main" id="{B3FE67F9-4DA9-E28C-0A25-48406CC4EF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1E3300-0FA8-E92C-E9A5-33188121142C}"/>
              </a:ext>
            </a:extLst>
          </p:cNvPr>
          <p:cNvSpPr>
            <a:spLocks noGrp="1"/>
          </p:cNvSpPr>
          <p:nvPr>
            <p:ph type="sldNum" sz="quarter" idx="12"/>
          </p:nvPr>
        </p:nvSpPr>
        <p:spPr/>
        <p:txBody>
          <a:bodyPr/>
          <a:lstStyle/>
          <a:p>
            <a:fld id="{D1F0400A-30B0-A643-959E-3B8868D300DA}" type="slidenum">
              <a:rPr lang="en-US" smtClean="0"/>
              <a:t>‹#›</a:t>
            </a:fld>
            <a:endParaRPr lang="en-US"/>
          </a:p>
        </p:txBody>
      </p:sp>
    </p:spTree>
    <p:extLst>
      <p:ext uri="{BB962C8B-B14F-4D97-AF65-F5344CB8AC3E}">
        <p14:creationId xmlns:p14="http://schemas.microsoft.com/office/powerpoint/2010/main" val="39182243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70F008-E7B6-6B8B-B23E-ED08F8E355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586980-0405-E5F3-B895-D423FCA8A7C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F56FA9-4AA9-F214-497E-98DB6EA9EE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2D3FF41-548D-3D45-AD13-3FA34094FC8B}" type="datetimeFigureOut">
              <a:rPr lang="en-US" smtClean="0"/>
              <a:t>1/12/26</a:t>
            </a:fld>
            <a:endParaRPr lang="en-US"/>
          </a:p>
        </p:txBody>
      </p:sp>
      <p:sp>
        <p:nvSpPr>
          <p:cNvPr id="5" name="Footer Placeholder 4">
            <a:extLst>
              <a:ext uri="{FF2B5EF4-FFF2-40B4-BE49-F238E27FC236}">
                <a16:creationId xmlns:a16="http://schemas.microsoft.com/office/drawing/2014/main" id="{85C9ACB2-A077-EE39-D5A3-589BAECB9F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650D641-D144-FBC6-C44E-E868B21B3A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1F0400A-30B0-A643-959E-3B8868D300DA}" type="slidenum">
              <a:rPr lang="en-US" smtClean="0"/>
              <a:t>‹#›</a:t>
            </a:fld>
            <a:endParaRPr lang="en-US"/>
          </a:p>
        </p:txBody>
      </p:sp>
    </p:spTree>
    <p:extLst>
      <p:ext uri="{BB962C8B-B14F-4D97-AF65-F5344CB8AC3E}">
        <p14:creationId xmlns:p14="http://schemas.microsoft.com/office/powerpoint/2010/main" val="39058464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colab.research.google.com/github/pzhou1729/2026_CRISPRscreen_GeneticsBootcamp/blob/main/mageck_tutorial.ipynb"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hyperlink" Target="https://www.anaconda.com/distribution/"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https://github.com/pzhou1729/2026_CRISPRscreen_GeneticsBootcamp.git"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github.com/liulab-dfci/MAGeCK" TargetMode="External"/><Relationship Id="rId2" Type="http://schemas.openxmlformats.org/officeDocument/2006/relationships/hyperlink" Target="https://www.youtube.com/watch?v=7V-Sjv-uQbk&amp;t=1027s"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pubmed.ncbi.nlm.nih.gov/25476604/" TargetMode="External"/><Relationship Id="rId2" Type="http://schemas.openxmlformats.org/officeDocument/2006/relationships/hyperlink" Target="https://link.springer.com/article/10.1186/gb-2010-11-10-r106#Sec1"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DA379-2613-DF65-E232-5D1FC019F428}"/>
              </a:ext>
            </a:extLst>
          </p:cNvPr>
          <p:cNvSpPr>
            <a:spLocks noGrp="1"/>
          </p:cNvSpPr>
          <p:nvPr>
            <p:ph type="ctrTitle"/>
          </p:nvPr>
        </p:nvSpPr>
        <p:spPr/>
        <p:txBody>
          <a:bodyPr/>
          <a:lstStyle/>
          <a:p>
            <a:r>
              <a:rPr lang="en-US" dirty="0" err="1"/>
              <a:t>MAGeCK</a:t>
            </a:r>
            <a:r>
              <a:rPr lang="en-US" dirty="0"/>
              <a:t> tutorial</a:t>
            </a:r>
          </a:p>
        </p:txBody>
      </p:sp>
      <p:sp>
        <p:nvSpPr>
          <p:cNvPr id="3" name="Subtitle 2">
            <a:extLst>
              <a:ext uri="{FF2B5EF4-FFF2-40B4-BE49-F238E27FC236}">
                <a16:creationId xmlns:a16="http://schemas.microsoft.com/office/drawing/2014/main" id="{6C5A1CC6-4912-98D1-AA4C-59A36792DC1D}"/>
              </a:ext>
            </a:extLst>
          </p:cNvPr>
          <p:cNvSpPr>
            <a:spLocks noGrp="1"/>
          </p:cNvSpPr>
          <p:nvPr>
            <p:ph type="subTitle" idx="1"/>
          </p:nvPr>
        </p:nvSpPr>
        <p:spPr/>
        <p:txBody>
          <a:bodyPr/>
          <a:lstStyle/>
          <a:p>
            <a:r>
              <a:rPr lang="en-US" dirty="0"/>
              <a:t>Morning Lab: CRISPR Screening Workshop 2026</a:t>
            </a:r>
          </a:p>
          <a:p>
            <a:endParaRPr lang="en-US" dirty="0"/>
          </a:p>
        </p:txBody>
      </p:sp>
    </p:spTree>
    <p:extLst>
      <p:ext uri="{BB962C8B-B14F-4D97-AF65-F5344CB8AC3E}">
        <p14:creationId xmlns:p14="http://schemas.microsoft.com/office/powerpoint/2010/main" val="3805051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B7520-36ED-B2B9-CD40-EDAFB88850E4}"/>
              </a:ext>
            </a:extLst>
          </p:cNvPr>
          <p:cNvSpPr>
            <a:spLocks noGrp="1"/>
          </p:cNvSpPr>
          <p:nvPr>
            <p:ph type="title"/>
          </p:nvPr>
        </p:nvSpPr>
        <p:spPr/>
        <p:txBody>
          <a:bodyPr/>
          <a:lstStyle/>
          <a:p>
            <a:r>
              <a:rPr lang="en-US" dirty="0" err="1"/>
              <a:t>MAGeCK</a:t>
            </a:r>
            <a:r>
              <a:rPr lang="en-US" dirty="0"/>
              <a:t> produces effect sizes given NGS data</a:t>
            </a:r>
          </a:p>
        </p:txBody>
      </p:sp>
      <p:sp>
        <p:nvSpPr>
          <p:cNvPr id="3" name="Content Placeholder 2">
            <a:extLst>
              <a:ext uri="{FF2B5EF4-FFF2-40B4-BE49-F238E27FC236}">
                <a16:creationId xmlns:a16="http://schemas.microsoft.com/office/drawing/2014/main" id="{935FB12A-F91F-AA4C-FACF-6731D496A1BD}"/>
              </a:ext>
            </a:extLst>
          </p:cNvPr>
          <p:cNvSpPr>
            <a:spLocks noGrp="1"/>
          </p:cNvSpPr>
          <p:nvPr>
            <p:ph idx="1"/>
          </p:nvPr>
        </p:nvSpPr>
        <p:spPr/>
        <p:txBody>
          <a:bodyPr/>
          <a:lstStyle/>
          <a:p>
            <a:r>
              <a:rPr lang="en-US" b="1" dirty="0"/>
              <a:t>M</a:t>
            </a:r>
            <a:r>
              <a:rPr lang="en-US" dirty="0"/>
              <a:t>odel-based </a:t>
            </a:r>
            <a:r>
              <a:rPr lang="en-US" b="1" dirty="0"/>
              <a:t>A</a:t>
            </a:r>
            <a:r>
              <a:rPr lang="en-US" dirty="0"/>
              <a:t>nalysis of </a:t>
            </a:r>
            <a:r>
              <a:rPr lang="en-US" b="1" dirty="0"/>
              <a:t>Ge</a:t>
            </a:r>
            <a:r>
              <a:rPr lang="en-US" dirty="0"/>
              <a:t>nome-wide </a:t>
            </a:r>
            <a:r>
              <a:rPr lang="en-US" b="1" dirty="0"/>
              <a:t>C</a:t>
            </a:r>
            <a:r>
              <a:rPr lang="en-US" dirty="0"/>
              <a:t>RISPR/Cas9 </a:t>
            </a:r>
            <a:r>
              <a:rPr lang="en-US" b="1" dirty="0"/>
              <a:t>K</a:t>
            </a:r>
            <a:r>
              <a:rPr lang="en-US" dirty="0"/>
              <a:t>nockout</a:t>
            </a:r>
          </a:p>
          <a:p>
            <a:r>
              <a:rPr lang="en-US" dirty="0"/>
              <a:t>How are statistically significant genes/sgRNAs identified from CRISPR screen data? </a:t>
            </a:r>
          </a:p>
        </p:txBody>
      </p:sp>
    </p:spTree>
    <p:extLst>
      <p:ext uri="{BB962C8B-B14F-4D97-AF65-F5344CB8AC3E}">
        <p14:creationId xmlns:p14="http://schemas.microsoft.com/office/powerpoint/2010/main" val="8488225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5F240-7AC1-68EB-200B-F6D7F82595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D736E8-7CC6-F6B3-111C-6C33C72F1B35}"/>
              </a:ext>
            </a:extLst>
          </p:cNvPr>
          <p:cNvSpPr>
            <a:spLocks noGrp="1"/>
          </p:cNvSpPr>
          <p:nvPr>
            <p:ph type="title"/>
          </p:nvPr>
        </p:nvSpPr>
        <p:spPr/>
        <p:txBody>
          <a:bodyPr/>
          <a:lstStyle/>
          <a:p>
            <a:r>
              <a:rPr lang="en-US" dirty="0" err="1"/>
              <a:t>MAGeCK</a:t>
            </a:r>
            <a:r>
              <a:rPr lang="en-US" dirty="0"/>
              <a:t> produces effect sizes given NGS data</a:t>
            </a:r>
          </a:p>
        </p:txBody>
      </p:sp>
      <p:sp>
        <p:nvSpPr>
          <p:cNvPr id="3" name="Content Placeholder 2">
            <a:extLst>
              <a:ext uri="{FF2B5EF4-FFF2-40B4-BE49-F238E27FC236}">
                <a16:creationId xmlns:a16="http://schemas.microsoft.com/office/drawing/2014/main" id="{8CF58894-EFBE-0929-370D-8AF3F28A11D6}"/>
              </a:ext>
            </a:extLst>
          </p:cNvPr>
          <p:cNvSpPr>
            <a:spLocks noGrp="1"/>
          </p:cNvSpPr>
          <p:nvPr>
            <p:ph idx="1"/>
          </p:nvPr>
        </p:nvSpPr>
        <p:spPr/>
        <p:txBody>
          <a:bodyPr/>
          <a:lstStyle/>
          <a:p>
            <a:r>
              <a:rPr lang="en-US" b="1" dirty="0"/>
              <a:t>M</a:t>
            </a:r>
            <a:r>
              <a:rPr lang="en-US" dirty="0"/>
              <a:t>odel-based </a:t>
            </a:r>
            <a:r>
              <a:rPr lang="en-US" b="1" dirty="0"/>
              <a:t>A</a:t>
            </a:r>
            <a:r>
              <a:rPr lang="en-US" dirty="0"/>
              <a:t>nalysis of </a:t>
            </a:r>
            <a:r>
              <a:rPr lang="en-US" b="1" dirty="0"/>
              <a:t>Ge</a:t>
            </a:r>
            <a:r>
              <a:rPr lang="en-US" dirty="0"/>
              <a:t>nome-wide </a:t>
            </a:r>
            <a:r>
              <a:rPr lang="en-US" b="1" dirty="0"/>
              <a:t>C</a:t>
            </a:r>
            <a:r>
              <a:rPr lang="en-US" dirty="0"/>
              <a:t>RISPR/Cas9 </a:t>
            </a:r>
            <a:r>
              <a:rPr lang="en-US" b="1" dirty="0"/>
              <a:t>K</a:t>
            </a:r>
            <a:r>
              <a:rPr lang="en-US" dirty="0"/>
              <a:t>nockout</a:t>
            </a:r>
          </a:p>
          <a:p>
            <a:r>
              <a:rPr lang="en-US" dirty="0"/>
              <a:t>How are statistically significant genes/sgRNAs identified from CRISPR screen data? </a:t>
            </a:r>
          </a:p>
          <a:p>
            <a:r>
              <a:rPr lang="en-US" dirty="0"/>
              <a:t>CRISPR screen data analysis challenges:</a:t>
            </a:r>
          </a:p>
          <a:p>
            <a:pPr lvl="1"/>
            <a:r>
              <a:rPr lang="en-US" dirty="0"/>
              <a:t>sgRNA sequencing reads substantially vary between biological replicates</a:t>
            </a:r>
          </a:p>
          <a:p>
            <a:pPr lvl="1"/>
            <a:r>
              <a:rPr lang="en-US" dirty="0"/>
              <a:t>How to aggregate information from multiple sgRNAs targeting the same gene? </a:t>
            </a:r>
          </a:p>
        </p:txBody>
      </p:sp>
    </p:spTree>
    <p:extLst>
      <p:ext uri="{BB962C8B-B14F-4D97-AF65-F5344CB8AC3E}">
        <p14:creationId xmlns:p14="http://schemas.microsoft.com/office/powerpoint/2010/main" val="1785413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18C99-A44C-681B-C023-214EA3D203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2DAB1F-C797-27D8-3078-4C8DEBEC4951}"/>
              </a:ext>
            </a:extLst>
          </p:cNvPr>
          <p:cNvSpPr>
            <a:spLocks noGrp="1"/>
          </p:cNvSpPr>
          <p:nvPr>
            <p:ph type="title"/>
          </p:nvPr>
        </p:nvSpPr>
        <p:spPr/>
        <p:txBody>
          <a:bodyPr/>
          <a:lstStyle/>
          <a:p>
            <a:r>
              <a:rPr lang="en-US" dirty="0" err="1"/>
              <a:t>MAGeCK</a:t>
            </a:r>
            <a:r>
              <a:rPr lang="en-US" dirty="0"/>
              <a:t> produces effect sizes given NGS data</a:t>
            </a:r>
          </a:p>
        </p:txBody>
      </p:sp>
      <p:sp>
        <p:nvSpPr>
          <p:cNvPr id="3" name="Content Placeholder 2">
            <a:extLst>
              <a:ext uri="{FF2B5EF4-FFF2-40B4-BE49-F238E27FC236}">
                <a16:creationId xmlns:a16="http://schemas.microsoft.com/office/drawing/2014/main" id="{79336882-3DE7-656F-631A-102FE1008062}"/>
              </a:ext>
            </a:extLst>
          </p:cNvPr>
          <p:cNvSpPr>
            <a:spLocks noGrp="1"/>
          </p:cNvSpPr>
          <p:nvPr>
            <p:ph idx="1"/>
          </p:nvPr>
        </p:nvSpPr>
        <p:spPr/>
        <p:txBody>
          <a:bodyPr/>
          <a:lstStyle/>
          <a:p>
            <a:r>
              <a:rPr lang="en-US" b="1" dirty="0"/>
              <a:t>M</a:t>
            </a:r>
            <a:r>
              <a:rPr lang="en-US" dirty="0"/>
              <a:t>odel-based </a:t>
            </a:r>
            <a:r>
              <a:rPr lang="en-US" b="1" dirty="0"/>
              <a:t>A</a:t>
            </a:r>
            <a:r>
              <a:rPr lang="en-US" dirty="0"/>
              <a:t>nalysis of </a:t>
            </a:r>
            <a:r>
              <a:rPr lang="en-US" b="1" dirty="0"/>
              <a:t>Ge</a:t>
            </a:r>
            <a:r>
              <a:rPr lang="en-US" dirty="0"/>
              <a:t>nome-wide </a:t>
            </a:r>
            <a:r>
              <a:rPr lang="en-US" b="1" dirty="0"/>
              <a:t>C</a:t>
            </a:r>
            <a:r>
              <a:rPr lang="en-US" dirty="0"/>
              <a:t>RISPR/Cas9 </a:t>
            </a:r>
            <a:r>
              <a:rPr lang="en-US" b="1" dirty="0"/>
              <a:t>K</a:t>
            </a:r>
            <a:r>
              <a:rPr lang="en-US" dirty="0"/>
              <a:t>nockout</a:t>
            </a:r>
          </a:p>
          <a:p>
            <a:r>
              <a:rPr lang="en-US" dirty="0"/>
              <a:t>How are statistically significant genes/sgRNAs identified from CRISPR screen data? </a:t>
            </a:r>
          </a:p>
          <a:p>
            <a:r>
              <a:rPr lang="en-US" dirty="0"/>
              <a:t>CRISPR screen data analysis challenges:</a:t>
            </a:r>
          </a:p>
          <a:p>
            <a:pPr lvl="1"/>
            <a:r>
              <a:rPr lang="en-US" dirty="0"/>
              <a:t>sgRNA sequencing reads substantially vary between biological replicates</a:t>
            </a:r>
          </a:p>
          <a:p>
            <a:pPr lvl="1"/>
            <a:r>
              <a:rPr lang="en-US" dirty="0"/>
              <a:t>How to aggregate information from multiple sgRNAs targeting the same gene? </a:t>
            </a:r>
          </a:p>
          <a:p>
            <a:r>
              <a:rPr lang="en-US" dirty="0"/>
              <a:t>Idea: Statistical testing to identify essential sgRNAs, genes, and pathways from CRISPR screens</a:t>
            </a:r>
          </a:p>
          <a:p>
            <a:endParaRPr lang="en-US" dirty="0"/>
          </a:p>
        </p:txBody>
      </p:sp>
    </p:spTree>
    <p:extLst>
      <p:ext uri="{BB962C8B-B14F-4D97-AF65-F5344CB8AC3E}">
        <p14:creationId xmlns:p14="http://schemas.microsoft.com/office/powerpoint/2010/main" val="3435365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18437-011F-6550-8267-34A12B53A5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88A056-22D0-7F4B-B175-99AB63BC6F0B}"/>
              </a:ext>
            </a:extLst>
          </p:cNvPr>
          <p:cNvSpPr>
            <a:spLocks noGrp="1"/>
          </p:cNvSpPr>
          <p:nvPr>
            <p:ph type="title"/>
          </p:nvPr>
        </p:nvSpPr>
        <p:spPr/>
        <p:txBody>
          <a:bodyPr/>
          <a:lstStyle/>
          <a:p>
            <a:r>
              <a:rPr lang="en-US" dirty="0"/>
              <a:t>How </a:t>
            </a:r>
            <a:r>
              <a:rPr lang="en-US" dirty="0" err="1"/>
              <a:t>MAGeCK</a:t>
            </a:r>
            <a:r>
              <a:rPr lang="en-US" dirty="0"/>
              <a:t> works</a:t>
            </a:r>
          </a:p>
        </p:txBody>
      </p:sp>
      <p:sp>
        <p:nvSpPr>
          <p:cNvPr id="6" name="Content Placeholder 2">
            <a:extLst>
              <a:ext uri="{FF2B5EF4-FFF2-40B4-BE49-F238E27FC236}">
                <a16:creationId xmlns:a16="http://schemas.microsoft.com/office/drawing/2014/main" id="{00E7EB23-4942-FD72-3FEB-5EEB7B7D94E5}"/>
              </a:ext>
            </a:extLst>
          </p:cNvPr>
          <p:cNvSpPr>
            <a:spLocks noGrp="1"/>
          </p:cNvSpPr>
          <p:nvPr>
            <p:ph idx="1"/>
          </p:nvPr>
        </p:nvSpPr>
        <p:spPr>
          <a:xfrm>
            <a:off x="838200" y="1825625"/>
            <a:ext cx="8395010" cy="4351338"/>
          </a:xfrm>
        </p:spPr>
        <p:txBody>
          <a:bodyPr/>
          <a:lstStyle/>
          <a:p>
            <a:r>
              <a:rPr lang="en-US" b="1" dirty="0"/>
              <a:t>Median normalization</a:t>
            </a:r>
          </a:p>
          <a:p>
            <a:r>
              <a:rPr lang="en-US" dirty="0"/>
              <a:t>sgRNA mean-variance modeling</a:t>
            </a:r>
          </a:p>
          <a:p>
            <a:r>
              <a:rPr lang="en-US" dirty="0"/>
              <a:t>sgRNA ranking</a:t>
            </a:r>
          </a:p>
          <a:p>
            <a:r>
              <a:rPr lang="en-US" dirty="0"/>
              <a:t>Essential gene identification</a:t>
            </a:r>
          </a:p>
          <a:p>
            <a:r>
              <a:rPr lang="en-US" dirty="0"/>
              <a:t>Enriched pathway identification</a:t>
            </a:r>
          </a:p>
        </p:txBody>
      </p:sp>
      <p:pic>
        <p:nvPicPr>
          <p:cNvPr id="7" name="Picture 6" descr="A screenshot of a diagram&#10;&#10;AI-generated content may be incorrect.">
            <a:extLst>
              <a:ext uri="{FF2B5EF4-FFF2-40B4-BE49-F238E27FC236}">
                <a16:creationId xmlns:a16="http://schemas.microsoft.com/office/drawing/2014/main" id="{F7995F94-E7E5-7AEF-38D7-AA6BCA07D80F}"/>
              </a:ext>
            </a:extLst>
          </p:cNvPr>
          <p:cNvPicPr>
            <a:picLocks noChangeAspect="1"/>
          </p:cNvPicPr>
          <p:nvPr/>
        </p:nvPicPr>
        <p:blipFill>
          <a:blip r:embed="rId3"/>
          <a:stretch>
            <a:fillRect/>
          </a:stretch>
        </p:blipFill>
        <p:spPr>
          <a:xfrm>
            <a:off x="7012021" y="0"/>
            <a:ext cx="5179979" cy="6858000"/>
          </a:xfrm>
          <a:prstGeom prst="rect">
            <a:avLst/>
          </a:prstGeom>
        </p:spPr>
      </p:pic>
    </p:spTree>
    <p:extLst>
      <p:ext uri="{BB962C8B-B14F-4D97-AF65-F5344CB8AC3E}">
        <p14:creationId xmlns:p14="http://schemas.microsoft.com/office/powerpoint/2010/main" val="3923648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622FA-0B43-C982-7299-EB8F878C03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EA3EB5-914F-AD41-4083-A35321720E41}"/>
              </a:ext>
            </a:extLst>
          </p:cNvPr>
          <p:cNvSpPr>
            <a:spLocks noGrp="1"/>
          </p:cNvSpPr>
          <p:nvPr>
            <p:ph type="title"/>
          </p:nvPr>
        </p:nvSpPr>
        <p:spPr/>
        <p:txBody>
          <a:bodyPr/>
          <a:lstStyle/>
          <a:p>
            <a:r>
              <a:rPr lang="en-US" dirty="0"/>
              <a:t>How </a:t>
            </a:r>
            <a:r>
              <a:rPr lang="en-US" dirty="0" err="1"/>
              <a:t>MAGeCK</a:t>
            </a:r>
            <a:r>
              <a:rPr lang="en-US" dirty="0"/>
              <a:t> works</a:t>
            </a:r>
          </a:p>
        </p:txBody>
      </p:sp>
      <p:sp>
        <p:nvSpPr>
          <p:cNvPr id="6" name="Content Placeholder 2">
            <a:extLst>
              <a:ext uri="{FF2B5EF4-FFF2-40B4-BE49-F238E27FC236}">
                <a16:creationId xmlns:a16="http://schemas.microsoft.com/office/drawing/2014/main" id="{68446A9C-B7CB-DF9A-1586-29C635150258}"/>
              </a:ext>
            </a:extLst>
          </p:cNvPr>
          <p:cNvSpPr>
            <a:spLocks noGrp="1"/>
          </p:cNvSpPr>
          <p:nvPr>
            <p:ph idx="1"/>
          </p:nvPr>
        </p:nvSpPr>
        <p:spPr>
          <a:xfrm>
            <a:off x="838200" y="1825625"/>
            <a:ext cx="2752493" cy="4351338"/>
          </a:xfrm>
        </p:spPr>
        <p:txBody>
          <a:bodyPr/>
          <a:lstStyle/>
          <a:p>
            <a:r>
              <a:rPr lang="en-US" dirty="0"/>
              <a:t>Why use median normalization?</a:t>
            </a:r>
          </a:p>
          <a:p>
            <a:pPr marL="0" indent="0">
              <a:buNone/>
            </a:pPr>
            <a:endParaRPr lang="en-US" dirty="0"/>
          </a:p>
        </p:txBody>
      </p:sp>
      <p:sp>
        <p:nvSpPr>
          <p:cNvPr id="8" name="TextBox 7">
            <a:extLst>
              <a:ext uri="{FF2B5EF4-FFF2-40B4-BE49-F238E27FC236}">
                <a16:creationId xmlns:a16="http://schemas.microsoft.com/office/drawing/2014/main" id="{432E8796-994B-25C1-84D5-9683DFA8A891}"/>
              </a:ext>
            </a:extLst>
          </p:cNvPr>
          <p:cNvSpPr txBox="1"/>
          <p:nvPr/>
        </p:nvSpPr>
        <p:spPr>
          <a:xfrm>
            <a:off x="5688982" y="6000432"/>
            <a:ext cx="6099716" cy="492443"/>
          </a:xfrm>
          <a:prstGeom prst="rect">
            <a:avLst/>
          </a:prstGeom>
          <a:noFill/>
        </p:spPr>
        <p:txBody>
          <a:bodyPr wrap="square">
            <a:spAutoFit/>
          </a:bodyPr>
          <a:lstStyle/>
          <a:p>
            <a:pPr algn="r"/>
            <a:endParaRPr lang="en-US" sz="1300" dirty="0"/>
          </a:p>
          <a:p>
            <a:pPr algn="r"/>
            <a:r>
              <a:rPr lang="en-US" sz="1300" dirty="0"/>
              <a:t>https://</a:t>
            </a:r>
            <a:r>
              <a:rPr lang="en-US" sz="1300" dirty="0" err="1"/>
              <a:t>mbernste.github.io</a:t>
            </a:r>
            <a:r>
              <a:rPr lang="en-US" sz="1300" dirty="0"/>
              <a:t>/posts/</a:t>
            </a:r>
            <a:r>
              <a:rPr lang="en-US" sz="1300" dirty="0" err="1"/>
              <a:t>median_ratio_norm</a:t>
            </a:r>
            <a:r>
              <a:rPr lang="en-US" sz="1300" dirty="0"/>
              <a:t>/</a:t>
            </a:r>
          </a:p>
        </p:txBody>
      </p:sp>
      <p:pic>
        <p:nvPicPr>
          <p:cNvPr id="9" name="Picture 8">
            <a:extLst>
              <a:ext uri="{FF2B5EF4-FFF2-40B4-BE49-F238E27FC236}">
                <a16:creationId xmlns:a16="http://schemas.microsoft.com/office/drawing/2014/main" id="{EB51AEEB-AD9F-F813-99A6-7141B647C5AF}"/>
              </a:ext>
            </a:extLst>
          </p:cNvPr>
          <p:cNvPicPr>
            <a:picLocks noChangeAspect="1"/>
          </p:cNvPicPr>
          <p:nvPr/>
        </p:nvPicPr>
        <p:blipFill>
          <a:blip r:embed="rId3"/>
          <a:stretch>
            <a:fillRect/>
          </a:stretch>
        </p:blipFill>
        <p:spPr>
          <a:xfrm>
            <a:off x="4016298" y="1512366"/>
            <a:ext cx="7772400" cy="4636719"/>
          </a:xfrm>
          <a:prstGeom prst="rect">
            <a:avLst/>
          </a:prstGeom>
        </p:spPr>
      </p:pic>
    </p:spTree>
    <p:extLst>
      <p:ext uri="{BB962C8B-B14F-4D97-AF65-F5344CB8AC3E}">
        <p14:creationId xmlns:p14="http://schemas.microsoft.com/office/powerpoint/2010/main" val="1574665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60C7A-C90D-F64B-8852-1EDFE5F2FC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C8D072-1768-E770-367B-C3BC457F0CBB}"/>
              </a:ext>
            </a:extLst>
          </p:cNvPr>
          <p:cNvSpPr>
            <a:spLocks noGrp="1"/>
          </p:cNvSpPr>
          <p:nvPr>
            <p:ph type="title"/>
          </p:nvPr>
        </p:nvSpPr>
        <p:spPr/>
        <p:txBody>
          <a:bodyPr/>
          <a:lstStyle/>
          <a:p>
            <a:r>
              <a:rPr lang="en-US" dirty="0"/>
              <a:t>How </a:t>
            </a:r>
            <a:r>
              <a:rPr lang="en-US" dirty="0" err="1"/>
              <a:t>MAGeCK</a:t>
            </a:r>
            <a:r>
              <a:rPr lang="en-US" dirty="0"/>
              <a:t> works</a:t>
            </a:r>
          </a:p>
        </p:txBody>
      </p:sp>
      <p:sp>
        <p:nvSpPr>
          <p:cNvPr id="6" name="Content Placeholder 2">
            <a:extLst>
              <a:ext uri="{FF2B5EF4-FFF2-40B4-BE49-F238E27FC236}">
                <a16:creationId xmlns:a16="http://schemas.microsoft.com/office/drawing/2014/main" id="{009B306A-BED7-2742-3EA8-17445F310104}"/>
              </a:ext>
            </a:extLst>
          </p:cNvPr>
          <p:cNvSpPr>
            <a:spLocks noGrp="1"/>
          </p:cNvSpPr>
          <p:nvPr>
            <p:ph idx="1"/>
          </p:nvPr>
        </p:nvSpPr>
        <p:spPr>
          <a:xfrm>
            <a:off x="838200" y="1825625"/>
            <a:ext cx="2752493" cy="4351338"/>
          </a:xfrm>
        </p:spPr>
        <p:txBody>
          <a:bodyPr/>
          <a:lstStyle/>
          <a:p>
            <a:r>
              <a:rPr lang="en-US" dirty="0"/>
              <a:t>Why use median normalization?</a:t>
            </a:r>
          </a:p>
          <a:p>
            <a:r>
              <a:rPr lang="en-US" dirty="0"/>
              <a:t> To eliminate global technical effects (e.g. read depth)</a:t>
            </a:r>
          </a:p>
        </p:txBody>
      </p:sp>
      <p:sp>
        <p:nvSpPr>
          <p:cNvPr id="8" name="TextBox 7">
            <a:extLst>
              <a:ext uri="{FF2B5EF4-FFF2-40B4-BE49-F238E27FC236}">
                <a16:creationId xmlns:a16="http://schemas.microsoft.com/office/drawing/2014/main" id="{80BE7FE0-E031-8838-F5FE-4C19808942CE}"/>
              </a:ext>
            </a:extLst>
          </p:cNvPr>
          <p:cNvSpPr txBox="1"/>
          <p:nvPr/>
        </p:nvSpPr>
        <p:spPr>
          <a:xfrm>
            <a:off x="5688982" y="6000432"/>
            <a:ext cx="6099716" cy="492443"/>
          </a:xfrm>
          <a:prstGeom prst="rect">
            <a:avLst/>
          </a:prstGeom>
          <a:noFill/>
        </p:spPr>
        <p:txBody>
          <a:bodyPr wrap="square">
            <a:spAutoFit/>
          </a:bodyPr>
          <a:lstStyle/>
          <a:p>
            <a:pPr algn="r"/>
            <a:endParaRPr lang="en-US" sz="1300" dirty="0"/>
          </a:p>
          <a:p>
            <a:pPr algn="r"/>
            <a:r>
              <a:rPr lang="en-US" sz="1300" dirty="0"/>
              <a:t>https://</a:t>
            </a:r>
            <a:r>
              <a:rPr lang="en-US" sz="1300" dirty="0" err="1"/>
              <a:t>mbernste.github.io</a:t>
            </a:r>
            <a:r>
              <a:rPr lang="en-US" sz="1300" dirty="0"/>
              <a:t>/posts/</a:t>
            </a:r>
            <a:r>
              <a:rPr lang="en-US" sz="1300" dirty="0" err="1"/>
              <a:t>median_ratio_norm</a:t>
            </a:r>
            <a:r>
              <a:rPr lang="en-US" sz="1300" dirty="0"/>
              <a:t>/</a:t>
            </a:r>
          </a:p>
        </p:txBody>
      </p:sp>
      <p:pic>
        <p:nvPicPr>
          <p:cNvPr id="9" name="Picture 8">
            <a:extLst>
              <a:ext uri="{FF2B5EF4-FFF2-40B4-BE49-F238E27FC236}">
                <a16:creationId xmlns:a16="http://schemas.microsoft.com/office/drawing/2014/main" id="{CE561A6A-837A-167A-DF31-F08795930F44}"/>
              </a:ext>
            </a:extLst>
          </p:cNvPr>
          <p:cNvPicPr>
            <a:picLocks noChangeAspect="1"/>
          </p:cNvPicPr>
          <p:nvPr/>
        </p:nvPicPr>
        <p:blipFill>
          <a:blip r:embed="rId3"/>
          <a:stretch>
            <a:fillRect/>
          </a:stretch>
        </p:blipFill>
        <p:spPr>
          <a:xfrm>
            <a:off x="4016298" y="1512366"/>
            <a:ext cx="7772400" cy="4636719"/>
          </a:xfrm>
          <a:prstGeom prst="rect">
            <a:avLst/>
          </a:prstGeom>
        </p:spPr>
      </p:pic>
    </p:spTree>
    <p:extLst>
      <p:ext uri="{BB962C8B-B14F-4D97-AF65-F5344CB8AC3E}">
        <p14:creationId xmlns:p14="http://schemas.microsoft.com/office/powerpoint/2010/main" val="2013743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FDC64-6298-CE82-A5DF-343ADF611B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021267-1ABE-1510-BEEF-C8E4B44B0D5A}"/>
              </a:ext>
            </a:extLst>
          </p:cNvPr>
          <p:cNvSpPr>
            <a:spLocks noGrp="1"/>
          </p:cNvSpPr>
          <p:nvPr>
            <p:ph type="title"/>
          </p:nvPr>
        </p:nvSpPr>
        <p:spPr/>
        <p:txBody>
          <a:bodyPr/>
          <a:lstStyle/>
          <a:p>
            <a:r>
              <a:rPr lang="en-US" dirty="0"/>
              <a:t>How </a:t>
            </a:r>
            <a:r>
              <a:rPr lang="en-US" dirty="0" err="1"/>
              <a:t>MAGeCK</a:t>
            </a:r>
            <a:r>
              <a:rPr lang="en-US" dirty="0"/>
              <a:t> works</a:t>
            </a:r>
          </a:p>
        </p:txBody>
      </p:sp>
      <p:sp>
        <p:nvSpPr>
          <p:cNvPr id="6" name="Content Placeholder 2">
            <a:extLst>
              <a:ext uri="{FF2B5EF4-FFF2-40B4-BE49-F238E27FC236}">
                <a16:creationId xmlns:a16="http://schemas.microsoft.com/office/drawing/2014/main" id="{48D49F36-779A-B560-422E-43FD349F929F}"/>
              </a:ext>
            </a:extLst>
          </p:cNvPr>
          <p:cNvSpPr>
            <a:spLocks noGrp="1"/>
          </p:cNvSpPr>
          <p:nvPr>
            <p:ph idx="1"/>
          </p:nvPr>
        </p:nvSpPr>
        <p:spPr>
          <a:xfrm>
            <a:off x="838200" y="1825625"/>
            <a:ext cx="8395010" cy="4351338"/>
          </a:xfrm>
        </p:spPr>
        <p:txBody>
          <a:bodyPr/>
          <a:lstStyle/>
          <a:p>
            <a:r>
              <a:rPr lang="en-US" dirty="0"/>
              <a:t>Median normalization</a:t>
            </a:r>
          </a:p>
          <a:p>
            <a:r>
              <a:rPr lang="en-US" b="1" dirty="0"/>
              <a:t>sgRNA mean-variance modeling</a:t>
            </a:r>
          </a:p>
          <a:p>
            <a:r>
              <a:rPr lang="en-US" dirty="0"/>
              <a:t>sgRNA ranking</a:t>
            </a:r>
          </a:p>
          <a:p>
            <a:r>
              <a:rPr lang="en-US" dirty="0"/>
              <a:t>Essential gene identification</a:t>
            </a:r>
          </a:p>
          <a:p>
            <a:r>
              <a:rPr lang="en-US" dirty="0"/>
              <a:t>Enriched pathway identification</a:t>
            </a:r>
          </a:p>
        </p:txBody>
      </p:sp>
      <p:pic>
        <p:nvPicPr>
          <p:cNvPr id="7" name="Picture 6" descr="A screenshot of a diagram&#10;&#10;AI-generated content may be incorrect.">
            <a:extLst>
              <a:ext uri="{FF2B5EF4-FFF2-40B4-BE49-F238E27FC236}">
                <a16:creationId xmlns:a16="http://schemas.microsoft.com/office/drawing/2014/main" id="{194B811A-193B-C66A-016F-1E06D9D6E4AA}"/>
              </a:ext>
            </a:extLst>
          </p:cNvPr>
          <p:cNvPicPr>
            <a:picLocks noChangeAspect="1"/>
          </p:cNvPicPr>
          <p:nvPr/>
        </p:nvPicPr>
        <p:blipFill>
          <a:blip r:embed="rId3"/>
          <a:stretch>
            <a:fillRect/>
          </a:stretch>
        </p:blipFill>
        <p:spPr>
          <a:xfrm>
            <a:off x="7012021" y="0"/>
            <a:ext cx="5179979" cy="6858000"/>
          </a:xfrm>
          <a:prstGeom prst="rect">
            <a:avLst/>
          </a:prstGeom>
        </p:spPr>
      </p:pic>
    </p:spTree>
    <p:extLst>
      <p:ext uri="{BB962C8B-B14F-4D97-AF65-F5344CB8AC3E}">
        <p14:creationId xmlns:p14="http://schemas.microsoft.com/office/powerpoint/2010/main" val="16991370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6EE14-3944-17A2-E35D-A3EDEEC356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C965BC-CC61-52C9-07EE-12DC37ED8BB4}"/>
              </a:ext>
            </a:extLst>
          </p:cNvPr>
          <p:cNvSpPr>
            <a:spLocks noGrp="1"/>
          </p:cNvSpPr>
          <p:nvPr>
            <p:ph type="title"/>
          </p:nvPr>
        </p:nvSpPr>
        <p:spPr/>
        <p:txBody>
          <a:bodyPr/>
          <a:lstStyle/>
          <a:p>
            <a:r>
              <a:rPr lang="en-US" dirty="0"/>
              <a:t>How </a:t>
            </a:r>
            <a:r>
              <a:rPr lang="en-US" dirty="0" err="1"/>
              <a:t>MAGeCK</a:t>
            </a:r>
            <a:r>
              <a:rPr lang="en-US" dirty="0"/>
              <a:t> works</a:t>
            </a:r>
          </a:p>
        </p:txBody>
      </p:sp>
      <p:sp>
        <p:nvSpPr>
          <p:cNvPr id="6" name="Content Placeholder 2">
            <a:extLst>
              <a:ext uri="{FF2B5EF4-FFF2-40B4-BE49-F238E27FC236}">
                <a16:creationId xmlns:a16="http://schemas.microsoft.com/office/drawing/2014/main" id="{97554E99-643E-DB64-D293-F3E6D067C357}"/>
              </a:ext>
            </a:extLst>
          </p:cNvPr>
          <p:cNvSpPr>
            <a:spLocks noGrp="1"/>
          </p:cNvSpPr>
          <p:nvPr>
            <p:ph idx="1"/>
          </p:nvPr>
        </p:nvSpPr>
        <p:spPr>
          <a:xfrm>
            <a:off x="838200" y="1825625"/>
            <a:ext cx="8395010" cy="4351338"/>
          </a:xfrm>
        </p:spPr>
        <p:txBody>
          <a:bodyPr/>
          <a:lstStyle/>
          <a:p>
            <a:r>
              <a:rPr lang="en-US" dirty="0"/>
              <a:t>Median normalization</a:t>
            </a:r>
          </a:p>
          <a:p>
            <a:r>
              <a:rPr lang="en-US" dirty="0"/>
              <a:t>sgRNA mean-variance modeling</a:t>
            </a:r>
          </a:p>
          <a:p>
            <a:r>
              <a:rPr lang="en-US" b="1" dirty="0"/>
              <a:t>sgRNA ranking</a:t>
            </a:r>
          </a:p>
          <a:p>
            <a:r>
              <a:rPr lang="en-US" dirty="0"/>
              <a:t>Essential gene identification</a:t>
            </a:r>
          </a:p>
          <a:p>
            <a:r>
              <a:rPr lang="en-US" dirty="0"/>
              <a:t>Enriched pathway identification</a:t>
            </a:r>
          </a:p>
        </p:txBody>
      </p:sp>
      <p:pic>
        <p:nvPicPr>
          <p:cNvPr id="7" name="Picture 6" descr="A screenshot of a diagram&#10;&#10;AI-generated content may be incorrect.">
            <a:extLst>
              <a:ext uri="{FF2B5EF4-FFF2-40B4-BE49-F238E27FC236}">
                <a16:creationId xmlns:a16="http://schemas.microsoft.com/office/drawing/2014/main" id="{C80B5C70-4D29-8619-FA58-96692C79F01D}"/>
              </a:ext>
            </a:extLst>
          </p:cNvPr>
          <p:cNvPicPr>
            <a:picLocks noChangeAspect="1"/>
          </p:cNvPicPr>
          <p:nvPr/>
        </p:nvPicPr>
        <p:blipFill>
          <a:blip r:embed="rId3"/>
          <a:stretch>
            <a:fillRect/>
          </a:stretch>
        </p:blipFill>
        <p:spPr>
          <a:xfrm>
            <a:off x="7012021" y="0"/>
            <a:ext cx="5179979" cy="6858000"/>
          </a:xfrm>
          <a:prstGeom prst="rect">
            <a:avLst/>
          </a:prstGeom>
        </p:spPr>
      </p:pic>
    </p:spTree>
    <p:extLst>
      <p:ext uri="{BB962C8B-B14F-4D97-AF65-F5344CB8AC3E}">
        <p14:creationId xmlns:p14="http://schemas.microsoft.com/office/powerpoint/2010/main" val="3727823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D2A39-417A-EDCA-7AAE-85B07AAA5D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45E5E5-A4D1-B5D8-F628-360723672661}"/>
              </a:ext>
            </a:extLst>
          </p:cNvPr>
          <p:cNvSpPr>
            <a:spLocks noGrp="1"/>
          </p:cNvSpPr>
          <p:nvPr>
            <p:ph type="title"/>
          </p:nvPr>
        </p:nvSpPr>
        <p:spPr/>
        <p:txBody>
          <a:bodyPr/>
          <a:lstStyle/>
          <a:p>
            <a:r>
              <a:rPr lang="en-US" dirty="0"/>
              <a:t>LDL uptake screen workflow</a:t>
            </a:r>
          </a:p>
        </p:txBody>
      </p:sp>
      <p:pic>
        <p:nvPicPr>
          <p:cNvPr id="3" name="Picture 2">
            <a:extLst>
              <a:ext uri="{FF2B5EF4-FFF2-40B4-BE49-F238E27FC236}">
                <a16:creationId xmlns:a16="http://schemas.microsoft.com/office/drawing/2014/main" id="{ED87B2BD-BC3D-F958-52CC-21D1C69A782D}"/>
              </a:ext>
            </a:extLst>
          </p:cNvPr>
          <p:cNvPicPr>
            <a:picLocks noChangeAspect="1"/>
          </p:cNvPicPr>
          <p:nvPr/>
        </p:nvPicPr>
        <p:blipFill>
          <a:blip r:embed="rId3"/>
          <a:srcRect t="23246" b="57930"/>
          <a:stretch>
            <a:fillRect/>
          </a:stretch>
        </p:blipFill>
        <p:spPr>
          <a:xfrm>
            <a:off x="1181286" y="1484902"/>
            <a:ext cx="9829427" cy="2072337"/>
          </a:xfrm>
          <a:prstGeom prst="rect">
            <a:avLst/>
          </a:prstGeom>
        </p:spPr>
      </p:pic>
      <p:sp>
        <p:nvSpPr>
          <p:cNvPr id="4" name="Content Placeholder 2">
            <a:extLst>
              <a:ext uri="{FF2B5EF4-FFF2-40B4-BE49-F238E27FC236}">
                <a16:creationId xmlns:a16="http://schemas.microsoft.com/office/drawing/2014/main" id="{8252018E-C490-7EB6-93B2-56A965C1E7E3}"/>
              </a:ext>
            </a:extLst>
          </p:cNvPr>
          <p:cNvSpPr txBox="1">
            <a:spLocks/>
          </p:cNvSpPr>
          <p:nvPr/>
        </p:nvSpPr>
        <p:spPr>
          <a:xfrm>
            <a:off x="8596238" y="3557239"/>
            <a:ext cx="2414475" cy="4101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300" dirty="0"/>
              <a:t>Figure 1B, Hamilton et al. 2020</a:t>
            </a:r>
          </a:p>
        </p:txBody>
      </p:sp>
      <p:sp>
        <p:nvSpPr>
          <p:cNvPr id="6" name="Content Placeholder 2">
            <a:extLst>
              <a:ext uri="{FF2B5EF4-FFF2-40B4-BE49-F238E27FC236}">
                <a16:creationId xmlns:a16="http://schemas.microsoft.com/office/drawing/2014/main" id="{AFED0AB5-1627-7532-62B3-0A1D85777EF7}"/>
              </a:ext>
            </a:extLst>
          </p:cNvPr>
          <p:cNvSpPr>
            <a:spLocks noGrp="1"/>
          </p:cNvSpPr>
          <p:nvPr>
            <p:ph idx="1"/>
          </p:nvPr>
        </p:nvSpPr>
        <p:spPr>
          <a:xfrm>
            <a:off x="838200" y="4116335"/>
            <a:ext cx="10515600" cy="2209590"/>
          </a:xfrm>
        </p:spPr>
        <p:txBody>
          <a:bodyPr>
            <a:normAutofit/>
          </a:bodyPr>
          <a:lstStyle/>
          <a:p>
            <a:r>
              <a:rPr lang="en-US" dirty="0"/>
              <a:t>Infect HepG2s (SER vs. SS) with lentiviruses containing sgRNA library</a:t>
            </a:r>
          </a:p>
        </p:txBody>
      </p:sp>
      <p:sp>
        <p:nvSpPr>
          <p:cNvPr id="8" name="Rectangle 7">
            <a:extLst>
              <a:ext uri="{FF2B5EF4-FFF2-40B4-BE49-F238E27FC236}">
                <a16:creationId xmlns:a16="http://schemas.microsoft.com/office/drawing/2014/main" id="{E3F90BEB-D151-7595-F4CF-4C7900846C21}"/>
              </a:ext>
            </a:extLst>
          </p:cNvPr>
          <p:cNvSpPr/>
          <p:nvPr/>
        </p:nvSpPr>
        <p:spPr>
          <a:xfrm>
            <a:off x="4120377" y="3133493"/>
            <a:ext cx="1912434" cy="34011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spTree>
    <p:extLst>
      <p:ext uri="{BB962C8B-B14F-4D97-AF65-F5344CB8AC3E}">
        <p14:creationId xmlns:p14="http://schemas.microsoft.com/office/powerpoint/2010/main" val="34255502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201B1-8220-74C4-FE33-28CEF25618E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6719BD5-D815-B25B-2329-F4D8ED32A055}"/>
              </a:ext>
            </a:extLst>
          </p:cNvPr>
          <p:cNvPicPr>
            <a:picLocks noChangeAspect="1"/>
          </p:cNvPicPr>
          <p:nvPr/>
        </p:nvPicPr>
        <p:blipFill>
          <a:blip r:embed="rId3"/>
          <a:srcRect t="23246" b="57930"/>
          <a:stretch>
            <a:fillRect/>
          </a:stretch>
        </p:blipFill>
        <p:spPr>
          <a:xfrm>
            <a:off x="1181286" y="1484902"/>
            <a:ext cx="9829427" cy="2072337"/>
          </a:xfrm>
          <a:prstGeom prst="rect">
            <a:avLst/>
          </a:prstGeom>
        </p:spPr>
      </p:pic>
      <p:sp>
        <p:nvSpPr>
          <p:cNvPr id="4" name="Content Placeholder 2">
            <a:extLst>
              <a:ext uri="{FF2B5EF4-FFF2-40B4-BE49-F238E27FC236}">
                <a16:creationId xmlns:a16="http://schemas.microsoft.com/office/drawing/2014/main" id="{648D1CF1-2D65-7ABF-9812-22F8AE716290}"/>
              </a:ext>
            </a:extLst>
          </p:cNvPr>
          <p:cNvSpPr txBox="1">
            <a:spLocks/>
          </p:cNvSpPr>
          <p:nvPr/>
        </p:nvSpPr>
        <p:spPr>
          <a:xfrm>
            <a:off x="8596238" y="3557239"/>
            <a:ext cx="2414475" cy="4101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300" dirty="0"/>
              <a:t>Figure 1B, Hamilton et al. 2020</a:t>
            </a:r>
          </a:p>
        </p:txBody>
      </p:sp>
      <p:sp>
        <p:nvSpPr>
          <p:cNvPr id="6" name="Content Placeholder 2">
            <a:extLst>
              <a:ext uri="{FF2B5EF4-FFF2-40B4-BE49-F238E27FC236}">
                <a16:creationId xmlns:a16="http://schemas.microsoft.com/office/drawing/2014/main" id="{0F0103D4-1066-7E18-88A3-2606BF5147B4}"/>
              </a:ext>
            </a:extLst>
          </p:cNvPr>
          <p:cNvSpPr>
            <a:spLocks noGrp="1"/>
          </p:cNvSpPr>
          <p:nvPr>
            <p:ph idx="1"/>
          </p:nvPr>
        </p:nvSpPr>
        <p:spPr>
          <a:xfrm>
            <a:off x="838200" y="4116335"/>
            <a:ext cx="10515600" cy="2209590"/>
          </a:xfrm>
        </p:spPr>
        <p:txBody>
          <a:bodyPr>
            <a:normAutofit/>
          </a:bodyPr>
          <a:lstStyle/>
          <a:p>
            <a:r>
              <a:rPr lang="en-US" dirty="0"/>
              <a:t>Infect HepG2s (SER vs. SS) with lentiviruses containing sgRNA library</a:t>
            </a:r>
          </a:p>
          <a:p>
            <a:r>
              <a:rPr lang="en-US" dirty="0"/>
              <a:t>Feed HepG2s with fluorescent cholesterol and sort via FACS</a:t>
            </a:r>
          </a:p>
        </p:txBody>
      </p:sp>
      <p:sp>
        <p:nvSpPr>
          <p:cNvPr id="8" name="Rectangle 7">
            <a:extLst>
              <a:ext uri="{FF2B5EF4-FFF2-40B4-BE49-F238E27FC236}">
                <a16:creationId xmlns:a16="http://schemas.microsoft.com/office/drawing/2014/main" id="{E69D178A-4A00-F78E-E258-ED7A54B1DD6C}"/>
              </a:ext>
            </a:extLst>
          </p:cNvPr>
          <p:cNvSpPr/>
          <p:nvPr/>
        </p:nvSpPr>
        <p:spPr>
          <a:xfrm>
            <a:off x="4120377" y="3133493"/>
            <a:ext cx="1912434" cy="34011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sp>
        <p:nvSpPr>
          <p:cNvPr id="10" name="Title 1">
            <a:extLst>
              <a:ext uri="{FF2B5EF4-FFF2-40B4-BE49-F238E27FC236}">
                <a16:creationId xmlns:a16="http://schemas.microsoft.com/office/drawing/2014/main" id="{005EE45A-597E-B431-312F-0FA3BAB369F0}"/>
              </a:ext>
            </a:extLst>
          </p:cNvPr>
          <p:cNvSpPr>
            <a:spLocks noGrp="1"/>
          </p:cNvSpPr>
          <p:nvPr>
            <p:ph type="title"/>
          </p:nvPr>
        </p:nvSpPr>
        <p:spPr>
          <a:xfrm>
            <a:off x="838200" y="365125"/>
            <a:ext cx="10515600" cy="1325563"/>
          </a:xfrm>
        </p:spPr>
        <p:txBody>
          <a:bodyPr/>
          <a:lstStyle/>
          <a:p>
            <a:r>
              <a:rPr lang="en-US" dirty="0"/>
              <a:t>LDL uptake screen workflow</a:t>
            </a:r>
          </a:p>
        </p:txBody>
      </p:sp>
    </p:spTree>
    <p:extLst>
      <p:ext uri="{BB962C8B-B14F-4D97-AF65-F5344CB8AC3E}">
        <p14:creationId xmlns:p14="http://schemas.microsoft.com/office/powerpoint/2010/main" val="464940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6268B-FC22-BBFE-6441-392CC51B31F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EA86DF3-4B36-CAE7-DC4B-0D85D379B4E7}"/>
              </a:ext>
            </a:extLst>
          </p:cNvPr>
          <p:cNvPicPr>
            <a:picLocks noChangeAspect="1"/>
          </p:cNvPicPr>
          <p:nvPr/>
        </p:nvPicPr>
        <p:blipFill>
          <a:blip r:embed="rId3"/>
          <a:srcRect t="23246" b="57930"/>
          <a:stretch>
            <a:fillRect/>
          </a:stretch>
        </p:blipFill>
        <p:spPr>
          <a:xfrm>
            <a:off x="1181286" y="1484902"/>
            <a:ext cx="9829427" cy="2072337"/>
          </a:xfrm>
          <a:prstGeom prst="rect">
            <a:avLst/>
          </a:prstGeom>
        </p:spPr>
      </p:pic>
      <p:sp>
        <p:nvSpPr>
          <p:cNvPr id="4" name="Content Placeholder 2">
            <a:extLst>
              <a:ext uri="{FF2B5EF4-FFF2-40B4-BE49-F238E27FC236}">
                <a16:creationId xmlns:a16="http://schemas.microsoft.com/office/drawing/2014/main" id="{BF7EEE48-EE2A-AEFC-49DF-68D9970F365F}"/>
              </a:ext>
            </a:extLst>
          </p:cNvPr>
          <p:cNvSpPr txBox="1">
            <a:spLocks/>
          </p:cNvSpPr>
          <p:nvPr/>
        </p:nvSpPr>
        <p:spPr>
          <a:xfrm>
            <a:off x="8596238" y="3557239"/>
            <a:ext cx="2414475" cy="4101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300" dirty="0"/>
              <a:t>Figure 1B, Hamilton et al. 2020</a:t>
            </a:r>
          </a:p>
        </p:txBody>
      </p:sp>
      <p:sp>
        <p:nvSpPr>
          <p:cNvPr id="6" name="Content Placeholder 2">
            <a:extLst>
              <a:ext uri="{FF2B5EF4-FFF2-40B4-BE49-F238E27FC236}">
                <a16:creationId xmlns:a16="http://schemas.microsoft.com/office/drawing/2014/main" id="{D763744B-E929-9992-8D0D-4FE96630F7DA}"/>
              </a:ext>
            </a:extLst>
          </p:cNvPr>
          <p:cNvSpPr>
            <a:spLocks noGrp="1"/>
          </p:cNvSpPr>
          <p:nvPr>
            <p:ph idx="1"/>
          </p:nvPr>
        </p:nvSpPr>
        <p:spPr>
          <a:xfrm>
            <a:off x="838200" y="4116335"/>
            <a:ext cx="10515600" cy="2209590"/>
          </a:xfrm>
        </p:spPr>
        <p:txBody>
          <a:bodyPr>
            <a:normAutofit/>
          </a:bodyPr>
          <a:lstStyle/>
          <a:p>
            <a:r>
              <a:rPr lang="en-US" dirty="0"/>
              <a:t>Infect HepG2s (SER vs. SS) with lentiviruses containing sgRNA library</a:t>
            </a:r>
          </a:p>
          <a:p>
            <a:r>
              <a:rPr lang="en-US" dirty="0"/>
              <a:t>Feed HepG2s with fluorescent cholesterol and sort via FACS</a:t>
            </a:r>
          </a:p>
          <a:p>
            <a:r>
              <a:rPr lang="en-US" dirty="0"/>
              <a:t>Collect gDNA, PCR out sgRNAs, send for NGS</a:t>
            </a:r>
          </a:p>
        </p:txBody>
      </p:sp>
      <p:sp>
        <p:nvSpPr>
          <p:cNvPr id="8" name="Rectangle 7">
            <a:extLst>
              <a:ext uri="{FF2B5EF4-FFF2-40B4-BE49-F238E27FC236}">
                <a16:creationId xmlns:a16="http://schemas.microsoft.com/office/drawing/2014/main" id="{06134D81-B51D-C34A-2847-D84797B82625}"/>
              </a:ext>
            </a:extLst>
          </p:cNvPr>
          <p:cNvSpPr/>
          <p:nvPr/>
        </p:nvSpPr>
        <p:spPr>
          <a:xfrm>
            <a:off x="4120377" y="3133493"/>
            <a:ext cx="1912434" cy="34011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sp>
        <p:nvSpPr>
          <p:cNvPr id="10" name="Title 1">
            <a:extLst>
              <a:ext uri="{FF2B5EF4-FFF2-40B4-BE49-F238E27FC236}">
                <a16:creationId xmlns:a16="http://schemas.microsoft.com/office/drawing/2014/main" id="{396B5175-F876-051F-4E09-3E148CA3F814}"/>
              </a:ext>
            </a:extLst>
          </p:cNvPr>
          <p:cNvSpPr>
            <a:spLocks noGrp="1"/>
          </p:cNvSpPr>
          <p:nvPr>
            <p:ph type="title"/>
          </p:nvPr>
        </p:nvSpPr>
        <p:spPr>
          <a:xfrm>
            <a:off x="838200" y="365125"/>
            <a:ext cx="10515600" cy="1325563"/>
          </a:xfrm>
        </p:spPr>
        <p:txBody>
          <a:bodyPr/>
          <a:lstStyle/>
          <a:p>
            <a:r>
              <a:rPr lang="en-US" dirty="0"/>
              <a:t>LDL uptake screen workflow</a:t>
            </a:r>
          </a:p>
        </p:txBody>
      </p:sp>
    </p:spTree>
    <p:extLst>
      <p:ext uri="{BB962C8B-B14F-4D97-AF65-F5344CB8AC3E}">
        <p14:creationId xmlns:p14="http://schemas.microsoft.com/office/powerpoint/2010/main" val="36987686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94E44-15D0-BA35-71F4-42991B80A8A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753E374-93B3-B8F6-EF78-6A5B91A18283}"/>
              </a:ext>
            </a:extLst>
          </p:cNvPr>
          <p:cNvPicPr>
            <a:picLocks noChangeAspect="1"/>
          </p:cNvPicPr>
          <p:nvPr/>
        </p:nvPicPr>
        <p:blipFill>
          <a:blip r:embed="rId3"/>
          <a:srcRect t="23246" b="57930"/>
          <a:stretch>
            <a:fillRect/>
          </a:stretch>
        </p:blipFill>
        <p:spPr>
          <a:xfrm>
            <a:off x="1181286" y="1484902"/>
            <a:ext cx="9829427" cy="2072337"/>
          </a:xfrm>
          <a:prstGeom prst="rect">
            <a:avLst/>
          </a:prstGeom>
        </p:spPr>
      </p:pic>
      <p:sp>
        <p:nvSpPr>
          <p:cNvPr id="4" name="Content Placeholder 2">
            <a:extLst>
              <a:ext uri="{FF2B5EF4-FFF2-40B4-BE49-F238E27FC236}">
                <a16:creationId xmlns:a16="http://schemas.microsoft.com/office/drawing/2014/main" id="{BA39DB2B-6BBC-0BB2-9373-816E71C9A4B7}"/>
              </a:ext>
            </a:extLst>
          </p:cNvPr>
          <p:cNvSpPr txBox="1">
            <a:spLocks/>
          </p:cNvSpPr>
          <p:nvPr/>
        </p:nvSpPr>
        <p:spPr>
          <a:xfrm>
            <a:off x="8596238" y="3557239"/>
            <a:ext cx="2414475" cy="4101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300" dirty="0"/>
              <a:t>Figure 1B, Hamilton et al. 2020</a:t>
            </a:r>
          </a:p>
        </p:txBody>
      </p:sp>
      <p:sp>
        <p:nvSpPr>
          <p:cNvPr id="6" name="Content Placeholder 2">
            <a:extLst>
              <a:ext uri="{FF2B5EF4-FFF2-40B4-BE49-F238E27FC236}">
                <a16:creationId xmlns:a16="http://schemas.microsoft.com/office/drawing/2014/main" id="{5B0613E4-D879-43C2-D3EE-AC4CFEC82293}"/>
              </a:ext>
            </a:extLst>
          </p:cNvPr>
          <p:cNvSpPr>
            <a:spLocks noGrp="1"/>
          </p:cNvSpPr>
          <p:nvPr>
            <p:ph idx="1"/>
          </p:nvPr>
        </p:nvSpPr>
        <p:spPr>
          <a:xfrm>
            <a:off x="838200" y="4116335"/>
            <a:ext cx="10515600" cy="2209590"/>
          </a:xfrm>
        </p:spPr>
        <p:txBody>
          <a:bodyPr>
            <a:normAutofit lnSpcReduction="10000"/>
          </a:bodyPr>
          <a:lstStyle/>
          <a:p>
            <a:r>
              <a:rPr lang="en-US" dirty="0"/>
              <a:t>Infect HepG2s (SER vs. SS) with lentiviruses containing sgRNA library</a:t>
            </a:r>
          </a:p>
          <a:p>
            <a:r>
              <a:rPr lang="en-US" dirty="0"/>
              <a:t>Feed HepG2s with fluorescent cholesterol and sort via FACS</a:t>
            </a:r>
          </a:p>
          <a:p>
            <a:r>
              <a:rPr lang="en-US" dirty="0"/>
              <a:t>Collect gDNA, PCR out sgRNAs, send for NGS</a:t>
            </a:r>
          </a:p>
          <a:p>
            <a:r>
              <a:rPr lang="en-US" dirty="0"/>
              <a:t>Analyze sgRNA counts with </a:t>
            </a:r>
            <a:r>
              <a:rPr lang="en-US" dirty="0" err="1"/>
              <a:t>MAGeCK</a:t>
            </a:r>
            <a:endParaRPr lang="en-US" dirty="0"/>
          </a:p>
        </p:txBody>
      </p:sp>
      <p:sp>
        <p:nvSpPr>
          <p:cNvPr id="8" name="Rectangle 7">
            <a:extLst>
              <a:ext uri="{FF2B5EF4-FFF2-40B4-BE49-F238E27FC236}">
                <a16:creationId xmlns:a16="http://schemas.microsoft.com/office/drawing/2014/main" id="{21C750CC-9327-784F-FE2A-1DE39C47F6EE}"/>
              </a:ext>
            </a:extLst>
          </p:cNvPr>
          <p:cNvSpPr/>
          <p:nvPr/>
        </p:nvSpPr>
        <p:spPr>
          <a:xfrm>
            <a:off x="4120377" y="3133493"/>
            <a:ext cx="1912434" cy="34011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sp>
        <p:nvSpPr>
          <p:cNvPr id="9" name="Title 1">
            <a:extLst>
              <a:ext uri="{FF2B5EF4-FFF2-40B4-BE49-F238E27FC236}">
                <a16:creationId xmlns:a16="http://schemas.microsoft.com/office/drawing/2014/main" id="{07BDF466-426D-2E38-10B2-CF927CF96F64}"/>
              </a:ext>
            </a:extLst>
          </p:cNvPr>
          <p:cNvSpPr>
            <a:spLocks noGrp="1"/>
          </p:cNvSpPr>
          <p:nvPr>
            <p:ph type="title"/>
          </p:nvPr>
        </p:nvSpPr>
        <p:spPr>
          <a:xfrm>
            <a:off x="838200" y="365125"/>
            <a:ext cx="10515600" cy="1325563"/>
          </a:xfrm>
        </p:spPr>
        <p:txBody>
          <a:bodyPr/>
          <a:lstStyle/>
          <a:p>
            <a:r>
              <a:rPr lang="en-US" dirty="0"/>
              <a:t>LDL uptake screen workflow</a:t>
            </a:r>
          </a:p>
        </p:txBody>
      </p:sp>
    </p:spTree>
    <p:extLst>
      <p:ext uri="{BB962C8B-B14F-4D97-AF65-F5344CB8AC3E}">
        <p14:creationId xmlns:p14="http://schemas.microsoft.com/office/powerpoint/2010/main" val="6183769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9881F-7AC9-C59B-9B48-5CE32E9A9E35}"/>
              </a:ext>
            </a:extLst>
          </p:cNvPr>
          <p:cNvSpPr>
            <a:spLocks noGrp="1"/>
          </p:cNvSpPr>
          <p:nvPr>
            <p:ph type="title"/>
          </p:nvPr>
        </p:nvSpPr>
        <p:spPr/>
        <p:txBody>
          <a:bodyPr/>
          <a:lstStyle/>
          <a:p>
            <a:r>
              <a:rPr lang="en-US" dirty="0"/>
              <a:t>Running </a:t>
            </a:r>
            <a:r>
              <a:rPr lang="en-US" dirty="0" err="1"/>
              <a:t>MAGeCK</a:t>
            </a:r>
            <a:r>
              <a:rPr lang="en-US" dirty="0"/>
              <a:t> on screen data</a:t>
            </a:r>
          </a:p>
        </p:txBody>
      </p:sp>
      <p:sp>
        <p:nvSpPr>
          <p:cNvPr id="3" name="Content Placeholder 2">
            <a:extLst>
              <a:ext uri="{FF2B5EF4-FFF2-40B4-BE49-F238E27FC236}">
                <a16:creationId xmlns:a16="http://schemas.microsoft.com/office/drawing/2014/main" id="{1AF10B66-56FA-669B-52CC-9B6CA9E25490}"/>
              </a:ext>
            </a:extLst>
          </p:cNvPr>
          <p:cNvSpPr>
            <a:spLocks noGrp="1"/>
          </p:cNvSpPr>
          <p:nvPr>
            <p:ph idx="1"/>
          </p:nvPr>
        </p:nvSpPr>
        <p:spPr>
          <a:xfrm>
            <a:off x="838200" y="1652847"/>
            <a:ext cx="7296150" cy="2127169"/>
          </a:xfrm>
        </p:spPr>
        <p:txBody>
          <a:bodyPr>
            <a:normAutofit fontScale="77500" lnSpcReduction="20000"/>
          </a:bodyPr>
          <a:lstStyle/>
          <a:p>
            <a:r>
              <a:rPr lang="en-US" dirty="0"/>
              <a:t>Consult the </a:t>
            </a:r>
            <a:r>
              <a:rPr lang="en-US" dirty="0" err="1"/>
              <a:t>Colab</a:t>
            </a:r>
            <a:r>
              <a:rPr lang="en-US" dirty="0"/>
              <a:t> notebook: </a:t>
            </a:r>
            <a:r>
              <a:rPr lang="en-US" dirty="0">
                <a:hlinkClick r:id="rId3"/>
              </a:rPr>
              <a:t>https://colab.research.google.com/github/pzhou1729/2026_CRISPRscreen_GeneticsBootcamp/blob/main/mageck_tutorial.ipynb</a:t>
            </a:r>
            <a:r>
              <a:rPr lang="en-US" dirty="0"/>
              <a:t> </a:t>
            </a:r>
          </a:p>
          <a:p>
            <a:r>
              <a:rPr lang="en-US" dirty="0"/>
              <a:t>Let’s take a look at the counts data from the CRISPR screen. </a:t>
            </a:r>
          </a:p>
          <a:p>
            <a:pPr marL="0" indent="0">
              <a:buNone/>
            </a:pPr>
            <a:r>
              <a:rPr lang="en-US" dirty="0"/>
              <a:t> </a:t>
            </a:r>
          </a:p>
        </p:txBody>
      </p:sp>
      <p:pic>
        <p:nvPicPr>
          <p:cNvPr id="5" name="Picture 4">
            <a:extLst>
              <a:ext uri="{FF2B5EF4-FFF2-40B4-BE49-F238E27FC236}">
                <a16:creationId xmlns:a16="http://schemas.microsoft.com/office/drawing/2014/main" id="{5444CBCB-737A-59E9-F2A4-171D5B5EBEBF}"/>
              </a:ext>
            </a:extLst>
          </p:cNvPr>
          <p:cNvPicPr>
            <a:picLocks noChangeAspect="1"/>
          </p:cNvPicPr>
          <p:nvPr/>
        </p:nvPicPr>
        <p:blipFill>
          <a:blip r:embed="rId4"/>
          <a:stretch>
            <a:fillRect/>
          </a:stretch>
        </p:blipFill>
        <p:spPr>
          <a:xfrm>
            <a:off x="358678" y="4405183"/>
            <a:ext cx="11474644" cy="1542150"/>
          </a:xfrm>
          <a:prstGeom prst="rect">
            <a:avLst/>
          </a:prstGeom>
        </p:spPr>
      </p:pic>
      <p:sp>
        <p:nvSpPr>
          <p:cNvPr id="6" name="Rectangle 5">
            <a:extLst>
              <a:ext uri="{FF2B5EF4-FFF2-40B4-BE49-F238E27FC236}">
                <a16:creationId xmlns:a16="http://schemas.microsoft.com/office/drawing/2014/main" id="{C198C8B7-6870-302B-671D-25D608507C9B}"/>
              </a:ext>
            </a:extLst>
          </p:cNvPr>
          <p:cNvSpPr/>
          <p:nvPr/>
        </p:nvSpPr>
        <p:spPr>
          <a:xfrm>
            <a:off x="1638434" y="4348635"/>
            <a:ext cx="713877" cy="29316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sp>
        <p:nvSpPr>
          <p:cNvPr id="7" name="Content Placeholder 37">
            <a:extLst>
              <a:ext uri="{FF2B5EF4-FFF2-40B4-BE49-F238E27FC236}">
                <a16:creationId xmlns:a16="http://schemas.microsoft.com/office/drawing/2014/main" id="{717F5EDD-8EC9-E81E-BA9A-385E71490CBF}"/>
              </a:ext>
            </a:extLst>
          </p:cNvPr>
          <p:cNvSpPr txBox="1">
            <a:spLocks/>
          </p:cNvSpPr>
          <p:nvPr/>
        </p:nvSpPr>
        <p:spPr>
          <a:xfrm>
            <a:off x="1321473" y="3742174"/>
            <a:ext cx="1347797" cy="57818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800" dirty="0"/>
              <a:t>Unsorted sample</a:t>
            </a:r>
          </a:p>
        </p:txBody>
      </p:sp>
      <p:sp>
        <p:nvSpPr>
          <p:cNvPr id="8" name="Rectangle 7">
            <a:extLst>
              <a:ext uri="{FF2B5EF4-FFF2-40B4-BE49-F238E27FC236}">
                <a16:creationId xmlns:a16="http://schemas.microsoft.com/office/drawing/2014/main" id="{DE6ACBF9-938E-1E67-F11C-16CDC16AAA1A}"/>
              </a:ext>
            </a:extLst>
          </p:cNvPr>
          <p:cNvSpPr/>
          <p:nvPr/>
        </p:nvSpPr>
        <p:spPr>
          <a:xfrm>
            <a:off x="4709880" y="4348635"/>
            <a:ext cx="1139935" cy="29316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sp>
        <p:nvSpPr>
          <p:cNvPr id="9" name="Content Placeholder 37">
            <a:extLst>
              <a:ext uri="{FF2B5EF4-FFF2-40B4-BE49-F238E27FC236}">
                <a16:creationId xmlns:a16="http://schemas.microsoft.com/office/drawing/2014/main" id="{F6620EDF-8F1D-48C2-A6E9-A8725E3CC475}"/>
              </a:ext>
            </a:extLst>
          </p:cNvPr>
          <p:cNvSpPr txBox="1">
            <a:spLocks/>
          </p:cNvSpPr>
          <p:nvPr/>
        </p:nvSpPr>
        <p:spPr>
          <a:xfrm>
            <a:off x="4605948" y="3172600"/>
            <a:ext cx="1347797" cy="110300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800" dirty="0"/>
              <a:t>Serum starved, bottom 12.5% bin</a:t>
            </a:r>
          </a:p>
        </p:txBody>
      </p:sp>
      <p:sp>
        <p:nvSpPr>
          <p:cNvPr id="10" name="Rectangle 9">
            <a:extLst>
              <a:ext uri="{FF2B5EF4-FFF2-40B4-BE49-F238E27FC236}">
                <a16:creationId xmlns:a16="http://schemas.microsoft.com/office/drawing/2014/main" id="{541FEE6B-2891-44B4-1B67-979B54B82CDD}"/>
              </a:ext>
            </a:extLst>
          </p:cNvPr>
          <p:cNvSpPr/>
          <p:nvPr/>
        </p:nvSpPr>
        <p:spPr>
          <a:xfrm>
            <a:off x="9621849" y="4348635"/>
            <a:ext cx="1116489" cy="29316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sp>
        <p:nvSpPr>
          <p:cNvPr id="11" name="Content Placeholder 37">
            <a:extLst>
              <a:ext uri="{FF2B5EF4-FFF2-40B4-BE49-F238E27FC236}">
                <a16:creationId xmlns:a16="http://schemas.microsoft.com/office/drawing/2014/main" id="{6C8F83A8-02CA-30BC-F077-9925122495E8}"/>
              </a:ext>
            </a:extLst>
          </p:cNvPr>
          <p:cNvSpPr txBox="1">
            <a:spLocks/>
          </p:cNvSpPr>
          <p:nvPr/>
        </p:nvSpPr>
        <p:spPr>
          <a:xfrm>
            <a:off x="9552984" y="3382230"/>
            <a:ext cx="2327230" cy="68374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dirty="0"/>
              <a:t>Serum starved, sum of bins</a:t>
            </a:r>
          </a:p>
        </p:txBody>
      </p:sp>
      <p:sp>
        <p:nvSpPr>
          <p:cNvPr id="12" name="Rectangle 11">
            <a:extLst>
              <a:ext uri="{FF2B5EF4-FFF2-40B4-BE49-F238E27FC236}">
                <a16:creationId xmlns:a16="http://schemas.microsoft.com/office/drawing/2014/main" id="{0D716793-3094-4FD5-A844-FB7609E5B098}"/>
              </a:ext>
            </a:extLst>
          </p:cNvPr>
          <p:cNvSpPr/>
          <p:nvPr/>
        </p:nvSpPr>
        <p:spPr>
          <a:xfrm>
            <a:off x="10763725" y="4348635"/>
            <a:ext cx="1116489" cy="29316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pic>
        <p:nvPicPr>
          <p:cNvPr id="19" name="Picture 18">
            <a:extLst>
              <a:ext uri="{FF2B5EF4-FFF2-40B4-BE49-F238E27FC236}">
                <a16:creationId xmlns:a16="http://schemas.microsoft.com/office/drawing/2014/main" id="{9A7B4C83-96C7-77A4-7F41-E0432A986A49}"/>
              </a:ext>
            </a:extLst>
          </p:cNvPr>
          <p:cNvPicPr>
            <a:picLocks noChangeAspect="1"/>
          </p:cNvPicPr>
          <p:nvPr/>
        </p:nvPicPr>
        <p:blipFill>
          <a:blip r:embed="rId5"/>
          <a:srcRect b="39121"/>
          <a:stretch>
            <a:fillRect/>
          </a:stretch>
        </p:blipFill>
        <p:spPr>
          <a:xfrm>
            <a:off x="8883168" y="2048339"/>
            <a:ext cx="3176565" cy="1265736"/>
          </a:xfrm>
          <a:prstGeom prst="rect">
            <a:avLst/>
          </a:prstGeom>
        </p:spPr>
      </p:pic>
      <p:pic>
        <p:nvPicPr>
          <p:cNvPr id="20" name="Picture 19">
            <a:extLst>
              <a:ext uri="{FF2B5EF4-FFF2-40B4-BE49-F238E27FC236}">
                <a16:creationId xmlns:a16="http://schemas.microsoft.com/office/drawing/2014/main" id="{CA8395F1-CCF4-8BBB-E3CF-F7E956DA1B03}"/>
              </a:ext>
            </a:extLst>
          </p:cNvPr>
          <p:cNvPicPr>
            <a:picLocks noChangeAspect="1"/>
          </p:cNvPicPr>
          <p:nvPr/>
        </p:nvPicPr>
        <p:blipFill>
          <a:blip r:embed="rId5"/>
          <a:srcRect l="26738" t="69097" r="29413" b="17679"/>
          <a:stretch>
            <a:fillRect/>
          </a:stretch>
        </p:blipFill>
        <p:spPr>
          <a:xfrm>
            <a:off x="9370808" y="3964496"/>
            <a:ext cx="1392917" cy="274942"/>
          </a:xfrm>
          <a:prstGeom prst="rect">
            <a:avLst/>
          </a:prstGeom>
        </p:spPr>
      </p:pic>
      <p:pic>
        <p:nvPicPr>
          <p:cNvPr id="21" name="Picture 20">
            <a:extLst>
              <a:ext uri="{FF2B5EF4-FFF2-40B4-BE49-F238E27FC236}">
                <a16:creationId xmlns:a16="http://schemas.microsoft.com/office/drawing/2014/main" id="{D650A353-C635-6A37-F39E-9F122B220CBF}"/>
              </a:ext>
            </a:extLst>
          </p:cNvPr>
          <p:cNvPicPr>
            <a:picLocks noChangeAspect="1"/>
          </p:cNvPicPr>
          <p:nvPr/>
        </p:nvPicPr>
        <p:blipFill>
          <a:blip r:embed="rId5"/>
          <a:srcRect l="26738" t="82321" r="29413"/>
          <a:stretch>
            <a:fillRect/>
          </a:stretch>
        </p:blipFill>
        <p:spPr>
          <a:xfrm>
            <a:off x="10763725" y="3952794"/>
            <a:ext cx="1392917" cy="367567"/>
          </a:xfrm>
          <a:prstGeom prst="rect">
            <a:avLst/>
          </a:prstGeom>
        </p:spPr>
      </p:pic>
    </p:spTree>
    <p:extLst>
      <p:ext uri="{BB962C8B-B14F-4D97-AF65-F5344CB8AC3E}">
        <p14:creationId xmlns:p14="http://schemas.microsoft.com/office/powerpoint/2010/main" val="26425281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4B894-271D-81EC-EA0F-C460C509A83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8D7F01-8904-D518-C3AB-F3D7D3ABB9D5}"/>
              </a:ext>
            </a:extLst>
          </p:cNvPr>
          <p:cNvSpPr>
            <a:spLocks noGrp="1"/>
          </p:cNvSpPr>
          <p:nvPr>
            <p:ph idx="1"/>
          </p:nvPr>
        </p:nvSpPr>
        <p:spPr/>
        <p:txBody>
          <a:bodyPr>
            <a:normAutofit lnSpcReduction="10000"/>
          </a:bodyPr>
          <a:lstStyle/>
          <a:p>
            <a:r>
              <a:rPr lang="en-US" dirty="0"/>
              <a:t>Referencing the tutorial on 20200417_mageck_tutorial:</a:t>
            </a:r>
          </a:p>
          <a:p>
            <a:r>
              <a:rPr lang="en-US" dirty="0"/>
              <a:t>1. Download Anaconda: </a:t>
            </a:r>
            <a:r>
              <a:rPr lang="en-US" u="sng" dirty="0">
                <a:hlinkClick r:id="rId3"/>
              </a:rPr>
              <a:t>https://www.anaconda.com/distribution/</a:t>
            </a:r>
            <a:endParaRPr lang="en-US" u="sng" dirty="0"/>
          </a:p>
          <a:p>
            <a:r>
              <a:rPr lang="en-US" dirty="0"/>
              <a:t>2. Install </a:t>
            </a:r>
            <a:r>
              <a:rPr lang="en-US" dirty="0" err="1"/>
              <a:t>MAGeCK</a:t>
            </a:r>
            <a:r>
              <a:rPr lang="en-US" dirty="0"/>
              <a:t> from Anaconda</a:t>
            </a:r>
          </a:p>
          <a:p>
            <a:pPr lvl="1"/>
            <a:r>
              <a:rPr lang="en-US" dirty="0"/>
              <a:t>In your terminal, </a:t>
            </a:r>
            <a:r>
              <a:rPr lang="en-US" dirty="0" err="1"/>
              <a:t>conda</a:t>
            </a:r>
            <a:r>
              <a:rPr lang="en-US" dirty="0"/>
              <a:t> install -c </a:t>
            </a:r>
            <a:r>
              <a:rPr lang="en-US" dirty="0" err="1"/>
              <a:t>bioconda</a:t>
            </a:r>
            <a:r>
              <a:rPr lang="en-US" dirty="0"/>
              <a:t> </a:t>
            </a:r>
            <a:r>
              <a:rPr lang="en-US" dirty="0" err="1"/>
              <a:t>mageck</a:t>
            </a:r>
            <a:endParaRPr lang="en-US" dirty="0"/>
          </a:p>
          <a:p>
            <a:r>
              <a:rPr lang="en-US" dirty="0"/>
              <a:t>3. Verify installation</a:t>
            </a:r>
          </a:p>
          <a:p>
            <a:pPr lvl="1"/>
            <a:r>
              <a:rPr lang="en-US" dirty="0"/>
              <a:t>	</a:t>
            </a:r>
            <a:r>
              <a:rPr lang="en-US" dirty="0" err="1"/>
              <a:t>conda</a:t>
            </a:r>
            <a:r>
              <a:rPr lang="en-US" dirty="0"/>
              <a:t> list OR</a:t>
            </a:r>
          </a:p>
          <a:p>
            <a:pPr lvl="1"/>
            <a:r>
              <a:rPr lang="en-US" dirty="0"/>
              <a:t>	</a:t>
            </a:r>
            <a:r>
              <a:rPr lang="en-US" dirty="0" err="1"/>
              <a:t>mageck</a:t>
            </a:r>
            <a:r>
              <a:rPr lang="en-US" dirty="0"/>
              <a:t> –v</a:t>
            </a:r>
          </a:p>
          <a:p>
            <a:r>
              <a:rPr lang="en-US" dirty="0"/>
              <a:t>4. Clone the repository:</a:t>
            </a:r>
          </a:p>
          <a:p>
            <a:pPr lvl="1"/>
            <a:r>
              <a:rPr lang="en-US" dirty="0"/>
              <a:t>git clone </a:t>
            </a:r>
            <a:r>
              <a:rPr lang="en-US" dirty="0">
                <a:hlinkClick r:id="rId4"/>
              </a:rPr>
              <a:t>https://github.com/pzhou1729/2026_CRISPRscreen_GeneticsBootcamp.git</a:t>
            </a:r>
            <a:r>
              <a:rPr lang="en-US" dirty="0"/>
              <a:t> </a:t>
            </a:r>
          </a:p>
        </p:txBody>
      </p:sp>
      <p:sp>
        <p:nvSpPr>
          <p:cNvPr id="7" name="Title 1">
            <a:extLst>
              <a:ext uri="{FF2B5EF4-FFF2-40B4-BE49-F238E27FC236}">
                <a16:creationId xmlns:a16="http://schemas.microsoft.com/office/drawing/2014/main" id="{588C46A8-931C-327E-9EBC-55DB4EFB0BCA}"/>
              </a:ext>
            </a:extLst>
          </p:cNvPr>
          <p:cNvSpPr>
            <a:spLocks noGrp="1"/>
          </p:cNvSpPr>
          <p:nvPr>
            <p:ph type="title"/>
          </p:nvPr>
        </p:nvSpPr>
        <p:spPr>
          <a:xfrm>
            <a:off x="838200" y="365125"/>
            <a:ext cx="10515600" cy="1325563"/>
          </a:xfrm>
        </p:spPr>
        <p:txBody>
          <a:bodyPr/>
          <a:lstStyle/>
          <a:p>
            <a:r>
              <a:rPr lang="en-US" dirty="0"/>
              <a:t>Running </a:t>
            </a:r>
            <a:r>
              <a:rPr lang="en-US" dirty="0" err="1"/>
              <a:t>MAGeCK</a:t>
            </a:r>
            <a:r>
              <a:rPr lang="en-US" dirty="0"/>
              <a:t> on screen data</a:t>
            </a:r>
          </a:p>
        </p:txBody>
      </p:sp>
    </p:spTree>
    <p:extLst>
      <p:ext uri="{BB962C8B-B14F-4D97-AF65-F5344CB8AC3E}">
        <p14:creationId xmlns:p14="http://schemas.microsoft.com/office/powerpoint/2010/main" val="31745552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B5E1D-A830-2F64-C2F0-E55B50FCCE0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1F853F-0100-58C2-31E7-BD27E9983429}"/>
              </a:ext>
            </a:extLst>
          </p:cNvPr>
          <p:cNvSpPr>
            <a:spLocks noGrp="1"/>
          </p:cNvSpPr>
          <p:nvPr>
            <p:ph idx="1"/>
          </p:nvPr>
        </p:nvSpPr>
        <p:spPr>
          <a:xfrm>
            <a:off x="838200" y="1825625"/>
            <a:ext cx="4515678" cy="4351338"/>
          </a:xfrm>
        </p:spPr>
        <p:txBody>
          <a:bodyPr>
            <a:normAutofit fontScale="92500" lnSpcReduction="10000"/>
          </a:bodyPr>
          <a:lstStyle/>
          <a:p>
            <a:r>
              <a:rPr lang="en-US" dirty="0"/>
              <a:t>5. Navigate to the cloned repository. You should be able to find it with Finder &gt; Go &gt; Go to Folder and searching up 2026_CRISPRscreen_GeneticsBootcamp </a:t>
            </a:r>
          </a:p>
          <a:p>
            <a:r>
              <a:rPr lang="en-US" dirty="0"/>
              <a:t>6. Navigate to data &gt; </a:t>
            </a:r>
            <a:r>
              <a:rPr lang="en-US" dirty="0" err="1"/>
              <a:t>mageck_practice</a:t>
            </a:r>
            <a:endParaRPr lang="en-US" dirty="0"/>
          </a:p>
          <a:p>
            <a:r>
              <a:rPr lang="en-US" dirty="0"/>
              <a:t>7. Right click on the folder and select “Open in Terminal”</a:t>
            </a:r>
          </a:p>
          <a:p>
            <a:endParaRPr lang="en-US" dirty="0"/>
          </a:p>
        </p:txBody>
      </p:sp>
      <p:sp>
        <p:nvSpPr>
          <p:cNvPr id="7" name="Title 1">
            <a:extLst>
              <a:ext uri="{FF2B5EF4-FFF2-40B4-BE49-F238E27FC236}">
                <a16:creationId xmlns:a16="http://schemas.microsoft.com/office/drawing/2014/main" id="{52D50FC6-3F6D-1E6A-E157-5C8F6C0709A9}"/>
              </a:ext>
            </a:extLst>
          </p:cNvPr>
          <p:cNvSpPr>
            <a:spLocks noGrp="1"/>
          </p:cNvSpPr>
          <p:nvPr>
            <p:ph type="title"/>
          </p:nvPr>
        </p:nvSpPr>
        <p:spPr>
          <a:xfrm>
            <a:off x="838200" y="365125"/>
            <a:ext cx="10515600" cy="1325563"/>
          </a:xfrm>
        </p:spPr>
        <p:txBody>
          <a:bodyPr/>
          <a:lstStyle/>
          <a:p>
            <a:r>
              <a:rPr lang="en-US" dirty="0"/>
              <a:t>Running </a:t>
            </a:r>
            <a:r>
              <a:rPr lang="en-US" dirty="0" err="1"/>
              <a:t>MAGeCK</a:t>
            </a:r>
            <a:r>
              <a:rPr lang="en-US" dirty="0"/>
              <a:t> on screen data</a:t>
            </a:r>
          </a:p>
        </p:txBody>
      </p:sp>
      <p:pic>
        <p:nvPicPr>
          <p:cNvPr id="6" name="Picture 5" descr="A screenshot of a computer&#10;&#10;AI-generated content may be incorrect.">
            <a:extLst>
              <a:ext uri="{FF2B5EF4-FFF2-40B4-BE49-F238E27FC236}">
                <a16:creationId xmlns:a16="http://schemas.microsoft.com/office/drawing/2014/main" id="{250B4370-A6D0-60F0-9969-19F21A86D913}"/>
              </a:ext>
            </a:extLst>
          </p:cNvPr>
          <p:cNvPicPr>
            <a:picLocks noChangeAspect="1"/>
          </p:cNvPicPr>
          <p:nvPr/>
        </p:nvPicPr>
        <p:blipFill>
          <a:blip r:embed="rId2"/>
          <a:stretch>
            <a:fillRect/>
          </a:stretch>
        </p:blipFill>
        <p:spPr>
          <a:xfrm>
            <a:off x="5599044" y="1921071"/>
            <a:ext cx="6250258" cy="3015858"/>
          </a:xfrm>
          <a:prstGeom prst="rect">
            <a:avLst/>
          </a:prstGeom>
        </p:spPr>
      </p:pic>
      <p:sp>
        <p:nvSpPr>
          <p:cNvPr id="8" name="Rectangle 7">
            <a:extLst>
              <a:ext uri="{FF2B5EF4-FFF2-40B4-BE49-F238E27FC236}">
                <a16:creationId xmlns:a16="http://schemas.microsoft.com/office/drawing/2014/main" id="{149B95CE-743D-D50D-0A7C-2C8D076F4701}"/>
              </a:ext>
            </a:extLst>
          </p:cNvPr>
          <p:cNvSpPr/>
          <p:nvPr/>
        </p:nvSpPr>
        <p:spPr>
          <a:xfrm>
            <a:off x="9369287" y="4717774"/>
            <a:ext cx="675666" cy="15006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624003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9FBB8-DCC9-E713-5A85-A3EA3AACA40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F4A6CB-798E-D6FF-80A7-2F3E060BB8F1}"/>
              </a:ext>
            </a:extLst>
          </p:cNvPr>
          <p:cNvSpPr>
            <a:spLocks noGrp="1"/>
          </p:cNvSpPr>
          <p:nvPr>
            <p:ph idx="1"/>
          </p:nvPr>
        </p:nvSpPr>
        <p:spPr>
          <a:xfrm>
            <a:off x="838200" y="1690688"/>
            <a:ext cx="10515600" cy="4802187"/>
          </a:xfrm>
        </p:spPr>
        <p:txBody>
          <a:bodyPr>
            <a:normAutofit fontScale="77500" lnSpcReduction="20000"/>
          </a:bodyPr>
          <a:lstStyle/>
          <a:p>
            <a:r>
              <a:rPr lang="en-US" dirty="0"/>
              <a:t>8.  Now what you’ve all been waiting for: Copy and paste this command into your terminal and hit enter. </a:t>
            </a:r>
          </a:p>
          <a:p>
            <a:endParaRPr lang="en-US" dirty="0"/>
          </a:p>
          <a:p>
            <a:pPr marL="0" indent="0">
              <a:buNone/>
            </a:pPr>
            <a:r>
              <a:rPr lang="en-US" dirty="0" err="1"/>
              <a:t>mageck</a:t>
            </a:r>
            <a:r>
              <a:rPr lang="en-US" dirty="0"/>
              <a:t> test \</a:t>
            </a:r>
          </a:p>
          <a:p>
            <a:pPr marL="0" indent="0">
              <a:buNone/>
            </a:pPr>
            <a:r>
              <a:rPr lang="en-US" dirty="0"/>
              <a:t>-k hepg2_3k_lib_ldl_uptake_read_count_table.txt \</a:t>
            </a:r>
          </a:p>
          <a:p>
            <a:pPr marL="0" indent="0">
              <a:buNone/>
            </a:pPr>
            <a:r>
              <a:rPr lang="en-US" dirty="0"/>
              <a:t>-t ser_LDL_b_rep_1,ser_LDL_b_rep_2,ser_LDL_b_rep_3,ser_LDL_b_rep_4 \</a:t>
            </a:r>
          </a:p>
          <a:p>
            <a:pPr marL="0" indent="0">
              <a:buNone/>
            </a:pPr>
            <a:r>
              <a:rPr lang="en-US" dirty="0"/>
              <a:t>-c ser_LDL_t_rep_1,ser_LDL_t_rep_2,ser_LDL_t_rep_3,ser_LDL_t_rep_4 \</a:t>
            </a:r>
          </a:p>
          <a:p>
            <a:pPr marL="0" indent="0">
              <a:buNone/>
            </a:pPr>
            <a:r>
              <a:rPr lang="en-US" dirty="0"/>
              <a:t>-n </a:t>
            </a:r>
            <a:r>
              <a:rPr lang="en-US" dirty="0" err="1"/>
              <a:t>ser_bottom_top</a:t>
            </a:r>
            <a:r>
              <a:rPr lang="en-US" dirty="0"/>
              <a:t> \</a:t>
            </a:r>
          </a:p>
          <a:p>
            <a:pPr marL="0" indent="0">
              <a:buNone/>
            </a:pPr>
            <a:r>
              <a:rPr lang="en-US" dirty="0"/>
              <a:t>--paired \</a:t>
            </a:r>
          </a:p>
          <a:p>
            <a:pPr marL="0" indent="0">
              <a:buNone/>
            </a:pPr>
            <a:r>
              <a:rPr lang="en-US" dirty="0"/>
              <a:t>--sort-criteria pos \</a:t>
            </a:r>
          </a:p>
          <a:p>
            <a:pPr marL="0" indent="0">
              <a:buNone/>
            </a:pPr>
            <a:r>
              <a:rPr lang="en-US" dirty="0"/>
              <a:t>--norm-method control \</a:t>
            </a:r>
          </a:p>
          <a:p>
            <a:pPr marL="0" indent="0">
              <a:buNone/>
            </a:pPr>
            <a:r>
              <a:rPr lang="en-US" dirty="0"/>
              <a:t>--control-</a:t>
            </a:r>
            <a:r>
              <a:rPr lang="en-US" dirty="0" err="1"/>
              <a:t>sgrna</a:t>
            </a:r>
            <a:r>
              <a:rPr lang="en-US" dirty="0"/>
              <a:t> 3k_lib_control_grnas.txt \</a:t>
            </a:r>
          </a:p>
          <a:p>
            <a:pPr marL="0" indent="0">
              <a:buNone/>
            </a:pPr>
            <a:r>
              <a:rPr lang="en-US" dirty="0"/>
              <a:t>--pdf-report </a:t>
            </a:r>
          </a:p>
          <a:p>
            <a:endParaRPr lang="en-US" dirty="0"/>
          </a:p>
        </p:txBody>
      </p:sp>
      <p:sp>
        <p:nvSpPr>
          <p:cNvPr id="7" name="Title 1">
            <a:extLst>
              <a:ext uri="{FF2B5EF4-FFF2-40B4-BE49-F238E27FC236}">
                <a16:creationId xmlns:a16="http://schemas.microsoft.com/office/drawing/2014/main" id="{5F3B3903-434D-6C8E-2766-1EA6E4F37240}"/>
              </a:ext>
            </a:extLst>
          </p:cNvPr>
          <p:cNvSpPr>
            <a:spLocks noGrp="1"/>
          </p:cNvSpPr>
          <p:nvPr>
            <p:ph type="title"/>
          </p:nvPr>
        </p:nvSpPr>
        <p:spPr>
          <a:xfrm>
            <a:off x="838200" y="365125"/>
            <a:ext cx="10515600" cy="1325563"/>
          </a:xfrm>
        </p:spPr>
        <p:txBody>
          <a:bodyPr/>
          <a:lstStyle/>
          <a:p>
            <a:r>
              <a:rPr lang="en-US" dirty="0"/>
              <a:t>Running </a:t>
            </a:r>
            <a:r>
              <a:rPr lang="en-US" dirty="0" err="1"/>
              <a:t>MAGeCK</a:t>
            </a:r>
            <a:r>
              <a:rPr lang="en-US" dirty="0"/>
              <a:t> on screen data</a:t>
            </a:r>
          </a:p>
        </p:txBody>
      </p:sp>
    </p:spTree>
    <p:extLst>
      <p:ext uri="{BB962C8B-B14F-4D97-AF65-F5344CB8AC3E}">
        <p14:creationId xmlns:p14="http://schemas.microsoft.com/office/powerpoint/2010/main" val="33644327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3D54A-F8BA-E900-C656-3F7FD00F26B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228BB6-DECB-7E15-8D7D-3CECA03EF080}"/>
              </a:ext>
            </a:extLst>
          </p:cNvPr>
          <p:cNvSpPr>
            <a:spLocks noGrp="1"/>
          </p:cNvSpPr>
          <p:nvPr>
            <p:ph idx="1"/>
          </p:nvPr>
        </p:nvSpPr>
        <p:spPr>
          <a:xfrm>
            <a:off x="7621138" y="1690688"/>
            <a:ext cx="4229746" cy="4667250"/>
          </a:xfrm>
        </p:spPr>
        <p:txBody>
          <a:bodyPr>
            <a:normAutofit fontScale="62500" lnSpcReduction="20000"/>
          </a:bodyPr>
          <a:lstStyle/>
          <a:p>
            <a:pPr marL="0" indent="0">
              <a:buNone/>
            </a:pPr>
            <a:r>
              <a:rPr lang="en-US" dirty="0" err="1"/>
              <a:t>mageck</a:t>
            </a:r>
            <a:r>
              <a:rPr lang="en-US" dirty="0"/>
              <a:t> test \</a:t>
            </a:r>
          </a:p>
          <a:p>
            <a:pPr marL="0" indent="0">
              <a:buNone/>
            </a:pPr>
            <a:r>
              <a:rPr lang="en-US" dirty="0"/>
              <a:t>-k hepg2_3k_lib_ldl_uptake_read_count_table.txt \</a:t>
            </a:r>
          </a:p>
          <a:p>
            <a:pPr marL="0" indent="0">
              <a:buNone/>
            </a:pPr>
            <a:r>
              <a:rPr lang="en-US" dirty="0"/>
              <a:t>-t ser_LDL_b_rep_1,ser_LDL_b_rep_2,ser_LDL_b_rep_3,ser_LDL_b_rep_4 \</a:t>
            </a:r>
          </a:p>
          <a:p>
            <a:pPr marL="0" indent="0">
              <a:buNone/>
            </a:pPr>
            <a:r>
              <a:rPr lang="en-US" dirty="0"/>
              <a:t>-c ser_LDL_t_rep_1,ser_LDL_t_rep_2,ser_LDL_t_rep_3,ser_LDL_t_rep_4 \</a:t>
            </a:r>
          </a:p>
          <a:p>
            <a:pPr marL="0" indent="0">
              <a:buNone/>
            </a:pPr>
            <a:r>
              <a:rPr lang="en-US" dirty="0"/>
              <a:t>-n </a:t>
            </a:r>
            <a:r>
              <a:rPr lang="en-US" dirty="0" err="1"/>
              <a:t>ser_bottom_top</a:t>
            </a:r>
            <a:r>
              <a:rPr lang="en-US" dirty="0"/>
              <a:t> \</a:t>
            </a:r>
          </a:p>
          <a:p>
            <a:pPr marL="0" indent="0">
              <a:buNone/>
            </a:pPr>
            <a:r>
              <a:rPr lang="en-US" dirty="0"/>
              <a:t>--paired \</a:t>
            </a:r>
          </a:p>
          <a:p>
            <a:pPr marL="0" indent="0">
              <a:buNone/>
            </a:pPr>
            <a:r>
              <a:rPr lang="en-US" dirty="0"/>
              <a:t>--sort-criteria pos \</a:t>
            </a:r>
          </a:p>
          <a:p>
            <a:pPr marL="0" indent="0">
              <a:buNone/>
            </a:pPr>
            <a:r>
              <a:rPr lang="en-US" dirty="0"/>
              <a:t>--norm-method control \</a:t>
            </a:r>
          </a:p>
          <a:p>
            <a:pPr marL="0" indent="0">
              <a:buNone/>
            </a:pPr>
            <a:r>
              <a:rPr lang="en-US" dirty="0"/>
              <a:t>--control-</a:t>
            </a:r>
            <a:r>
              <a:rPr lang="en-US" dirty="0" err="1"/>
              <a:t>sgrna</a:t>
            </a:r>
            <a:r>
              <a:rPr lang="en-US" dirty="0"/>
              <a:t> 3k_lib_control_grnas.txt \</a:t>
            </a:r>
          </a:p>
          <a:p>
            <a:pPr marL="0" indent="0">
              <a:buNone/>
            </a:pPr>
            <a:r>
              <a:rPr lang="en-US" dirty="0"/>
              <a:t>--pdf-report </a:t>
            </a:r>
          </a:p>
          <a:p>
            <a:endParaRPr lang="en-US" dirty="0"/>
          </a:p>
        </p:txBody>
      </p:sp>
      <p:sp>
        <p:nvSpPr>
          <p:cNvPr id="7" name="Title 1">
            <a:extLst>
              <a:ext uri="{FF2B5EF4-FFF2-40B4-BE49-F238E27FC236}">
                <a16:creationId xmlns:a16="http://schemas.microsoft.com/office/drawing/2014/main" id="{097A0AD7-8932-920B-987B-92021FEB50D3}"/>
              </a:ext>
            </a:extLst>
          </p:cNvPr>
          <p:cNvSpPr>
            <a:spLocks noGrp="1"/>
          </p:cNvSpPr>
          <p:nvPr>
            <p:ph type="title"/>
          </p:nvPr>
        </p:nvSpPr>
        <p:spPr>
          <a:xfrm>
            <a:off x="838200" y="365125"/>
            <a:ext cx="10515600" cy="1325563"/>
          </a:xfrm>
        </p:spPr>
        <p:txBody>
          <a:bodyPr/>
          <a:lstStyle/>
          <a:p>
            <a:r>
              <a:rPr lang="en-US" dirty="0"/>
              <a:t>What flags are we using? </a:t>
            </a:r>
          </a:p>
        </p:txBody>
      </p:sp>
      <p:sp>
        <p:nvSpPr>
          <p:cNvPr id="12" name="TextBox 11">
            <a:extLst>
              <a:ext uri="{FF2B5EF4-FFF2-40B4-BE49-F238E27FC236}">
                <a16:creationId xmlns:a16="http://schemas.microsoft.com/office/drawing/2014/main" id="{62AB6C52-1FCA-AEB4-4034-C2EA81950167}"/>
              </a:ext>
            </a:extLst>
          </p:cNvPr>
          <p:cNvSpPr txBox="1"/>
          <p:nvPr/>
        </p:nvSpPr>
        <p:spPr>
          <a:xfrm>
            <a:off x="3416089" y="5667936"/>
            <a:ext cx="4091902" cy="369332"/>
          </a:xfrm>
          <a:prstGeom prst="rect">
            <a:avLst/>
          </a:prstGeom>
          <a:noFill/>
        </p:spPr>
        <p:txBody>
          <a:bodyPr wrap="square" rtlCol="0">
            <a:spAutoFit/>
          </a:bodyPr>
          <a:lstStyle/>
          <a:p>
            <a:pPr algn="r"/>
            <a:r>
              <a:rPr lang="en-US" dirty="0">
                <a:solidFill>
                  <a:srgbClr val="FF0000"/>
                </a:solidFill>
              </a:rPr>
              <a:t>Generate PDF report of results</a:t>
            </a:r>
          </a:p>
        </p:txBody>
      </p:sp>
      <p:sp>
        <p:nvSpPr>
          <p:cNvPr id="15" name="TextBox 14">
            <a:extLst>
              <a:ext uri="{FF2B5EF4-FFF2-40B4-BE49-F238E27FC236}">
                <a16:creationId xmlns:a16="http://schemas.microsoft.com/office/drawing/2014/main" id="{CCF57D29-81A2-F54B-146A-AD76072C9932}"/>
              </a:ext>
            </a:extLst>
          </p:cNvPr>
          <p:cNvSpPr txBox="1"/>
          <p:nvPr/>
        </p:nvSpPr>
        <p:spPr>
          <a:xfrm>
            <a:off x="3416089" y="5033093"/>
            <a:ext cx="4091902" cy="369332"/>
          </a:xfrm>
          <a:prstGeom prst="rect">
            <a:avLst/>
          </a:prstGeom>
          <a:noFill/>
        </p:spPr>
        <p:txBody>
          <a:bodyPr wrap="square" rtlCol="0">
            <a:spAutoFit/>
          </a:bodyPr>
          <a:lstStyle/>
          <a:p>
            <a:pPr algn="r"/>
            <a:r>
              <a:rPr lang="en-US" dirty="0">
                <a:solidFill>
                  <a:srgbClr val="FF0000"/>
                </a:solidFill>
              </a:rPr>
              <a:t>Normalizes based on control gRNAs</a:t>
            </a:r>
          </a:p>
        </p:txBody>
      </p:sp>
      <p:sp>
        <p:nvSpPr>
          <p:cNvPr id="19" name="TextBox 18">
            <a:extLst>
              <a:ext uri="{FF2B5EF4-FFF2-40B4-BE49-F238E27FC236}">
                <a16:creationId xmlns:a16="http://schemas.microsoft.com/office/drawing/2014/main" id="{688D2717-5F16-ADDF-5392-6F31D8D96E94}"/>
              </a:ext>
            </a:extLst>
          </p:cNvPr>
          <p:cNvSpPr txBox="1"/>
          <p:nvPr/>
        </p:nvSpPr>
        <p:spPr>
          <a:xfrm>
            <a:off x="3189794" y="4725010"/>
            <a:ext cx="4318197" cy="369332"/>
          </a:xfrm>
          <a:prstGeom prst="rect">
            <a:avLst/>
          </a:prstGeom>
          <a:noFill/>
        </p:spPr>
        <p:txBody>
          <a:bodyPr wrap="square" rtlCol="0">
            <a:spAutoFit/>
          </a:bodyPr>
          <a:lstStyle/>
          <a:p>
            <a:pPr algn="r"/>
            <a:r>
              <a:rPr lang="en-US" dirty="0">
                <a:solidFill>
                  <a:srgbClr val="FF0000"/>
                </a:solidFill>
              </a:rPr>
              <a:t>Sorts output by positively selected gRNAs</a:t>
            </a:r>
          </a:p>
        </p:txBody>
      </p:sp>
      <p:sp>
        <p:nvSpPr>
          <p:cNvPr id="23" name="TextBox 22">
            <a:extLst>
              <a:ext uri="{FF2B5EF4-FFF2-40B4-BE49-F238E27FC236}">
                <a16:creationId xmlns:a16="http://schemas.microsoft.com/office/drawing/2014/main" id="{87714BEF-8AB2-C025-CE75-883683C10DFF}"/>
              </a:ext>
            </a:extLst>
          </p:cNvPr>
          <p:cNvSpPr txBox="1"/>
          <p:nvPr/>
        </p:nvSpPr>
        <p:spPr>
          <a:xfrm>
            <a:off x="2375563" y="4371123"/>
            <a:ext cx="5132428" cy="369332"/>
          </a:xfrm>
          <a:prstGeom prst="rect">
            <a:avLst/>
          </a:prstGeom>
          <a:noFill/>
        </p:spPr>
        <p:txBody>
          <a:bodyPr wrap="square" rtlCol="0">
            <a:spAutoFit/>
          </a:bodyPr>
          <a:lstStyle/>
          <a:p>
            <a:pPr algn="r"/>
            <a:r>
              <a:rPr lang="en-US" dirty="0">
                <a:solidFill>
                  <a:srgbClr val="FF0000"/>
                </a:solidFill>
              </a:rPr>
              <a:t>Perform paired analysis (treatment vs. controls)</a:t>
            </a:r>
          </a:p>
        </p:txBody>
      </p:sp>
      <p:sp>
        <p:nvSpPr>
          <p:cNvPr id="26" name="TextBox 25">
            <a:extLst>
              <a:ext uri="{FF2B5EF4-FFF2-40B4-BE49-F238E27FC236}">
                <a16:creationId xmlns:a16="http://schemas.microsoft.com/office/drawing/2014/main" id="{067ADAFF-6AB7-C09E-2260-0B395529C50C}"/>
              </a:ext>
            </a:extLst>
          </p:cNvPr>
          <p:cNvSpPr txBox="1"/>
          <p:nvPr/>
        </p:nvSpPr>
        <p:spPr>
          <a:xfrm>
            <a:off x="3416089" y="5359853"/>
            <a:ext cx="4091902" cy="369332"/>
          </a:xfrm>
          <a:prstGeom prst="rect">
            <a:avLst/>
          </a:prstGeom>
          <a:noFill/>
        </p:spPr>
        <p:txBody>
          <a:bodyPr wrap="square" rtlCol="0">
            <a:spAutoFit/>
          </a:bodyPr>
          <a:lstStyle/>
          <a:p>
            <a:pPr algn="r"/>
            <a:r>
              <a:rPr lang="en-US" dirty="0">
                <a:solidFill>
                  <a:srgbClr val="FF0000"/>
                </a:solidFill>
              </a:rPr>
              <a:t>Input list of control gRNAs</a:t>
            </a:r>
          </a:p>
        </p:txBody>
      </p:sp>
      <p:sp>
        <p:nvSpPr>
          <p:cNvPr id="27" name="TextBox 26">
            <a:extLst>
              <a:ext uri="{FF2B5EF4-FFF2-40B4-BE49-F238E27FC236}">
                <a16:creationId xmlns:a16="http://schemas.microsoft.com/office/drawing/2014/main" id="{00C15795-C331-D099-D34B-BFC578806DD6}"/>
              </a:ext>
            </a:extLst>
          </p:cNvPr>
          <p:cNvSpPr txBox="1"/>
          <p:nvPr/>
        </p:nvSpPr>
        <p:spPr>
          <a:xfrm>
            <a:off x="1489166" y="4053702"/>
            <a:ext cx="6018825" cy="369332"/>
          </a:xfrm>
          <a:prstGeom prst="rect">
            <a:avLst/>
          </a:prstGeom>
          <a:noFill/>
        </p:spPr>
        <p:txBody>
          <a:bodyPr wrap="square" rtlCol="0">
            <a:spAutoFit/>
          </a:bodyPr>
          <a:lstStyle/>
          <a:p>
            <a:pPr algn="r"/>
            <a:r>
              <a:rPr lang="en-US" dirty="0">
                <a:solidFill>
                  <a:srgbClr val="FF0000"/>
                </a:solidFill>
              </a:rPr>
              <a:t>Output file prefix (every file starts with “</a:t>
            </a:r>
            <a:r>
              <a:rPr lang="en-US" dirty="0" err="1">
                <a:solidFill>
                  <a:srgbClr val="FF0000"/>
                </a:solidFill>
              </a:rPr>
              <a:t>ser_bottom_top</a:t>
            </a:r>
            <a:r>
              <a:rPr lang="en-US" dirty="0">
                <a:solidFill>
                  <a:srgbClr val="FF0000"/>
                </a:solidFill>
              </a:rPr>
              <a:t>”)</a:t>
            </a:r>
          </a:p>
        </p:txBody>
      </p:sp>
      <p:sp>
        <p:nvSpPr>
          <p:cNvPr id="28" name="TextBox 27">
            <a:extLst>
              <a:ext uri="{FF2B5EF4-FFF2-40B4-BE49-F238E27FC236}">
                <a16:creationId xmlns:a16="http://schemas.microsoft.com/office/drawing/2014/main" id="{B85061E4-7B94-7874-9106-198093A2B967}"/>
              </a:ext>
            </a:extLst>
          </p:cNvPr>
          <p:cNvSpPr txBox="1"/>
          <p:nvPr/>
        </p:nvSpPr>
        <p:spPr>
          <a:xfrm>
            <a:off x="1489166" y="3576398"/>
            <a:ext cx="6018825" cy="369332"/>
          </a:xfrm>
          <a:prstGeom prst="rect">
            <a:avLst/>
          </a:prstGeom>
          <a:noFill/>
        </p:spPr>
        <p:txBody>
          <a:bodyPr wrap="square" rtlCol="0">
            <a:spAutoFit/>
          </a:bodyPr>
          <a:lstStyle/>
          <a:p>
            <a:pPr algn="r"/>
            <a:r>
              <a:rPr lang="en-US" dirty="0">
                <a:solidFill>
                  <a:srgbClr val="FF0000"/>
                </a:solidFill>
              </a:rPr>
              <a:t>Control samples (top bin replicates)</a:t>
            </a:r>
          </a:p>
        </p:txBody>
      </p:sp>
      <p:sp>
        <p:nvSpPr>
          <p:cNvPr id="29" name="TextBox 28">
            <a:extLst>
              <a:ext uri="{FF2B5EF4-FFF2-40B4-BE49-F238E27FC236}">
                <a16:creationId xmlns:a16="http://schemas.microsoft.com/office/drawing/2014/main" id="{C9DCBAC7-4B47-BCBF-CDF8-C3B4B6B1D81F}"/>
              </a:ext>
            </a:extLst>
          </p:cNvPr>
          <p:cNvSpPr txBox="1"/>
          <p:nvPr/>
        </p:nvSpPr>
        <p:spPr>
          <a:xfrm>
            <a:off x="1489165" y="2850318"/>
            <a:ext cx="6018825" cy="369332"/>
          </a:xfrm>
          <a:prstGeom prst="rect">
            <a:avLst/>
          </a:prstGeom>
          <a:noFill/>
        </p:spPr>
        <p:txBody>
          <a:bodyPr wrap="square" rtlCol="0">
            <a:spAutoFit/>
          </a:bodyPr>
          <a:lstStyle/>
          <a:p>
            <a:pPr algn="r"/>
            <a:r>
              <a:rPr lang="en-US" dirty="0">
                <a:solidFill>
                  <a:srgbClr val="FF0000"/>
                </a:solidFill>
              </a:rPr>
              <a:t>Treatment samples (bottom bin replicates)</a:t>
            </a:r>
          </a:p>
        </p:txBody>
      </p:sp>
      <p:sp>
        <p:nvSpPr>
          <p:cNvPr id="30" name="TextBox 29">
            <a:extLst>
              <a:ext uri="{FF2B5EF4-FFF2-40B4-BE49-F238E27FC236}">
                <a16:creationId xmlns:a16="http://schemas.microsoft.com/office/drawing/2014/main" id="{5EE32AC6-E5C9-C61D-E13A-9F8C5CBA46BC}"/>
              </a:ext>
            </a:extLst>
          </p:cNvPr>
          <p:cNvSpPr txBox="1"/>
          <p:nvPr/>
        </p:nvSpPr>
        <p:spPr>
          <a:xfrm>
            <a:off x="1489164" y="2188348"/>
            <a:ext cx="6018825" cy="369332"/>
          </a:xfrm>
          <a:prstGeom prst="rect">
            <a:avLst/>
          </a:prstGeom>
          <a:noFill/>
        </p:spPr>
        <p:txBody>
          <a:bodyPr wrap="square" rtlCol="0">
            <a:spAutoFit/>
          </a:bodyPr>
          <a:lstStyle/>
          <a:p>
            <a:pPr algn="r"/>
            <a:r>
              <a:rPr lang="en-US" dirty="0">
                <a:solidFill>
                  <a:srgbClr val="FF0000"/>
                </a:solidFill>
              </a:rPr>
              <a:t>Read count table file</a:t>
            </a:r>
          </a:p>
        </p:txBody>
      </p:sp>
    </p:spTree>
    <p:extLst>
      <p:ext uri="{BB962C8B-B14F-4D97-AF65-F5344CB8AC3E}">
        <p14:creationId xmlns:p14="http://schemas.microsoft.com/office/powerpoint/2010/main" val="9581056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695A3-3EF8-5B7E-7085-7383EFA9D6E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84AB03-9619-A2A5-36FE-7DC5DE47A527}"/>
              </a:ext>
            </a:extLst>
          </p:cNvPr>
          <p:cNvSpPr>
            <a:spLocks noGrp="1"/>
          </p:cNvSpPr>
          <p:nvPr>
            <p:ph idx="1"/>
          </p:nvPr>
        </p:nvSpPr>
        <p:spPr/>
        <p:txBody>
          <a:bodyPr/>
          <a:lstStyle/>
          <a:p>
            <a:r>
              <a:rPr lang="en-US" dirty="0" err="1"/>
              <a:t>ser_bottom_top.log</a:t>
            </a:r>
            <a:endParaRPr lang="en-US" dirty="0"/>
          </a:p>
          <a:p>
            <a:r>
              <a:rPr lang="en-US" dirty="0" err="1"/>
              <a:t>ser_bottom_top.negcntl_ids.txt</a:t>
            </a:r>
            <a:endParaRPr lang="en-US" dirty="0"/>
          </a:p>
          <a:p>
            <a:r>
              <a:rPr lang="en-US" b="1" dirty="0" err="1"/>
              <a:t>ser_bottom_top.gene_summary.txt</a:t>
            </a:r>
            <a:endParaRPr lang="en-US" b="1" dirty="0"/>
          </a:p>
          <a:p>
            <a:r>
              <a:rPr lang="en-US" dirty="0" err="1"/>
              <a:t>ser_bottom_top.pdf</a:t>
            </a:r>
            <a:endParaRPr lang="en-US" dirty="0"/>
          </a:p>
          <a:p>
            <a:r>
              <a:rPr lang="en-US" dirty="0" err="1"/>
              <a:t>ser_bottom_top.R</a:t>
            </a:r>
            <a:endParaRPr lang="en-US" dirty="0"/>
          </a:p>
          <a:p>
            <a:r>
              <a:rPr lang="en-US" b="1" dirty="0" err="1"/>
              <a:t>ser_bottom_top_sgrna_summary.txt</a:t>
            </a:r>
            <a:endParaRPr lang="en-US" b="1" dirty="0"/>
          </a:p>
        </p:txBody>
      </p:sp>
      <p:sp>
        <p:nvSpPr>
          <p:cNvPr id="7" name="Title 1">
            <a:extLst>
              <a:ext uri="{FF2B5EF4-FFF2-40B4-BE49-F238E27FC236}">
                <a16:creationId xmlns:a16="http://schemas.microsoft.com/office/drawing/2014/main" id="{829670AB-8FC6-E79A-251B-AACC2EEEE815}"/>
              </a:ext>
            </a:extLst>
          </p:cNvPr>
          <p:cNvSpPr>
            <a:spLocks noGrp="1"/>
          </p:cNvSpPr>
          <p:nvPr>
            <p:ph type="title"/>
          </p:nvPr>
        </p:nvSpPr>
        <p:spPr>
          <a:xfrm>
            <a:off x="838200" y="365125"/>
            <a:ext cx="10515600" cy="1325563"/>
          </a:xfrm>
        </p:spPr>
        <p:txBody>
          <a:bodyPr/>
          <a:lstStyle/>
          <a:p>
            <a:r>
              <a:rPr lang="en-US" dirty="0" err="1"/>
              <a:t>MAGeCK</a:t>
            </a:r>
            <a:r>
              <a:rPr lang="en-US" dirty="0"/>
              <a:t> output</a:t>
            </a:r>
          </a:p>
        </p:txBody>
      </p:sp>
    </p:spTree>
    <p:extLst>
      <p:ext uri="{BB962C8B-B14F-4D97-AF65-F5344CB8AC3E}">
        <p14:creationId xmlns:p14="http://schemas.microsoft.com/office/powerpoint/2010/main" val="17524927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7B56-81AD-7C5B-251C-141C1C9EC0D6}"/>
              </a:ext>
            </a:extLst>
          </p:cNvPr>
          <p:cNvSpPr>
            <a:spLocks noGrp="1"/>
          </p:cNvSpPr>
          <p:nvPr>
            <p:ph type="title"/>
          </p:nvPr>
        </p:nvSpPr>
        <p:spPr/>
        <p:txBody>
          <a:bodyPr/>
          <a:lstStyle/>
          <a:p>
            <a:r>
              <a:rPr lang="en-US" dirty="0"/>
              <a:t>Highlights from </a:t>
            </a:r>
            <a:r>
              <a:rPr lang="en-US" dirty="0" err="1"/>
              <a:t>MAGeCK</a:t>
            </a:r>
            <a:r>
              <a:rPr lang="en-US" dirty="0"/>
              <a:t> output </a:t>
            </a:r>
          </a:p>
        </p:txBody>
      </p:sp>
      <p:sp>
        <p:nvSpPr>
          <p:cNvPr id="3" name="Content Placeholder 2">
            <a:extLst>
              <a:ext uri="{FF2B5EF4-FFF2-40B4-BE49-F238E27FC236}">
                <a16:creationId xmlns:a16="http://schemas.microsoft.com/office/drawing/2014/main" id="{50DA59F4-DE76-3493-52A7-CBE779632C75}"/>
              </a:ext>
            </a:extLst>
          </p:cNvPr>
          <p:cNvSpPr>
            <a:spLocks noGrp="1"/>
          </p:cNvSpPr>
          <p:nvPr>
            <p:ph idx="1"/>
          </p:nvPr>
        </p:nvSpPr>
        <p:spPr/>
        <p:txBody>
          <a:bodyPr/>
          <a:lstStyle/>
          <a:p>
            <a:r>
              <a:rPr lang="en-US" dirty="0"/>
              <a:t>Take a few minutes to look at the data and think about it. </a:t>
            </a:r>
          </a:p>
          <a:p>
            <a:pPr lvl="1"/>
            <a:r>
              <a:rPr lang="en-US" dirty="0"/>
              <a:t>Focus on the following datasets:</a:t>
            </a:r>
          </a:p>
          <a:p>
            <a:pPr lvl="1"/>
            <a:r>
              <a:rPr lang="en-US" b="1" dirty="0" err="1"/>
              <a:t>ser_bottom_top.gene_summary.txt</a:t>
            </a:r>
            <a:endParaRPr lang="en-US" b="1" dirty="0"/>
          </a:p>
          <a:p>
            <a:pPr lvl="1"/>
            <a:r>
              <a:rPr lang="en-US" b="1" dirty="0" err="1"/>
              <a:t>ser_bottom_top_sgrna_summary.txt</a:t>
            </a:r>
            <a:endParaRPr lang="en-US" b="1" dirty="0"/>
          </a:p>
          <a:p>
            <a:pPr lvl="1"/>
            <a:r>
              <a:rPr lang="en-US" dirty="0"/>
              <a:t>You can open txt files in Excel </a:t>
            </a:r>
          </a:p>
          <a:p>
            <a:r>
              <a:rPr lang="en-US" dirty="0"/>
              <a:t>Feel free to look genes up! </a:t>
            </a:r>
          </a:p>
        </p:txBody>
      </p:sp>
    </p:spTree>
    <p:extLst>
      <p:ext uri="{BB962C8B-B14F-4D97-AF65-F5344CB8AC3E}">
        <p14:creationId xmlns:p14="http://schemas.microsoft.com/office/powerpoint/2010/main" val="7039377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9112F-27AC-4F6C-2C30-22C4F3D87D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D63B50-EDFB-B7B8-88EF-703FBB58451A}"/>
              </a:ext>
            </a:extLst>
          </p:cNvPr>
          <p:cNvSpPr>
            <a:spLocks noGrp="1"/>
          </p:cNvSpPr>
          <p:nvPr>
            <p:ph type="title"/>
          </p:nvPr>
        </p:nvSpPr>
        <p:spPr>
          <a:xfrm>
            <a:off x="838200" y="111494"/>
            <a:ext cx="10515600" cy="1325563"/>
          </a:xfrm>
        </p:spPr>
        <p:txBody>
          <a:bodyPr/>
          <a:lstStyle/>
          <a:p>
            <a:r>
              <a:rPr lang="en-US" dirty="0"/>
              <a:t>Genes: LDLR is strongest positive hit</a:t>
            </a:r>
          </a:p>
        </p:txBody>
      </p:sp>
      <p:pic>
        <p:nvPicPr>
          <p:cNvPr id="7" name="Picture 6" descr="A screenshot of a spreadsheet&#10;&#10;AI-generated content may be incorrect.">
            <a:extLst>
              <a:ext uri="{FF2B5EF4-FFF2-40B4-BE49-F238E27FC236}">
                <a16:creationId xmlns:a16="http://schemas.microsoft.com/office/drawing/2014/main" id="{5C91A945-69C9-6C74-8557-9E683547E267}"/>
              </a:ext>
            </a:extLst>
          </p:cNvPr>
          <p:cNvPicPr>
            <a:picLocks noChangeAspect="1"/>
          </p:cNvPicPr>
          <p:nvPr/>
        </p:nvPicPr>
        <p:blipFill>
          <a:blip r:embed="rId3"/>
          <a:stretch>
            <a:fillRect/>
          </a:stretch>
        </p:blipFill>
        <p:spPr>
          <a:xfrm>
            <a:off x="1164151" y="1437057"/>
            <a:ext cx="9863698" cy="5055818"/>
          </a:xfrm>
          <a:prstGeom prst="rect">
            <a:avLst/>
          </a:prstGeom>
        </p:spPr>
      </p:pic>
      <p:sp>
        <p:nvSpPr>
          <p:cNvPr id="8" name="Rectangle 7">
            <a:extLst>
              <a:ext uri="{FF2B5EF4-FFF2-40B4-BE49-F238E27FC236}">
                <a16:creationId xmlns:a16="http://schemas.microsoft.com/office/drawing/2014/main" id="{C6E7002D-4525-00F8-75E6-E984EDCB3B0A}"/>
              </a:ext>
            </a:extLst>
          </p:cNvPr>
          <p:cNvSpPr/>
          <p:nvPr/>
        </p:nvSpPr>
        <p:spPr>
          <a:xfrm>
            <a:off x="1222683" y="1666876"/>
            <a:ext cx="350085" cy="18777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5ED7453-179F-84F1-8DA6-9B68A6D745C9}"/>
              </a:ext>
            </a:extLst>
          </p:cNvPr>
          <p:cNvSpPr/>
          <p:nvPr/>
        </p:nvSpPr>
        <p:spPr>
          <a:xfrm>
            <a:off x="2314421" y="1666875"/>
            <a:ext cx="350085" cy="18777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E88B2AF-017B-16BA-933D-04763AABFFB6}"/>
              </a:ext>
            </a:extLst>
          </p:cNvPr>
          <p:cNvSpPr/>
          <p:nvPr/>
        </p:nvSpPr>
        <p:spPr>
          <a:xfrm>
            <a:off x="8949791" y="1479096"/>
            <a:ext cx="598811" cy="18778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950359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293EA-E278-100A-6274-31C4E480DB19}"/>
              </a:ext>
            </a:extLst>
          </p:cNvPr>
          <p:cNvSpPr>
            <a:spLocks noGrp="1"/>
          </p:cNvSpPr>
          <p:nvPr>
            <p:ph type="title"/>
          </p:nvPr>
        </p:nvSpPr>
        <p:spPr/>
        <p:txBody>
          <a:bodyPr/>
          <a:lstStyle/>
          <a:p>
            <a:r>
              <a:rPr lang="en-US" dirty="0"/>
              <a:t>Genes: MYLIP is strongest negative hit </a:t>
            </a:r>
          </a:p>
        </p:txBody>
      </p:sp>
      <p:pic>
        <p:nvPicPr>
          <p:cNvPr id="5" name="Content Placeholder 4" descr="A table of numbers and symbols&#10;&#10;AI-generated content may be incorrect.">
            <a:extLst>
              <a:ext uri="{FF2B5EF4-FFF2-40B4-BE49-F238E27FC236}">
                <a16:creationId xmlns:a16="http://schemas.microsoft.com/office/drawing/2014/main" id="{3B8DCE8A-EF30-A8CA-8812-94B253841075}"/>
              </a:ext>
            </a:extLst>
          </p:cNvPr>
          <p:cNvPicPr>
            <a:picLocks noGrp="1" noChangeAspect="1"/>
          </p:cNvPicPr>
          <p:nvPr>
            <p:ph idx="1"/>
          </p:nvPr>
        </p:nvPicPr>
        <p:blipFill>
          <a:blip r:embed="rId3"/>
          <a:stretch>
            <a:fillRect/>
          </a:stretch>
        </p:blipFill>
        <p:spPr>
          <a:xfrm>
            <a:off x="1572768" y="1514475"/>
            <a:ext cx="9300363" cy="5098883"/>
          </a:xfrm>
        </p:spPr>
      </p:pic>
      <p:sp>
        <p:nvSpPr>
          <p:cNvPr id="6" name="Rectangle 5">
            <a:extLst>
              <a:ext uri="{FF2B5EF4-FFF2-40B4-BE49-F238E27FC236}">
                <a16:creationId xmlns:a16="http://schemas.microsoft.com/office/drawing/2014/main" id="{222C318B-D5FE-3381-D899-ADC171951D2B}"/>
              </a:ext>
            </a:extLst>
          </p:cNvPr>
          <p:cNvSpPr/>
          <p:nvPr/>
        </p:nvSpPr>
        <p:spPr>
          <a:xfrm>
            <a:off x="1572768" y="1688623"/>
            <a:ext cx="350085" cy="15594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9C1128E-2A3F-B00A-AE7F-C8961E198DB5}"/>
              </a:ext>
            </a:extLst>
          </p:cNvPr>
          <p:cNvSpPr/>
          <p:nvPr/>
        </p:nvSpPr>
        <p:spPr>
          <a:xfrm>
            <a:off x="4879497" y="1503406"/>
            <a:ext cx="598811" cy="18778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821488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61849-A7C5-BEC7-BF0C-1C924FD053CC}"/>
              </a:ext>
            </a:extLst>
          </p:cNvPr>
          <p:cNvSpPr>
            <a:spLocks noGrp="1"/>
          </p:cNvSpPr>
          <p:nvPr>
            <p:ph type="title"/>
          </p:nvPr>
        </p:nvSpPr>
        <p:spPr/>
        <p:txBody>
          <a:bodyPr/>
          <a:lstStyle/>
          <a:p>
            <a:r>
              <a:rPr lang="en-US" dirty="0"/>
              <a:t>sgRNAs: What are the top hits? </a:t>
            </a:r>
          </a:p>
        </p:txBody>
      </p:sp>
      <p:pic>
        <p:nvPicPr>
          <p:cNvPr id="5" name="Picture 4" descr="A table of numbers and a number&#10;&#10;AI-generated content may be incorrect.">
            <a:extLst>
              <a:ext uri="{FF2B5EF4-FFF2-40B4-BE49-F238E27FC236}">
                <a16:creationId xmlns:a16="http://schemas.microsoft.com/office/drawing/2014/main" id="{4AA95AA7-74FB-3FCB-1C36-5DFE7D0F1314}"/>
              </a:ext>
            </a:extLst>
          </p:cNvPr>
          <p:cNvPicPr>
            <a:picLocks noChangeAspect="1"/>
          </p:cNvPicPr>
          <p:nvPr/>
        </p:nvPicPr>
        <p:blipFill>
          <a:blip r:embed="rId3"/>
          <a:stretch>
            <a:fillRect/>
          </a:stretch>
        </p:blipFill>
        <p:spPr>
          <a:xfrm>
            <a:off x="1591670" y="1690688"/>
            <a:ext cx="9008660" cy="4462546"/>
          </a:xfrm>
          <a:prstGeom prst="rect">
            <a:avLst/>
          </a:prstGeom>
        </p:spPr>
      </p:pic>
      <p:sp>
        <p:nvSpPr>
          <p:cNvPr id="13" name="Rectangle 12">
            <a:extLst>
              <a:ext uri="{FF2B5EF4-FFF2-40B4-BE49-F238E27FC236}">
                <a16:creationId xmlns:a16="http://schemas.microsoft.com/office/drawing/2014/main" id="{A399F4EC-36D0-771B-538E-504A5A944043}"/>
              </a:ext>
            </a:extLst>
          </p:cNvPr>
          <p:cNvSpPr/>
          <p:nvPr/>
        </p:nvSpPr>
        <p:spPr>
          <a:xfrm>
            <a:off x="1591670" y="1815152"/>
            <a:ext cx="1096939" cy="15012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012289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891EF-BE73-F410-7D04-A3B1EA455019}"/>
              </a:ext>
            </a:extLst>
          </p:cNvPr>
          <p:cNvSpPr>
            <a:spLocks noGrp="1"/>
          </p:cNvSpPr>
          <p:nvPr>
            <p:ph type="title"/>
          </p:nvPr>
        </p:nvSpPr>
        <p:spPr/>
        <p:txBody>
          <a:bodyPr/>
          <a:lstStyle/>
          <a:p>
            <a:r>
              <a:rPr lang="en-US" dirty="0"/>
              <a:t>How could we follow up on our CRISPR screen? </a:t>
            </a:r>
          </a:p>
        </p:txBody>
      </p:sp>
    </p:spTree>
    <p:extLst>
      <p:ext uri="{BB962C8B-B14F-4D97-AF65-F5344CB8AC3E}">
        <p14:creationId xmlns:p14="http://schemas.microsoft.com/office/powerpoint/2010/main" val="32618940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761E4-7FDF-A3CB-CB15-1EA18B254F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35751E-D831-ACE2-507B-144AEBFF91F4}"/>
              </a:ext>
            </a:extLst>
          </p:cNvPr>
          <p:cNvSpPr>
            <a:spLocks noGrp="1"/>
          </p:cNvSpPr>
          <p:nvPr>
            <p:ph type="title"/>
          </p:nvPr>
        </p:nvSpPr>
        <p:spPr/>
        <p:txBody>
          <a:bodyPr/>
          <a:lstStyle/>
          <a:p>
            <a:r>
              <a:rPr lang="en-US" dirty="0"/>
              <a:t>How could we follow up on our CRISPR screen? </a:t>
            </a:r>
          </a:p>
        </p:txBody>
      </p:sp>
      <p:sp>
        <p:nvSpPr>
          <p:cNvPr id="3" name="Content Placeholder 2">
            <a:extLst>
              <a:ext uri="{FF2B5EF4-FFF2-40B4-BE49-F238E27FC236}">
                <a16:creationId xmlns:a16="http://schemas.microsoft.com/office/drawing/2014/main" id="{E92DB48F-D8DF-98FD-1338-5AD810645E25}"/>
              </a:ext>
            </a:extLst>
          </p:cNvPr>
          <p:cNvSpPr>
            <a:spLocks noGrp="1"/>
          </p:cNvSpPr>
          <p:nvPr>
            <p:ph idx="1"/>
          </p:nvPr>
        </p:nvSpPr>
        <p:spPr>
          <a:xfrm>
            <a:off x="838200" y="1825625"/>
            <a:ext cx="10515600" cy="4667250"/>
          </a:xfrm>
        </p:spPr>
        <p:txBody>
          <a:bodyPr>
            <a:normAutofit fontScale="92500" lnSpcReduction="10000"/>
          </a:bodyPr>
          <a:lstStyle/>
          <a:p>
            <a:r>
              <a:rPr lang="en-US" dirty="0"/>
              <a:t>Orthogonal validations of top hits in screen</a:t>
            </a:r>
          </a:p>
          <a:p>
            <a:pPr lvl="1"/>
            <a:r>
              <a:rPr lang="en-US" dirty="0"/>
              <a:t>Doing individual Cas9 KO</a:t>
            </a:r>
          </a:p>
          <a:p>
            <a:r>
              <a:rPr lang="en-US" dirty="0" err="1"/>
              <a:t>CRISPRi</a:t>
            </a:r>
            <a:endParaRPr lang="en-US" dirty="0"/>
          </a:p>
          <a:p>
            <a:r>
              <a:rPr lang="en-US" dirty="0"/>
              <a:t>ORF overexpression</a:t>
            </a:r>
          </a:p>
          <a:p>
            <a:r>
              <a:rPr lang="en-US" dirty="0" err="1"/>
              <a:t>CRISPRa</a:t>
            </a:r>
            <a:endParaRPr lang="en-US" dirty="0"/>
          </a:p>
          <a:p>
            <a:r>
              <a:rPr lang="en-US" dirty="0"/>
              <a:t>Data exploration:</a:t>
            </a:r>
          </a:p>
          <a:p>
            <a:pPr lvl="1"/>
            <a:r>
              <a:rPr lang="en-US" dirty="0"/>
              <a:t>Violin plot</a:t>
            </a:r>
          </a:p>
          <a:p>
            <a:pPr lvl="1"/>
            <a:r>
              <a:rPr lang="en-US" dirty="0"/>
              <a:t>Gene set enrichment analysis</a:t>
            </a:r>
          </a:p>
          <a:p>
            <a:r>
              <a:rPr lang="en-US" dirty="0"/>
              <a:t>Further screening:</a:t>
            </a:r>
          </a:p>
          <a:p>
            <a:pPr lvl="1"/>
            <a:r>
              <a:rPr lang="en-US" dirty="0"/>
              <a:t>Gene targeting CRISPR screens</a:t>
            </a:r>
          </a:p>
          <a:p>
            <a:pPr lvl="1"/>
            <a:r>
              <a:rPr lang="en-US" dirty="0"/>
              <a:t>Variant scanning screens (BE/PE)</a:t>
            </a:r>
          </a:p>
        </p:txBody>
      </p:sp>
    </p:spTree>
    <p:extLst>
      <p:ext uri="{BB962C8B-B14F-4D97-AF65-F5344CB8AC3E}">
        <p14:creationId xmlns:p14="http://schemas.microsoft.com/office/powerpoint/2010/main" val="25455669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9E06C-1A2B-9575-D4FB-3C42B5F44877}"/>
              </a:ext>
            </a:extLst>
          </p:cNvPr>
          <p:cNvSpPr>
            <a:spLocks noGrp="1"/>
          </p:cNvSpPr>
          <p:nvPr>
            <p:ph type="title"/>
          </p:nvPr>
        </p:nvSpPr>
        <p:spPr/>
        <p:txBody>
          <a:bodyPr/>
          <a:lstStyle/>
          <a:p>
            <a:r>
              <a:rPr lang="en-US" dirty="0"/>
              <a:t>Volcano plots</a:t>
            </a:r>
          </a:p>
        </p:txBody>
      </p:sp>
      <p:pic>
        <p:nvPicPr>
          <p:cNvPr id="5" name="Content Placeholder 4" descr="A graph of a volcano plot&#10;&#10;AI-generated content may be incorrect.">
            <a:extLst>
              <a:ext uri="{FF2B5EF4-FFF2-40B4-BE49-F238E27FC236}">
                <a16:creationId xmlns:a16="http://schemas.microsoft.com/office/drawing/2014/main" id="{F2EC9B8F-4AF7-F11E-1B98-E60E9F1A0121}"/>
              </a:ext>
            </a:extLst>
          </p:cNvPr>
          <p:cNvPicPr>
            <a:picLocks noGrp="1" noChangeAspect="1"/>
          </p:cNvPicPr>
          <p:nvPr>
            <p:ph idx="1"/>
          </p:nvPr>
        </p:nvPicPr>
        <p:blipFill>
          <a:blip r:embed="rId2"/>
          <a:stretch>
            <a:fillRect/>
          </a:stretch>
        </p:blipFill>
        <p:spPr>
          <a:xfrm>
            <a:off x="7923262" y="1881554"/>
            <a:ext cx="4050736" cy="3362876"/>
          </a:xfrm>
        </p:spPr>
      </p:pic>
      <p:pic>
        <p:nvPicPr>
          <p:cNvPr id="7" name="Picture 6" descr="A graph of a volcano plot&#10;&#10;AI-generated content may be incorrect.">
            <a:extLst>
              <a:ext uri="{FF2B5EF4-FFF2-40B4-BE49-F238E27FC236}">
                <a16:creationId xmlns:a16="http://schemas.microsoft.com/office/drawing/2014/main" id="{853E6A4F-84D5-676B-2662-450B3A77D536}"/>
              </a:ext>
            </a:extLst>
          </p:cNvPr>
          <p:cNvPicPr>
            <a:picLocks noChangeAspect="1"/>
          </p:cNvPicPr>
          <p:nvPr/>
        </p:nvPicPr>
        <p:blipFill>
          <a:blip r:embed="rId3"/>
          <a:stretch>
            <a:fillRect/>
          </a:stretch>
        </p:blipFill>
        <p:spPr>
          <a:xfrm>
            <a:off x="0" y="1881554"/>
            <a:ext cx="4050737" cy="3362876"/>
          </a:xfrm>
          <a:prstGeom prst="rect">
            <a:avLst/>
          </a:prstGeom>
        </p:spPr>
      </p:pic>
      <p:pic>
        <p:nvPicPr>
          <p:cNvPr id="9" name="Picture 8" descr="A graph of a volcano plot&#10;&#10;AI-generated content may be incorrect.">
            <a:extLst>
              <a:ext uri="{FF2B5EF4-FFF2-40B4-BE49-F238E27FC236}">
                <a16:creationId xmlns:a16="http://schemas.microsoft.com/office/drawing/2014/main" id="{6F16D348-457F-DF73-8EED-35110AEF481D}"/>
              </a:ext>
            </a:extLst>
          </p:cNvPr>
          <p:cNvPicPr>
            <a:picLocks noChangeAspect="1"/>
          </p:cNvPicPr>
          <p:nvPr/>
        </p:nvPicPr>
        <p:blipFill>
          <a:blip r:embed="rId4"/>
          <a:stretch>
            <a:fillRect/>
          </a:stretch>
        </p:blipFill>
        <p:spPr>
          <a:xfrm>
            <a:off x="4050737" y="1881554"/>
            <a:ext cx="4050737" cy="3362876"/>
          </a:xfrm>
          <a:prstGeom prst="rect">
            <a:avLst/>
          </a:prstGeom>
        </p:spPr>
      </p:pic>
    </p:spTree>
    <p:extLst>
      <p:ext uri="{BB962C8B-B14F-4D97-AF65-F5344CB8AC3E}">
        <p14:creationId xmlns:p14="http://schemas.microsoft.com/office/powerpoint/2010/main" val="32183832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232"/>
        <p:cNvGrpSpPr/>
        <p:nvPr/>
      </p:nvGrpSpPr>
      <p:grpSpPr>
        <a:xfrm>
          <a:off x="0" y="0"/>
          <a:ext cx="0" cy="0"/>
          <a:chOff x="0" y="0"/>
          <a:chExt cx="0" cy="0"/>
        </a:xfrm>
      </p:grpSpPr>
      <p:sp>
        <p:nvSpPr>
          <p:cNvPr id="1234" name="Google Shape;1234;p42"/>
          <p:cNvSpPr/>
          <p:nvPr/>
        </p:nvSpPr>
        <p:spPr>
          <a:xfrm>
            <a:off x="838200" y="2740025"/>
            <a:ext cx="12192000" cy="45720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35" name="Google Shape;1235;p42"/>
          <p:cNvSpPr txBox="1"/>
          <p:nvPr/>
        </p:nvSpPr>
        <p:spPr>
          <a:xfrm>
            <a:off x="838200" y="1188059"/>
            <a:ext cx="10515600" cy="5212741"/>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90000"/>
              </a:lnSpc>
              <a:spcBef>
                <a:spcPts val="0"/>
              </a:spcBef>
              <a:spcAft>
                <a:spcPts val="0"/>
              </a:spcAft>
              <a:buClr>
                <a:schemeClr val="dk1"/>
              </a:buClr>
              <a:buSzPts val="2800"/>
              <a:buFont typeface="Arial"/>
              <a:buChar char="•"/>
            </a:pPr>
            <a:r>
              <a:rPr lang="en-US" sz="2800" dirty="0">
                <a:solidFill>
                  <a:schemeClr val="dk1"/>
                </a:solidFill>
                <a:latin typeface="Aptos" panose="020B0004020202020204" pitchFamily="34" charset="0"/>
                <a:ea typeface="Arial"/>
                <a:cs typeface="Arial"/>
                <a:sym typeface="Arial"/>
              </a:rPr>
              <a:t>Inputs: Gene sets (i.e. sharing a GO category, part of a metabolic pathway), gene expression data, ranking metric (ex. LFC)</a:t>
            </a:r>
            <a:endParaRPr dirty="0">
              <a:latin typeface="Aptos" panose="020B0004020202020204" pitchFamily="34" charset="0"/>
            </a:endParaRPr>
          </a:p>
          <a:p>
            <a:pPr marL="228600" marR="0" lvl="0" indent="-228600" algn="l" rtl="0">
              <a:lnSpc>
                <a:spcPct val="90000"/>
              </a:lnSpc>
              <a:spcBef>
                <a:spcPts val="1000"/>
              </a:spcBef>
              <a:spcAft>
                <a:spcPts val="0"/>
              </a:spcAft>
              <a:buClr>
                <a:schemeClr val="dk1"/>
              </a:buClr>
              <a:buSzPts val="2800"/>
              <a:buFont typeface="Arial"/>
              <a:buChar char="•"/>
            </a:pPr>
            <a:r>
              <a:rPr lang="en-US" sz="2800" dirty="0">
                <a:solidFill>
                  <a:schemeClr val="dk1"/>
                </a:solidFill>
                <a:latin typeface="Aptos" panose="020B0004020202020204" pitchFamily="34" charset="0"/>
                <a:ea typeface="Arial"/>
                <a:cs typeface="Arial"/>
                <a:sym typeface="Arial"/>
              </a:rPr>
              <a:t>Outputs: A list of modules, each of which has:</a:t>
            </a:r>
            <a:endParaRPr dirty="0">
              <a:latin typeface="Aptos" panose="020B0004020202020204" pitchFamily="34" charset="0"/>
            </a:endParaRPr>
          </a:p>
          <a:p>
            <a:pPr marL="228600" marR="0" lvl="0" indent="-228600" algn="l" rtl="0">
              <a:lnSpc>
                <a:spcPct val="90000"/>
              </a:lnSpc>
              <a:spcBef>
                <a:spcPts val="1000"/>
              </a:spcBef>
              <a:spcAft>
                <a:spcPts val="0"/>
              </a:spcAft>
              <a:buClr>
                <a:schemeClr val="dk1"/>
              </a:buClr>
              <a:buSzPts val="2800"/>
              <a:buFont typeface="Arial"/>
              <a:buChar char="•"/>
            </a:pPr>
            <a:r>
              <a:rPr lang="en-US" sz="2800" dirty="0">
                <a:solidFill>
                  <a:schemeClr val="dk1"/>
                </a:solidFill>
                <a:latin typeface="Aptos" panose="020B0004020202020204" pitchFamily="34" charset="0"/>
                <a:ea typeface="Arial"/>
                <a:cs typeface="Arial"/>
                <a:sym typeface="Arial"/>
              </a:rPr>
              <a:t>Enrichment score (es), Normalized enrichment score (</a:t>
            </a:r>
            <a:r>
              <a:rPr lang="en-US" sz="2800" dirty="0" err="1">
                <a:solidFill>
                  <a:schemeClr val="dk1"/>
                </a:solidFill>
                <a:latin typeface="Aptos" panose="020B0004020202020204" pitchFamily="34" charset="0"/>
                <a:ea typeface="Arial"/>
                <a:cs typeface="Arial"/>
                <a:sym typeface="Arial"/>
              </a:rPr>
              <a:t>nes</a:t>
            </a:r>
            <a:r>
              <a:rPr lang="en-US" sz="2800" dirty="0">
                <a:solidFill>
                  <a:schemeClr val="dk1"/>
                </a:solidFill>
                <a:latin typeface="Aptos" panose="020B0004020202020204" pitchFamily="34" charset="0"/>
                <a:ea typeface="Arial"/>
                <a:cs typeface="Arial"/>
                <a:sym typeface="Arial"/>
              </a:rPr>
              <a:t>), False discovery rate (FDR), p-value (p)</a:t>
            </a:r>
            <a:endParaRPr dirty="0">
              <a:latin typeface="Aptos" panose="020B0004020202020204" pitchFamily="34" charset="0"/>
            </a:endParaRPr>
          </a:p>
          <a:p>
            <a:pPr marL="228600" marR="0" lvl="0" indent="-228600" algn="l" rtl="0">
              <a:lnSpc>
                <a:spcPct val="90000"/>
              </a:lnSpc>
              <a:spcBef>
                <a:spcPts val="1000"/>
              </a:spcBef>
              <a:spcAft>
                <a:spcPts val="0"/>
              </a:spcAft>
              <a:buClr>
                <a:schemeClr val="dk1"/>
              </a:buClr>
              <a:buSzPts val="2800"/>
              <a:buFont typeface="Arial"/>
              <a:buChar char="•"/>
            </a:pPr>
            <a:r>
              <a:rPr lang="en-US" sz="2800" dirty="0">
                <a:solidFill>
                  <a:schemeClr val="dk1"/>
                </a:solidFill>
                <a:latin typeface="Aptos" panose="020B0004020202020204" pitchFamily="34" charset="0"/>
                <a:ea typeface="Arial"/>
                <a:cs typeface="Arial"/>
                <a:sym typeface="Arial"/>
              </a:rPr>
              <a:t>es: How overrepresented members of gene list are at top or bottom of ranked list of all genes</a:t>
            </a:r>
            <a:endParaRPr dirty="0">
              <a:latin typeface="Aptos" panose="020B0004020202020204" pitchFamily="34" charset="0"/>
            </a:endParaRPr>
          </a:p>
          <a:p>
            <a:pPr marL="228600" marR="0" lvl="0" indent="-228600" algn="l" rtl="0">
              <a:lnSpc>
                <a:spcPct val="90000"/>
              </a:lnSpc>
              <a:spcBef>
                <a:spcPts val="1000"/>
              </a:spcBef>
              <a:spcAft>
                <a:spcPts val="0"/>
              </a:spcAft>
              <a:buClr>
                <a:schemeClr val="dk1"/>
              </a:buClr>
              <a:buSzPts val="2800"/>
              <a:buFont typeface="Arial"/>
              <a:buChar char="•"/>
            </a:pPr>
            <a:r>
              <a:rPr lang="en-US" sz="2800" dirty="0" err="1">
                <a:solidFill>
                  <a:schemeClr val="dk1"/>
                </a:solidFill>
                <a:latin typeface="Aptos" panose="020B0004020202020204" pitchFamily="34" charset="0"/>
                <a:ea typeface="Arial"/>
                <a:cs typeface="Arial"/>
                <a:sym typeface="Arial"/>
              </a:rPr>
              <a:t>nes</a:t>
            </a:r>
            <a:r>
              <a:rPr lang="en-US" sz="2800" dirty="0">
                <a:solidFill>
                  <a:schemeClr val="dk1"/>
                </a:solidFill>
                <a:latin typeface="Aptos" panose="020B0004020202020204" pitchFamily="34" charset="0"/>
                <a:ea typeface="Arial"/>
                <a:cs typeface="Arial"/>
                <a:sym typeface="Arial"/>
              </a:rPr>
              <a:t>: es/mean of es against all permutations of the dataset</a:t>
            </a:r>
            <a:endParaRPr dirty="0">
              <a:latin typeface="Aptos" panose="020B0004020202020204" pitchFamily="34" charset="0"/>
            </a:endParaRPr>
          </a:p>
          <a:p>
            <a:pPr marL="228600" marR="0" lvl="0" indent="-228600" algn="l" rtl="0">
              <a:lnSpc>
                <a:spcPct val="90000"/>
              </a:lnSpc>
              <a:spcBef>
                <a:spcPts val="1000"/>
              </a:spcBef>
              <a:spcAft>
                <a:spcPts val="0"/>
              </a:spcAft>
              <a:buClr>
                <a:schemeClr val="dk1"/>
              </a:buClr>
              <a:buSzPts val="2800"/>
              <a:buFont typeface="Arial"/>
              <a:buChar char="•"/>
            </a:pPr>
            <a:r>
              <a:rPr lang="en-US" sz="2800" dirty="0">
                <a:solidFill>
                  <a:schemeClr val="dk1"/>
                </a:solidFill>
                <a:latin typeface="Aptos" panose="020B0004020202020204" pitchFamily="34" charset="0"/>
                <a:ea typeface="Arial"/>
                <a:cs typeface="Arial"/>
                <a:sym typeface="Arial"/>
              </a:rPr>
              <a:t>FDR: est. probability that gene set with given </a:t>
            </a:r>
            <a:r>
              <a:rPr lang="en-US" sz="2800" dirty="0" err="1">
                <a:solidFill>
                  <a:schemeClr val="dk1"/>
                </a:solidFill>
                <a:latin typeface="Aptos" panose="020B0004020202020204" pitchFamily="34" charset="0"/>
                <a:ea typeface="Arial"/>
                <a:cs typeface="Arial"/>
                <a:sym typeface="Arial"/>
              </a:rPr>
              <a:t>nes</a:t>
            </a:r>
            <a:r>
              <a:rPr lang="en-US" sz="2800" dirty="0">
                <a:solidFill>
                  <a:schemeClr val="dk1"/>
                </a:solidFill>
                <a:latin typeface="Aptos" panose="020B0004020202020204" pitchFamily="34" charset="0"/>
                <a:ea typeface="Arial"/>
                <a:cs typeface="Arial"/>
                <a:sym typeface="Arial"/>
              </a:rPr>
              <a:t> is a false positive</a:t>
            </a:r>
            <a:endParaRPr dirty="0">
              <a:latin typeface="Aptos" panose="020B0004020202020204" pitchFamily="34" charset="0"/>
            </a:endParaRPr>
          </a:p>
          <a:p>
            <a:pPr marL="228600" marR="0" lvl="0" indent="-228600" algn="l" rtl="0">
              <a:lnSpc>
                <a:spcPct val="90000"/>
              </a:lnSpc>
              <a:spcBef>
                <a:spcPts val="1000"/>
              </a:spcBef>
              <a:spcAft>
                <a:spcPts val="0"/>
              </a:spcAft>
              <a:buClr>
                <a:schemeClr val="dk1"/>
              </a:buClr>
              <a:buSzPts val="2800"/>
              <a:buFont typeface="Arial"/>
              <a:buChar char="•"/>
            </a:pPr>
            <a:r>
              <a:rPr lang="en-US" sz="2800" dirty="0">
                <a:solidFill>
                  <a:schemeClr val="dk1"/>
                </a:solidFill>
                <a:latin typeface="Aptos" panose="020B0004020202020204" pitchFamily="34" charset="0"/>
                <a:ea typeface="Arial"/>
                <a:cs typeface="Arial"/>
                <a:sym typeface="Arial"/>
              </a:rPr>
              <a:t>P-value: Not adjusted for gene set size, multiple hypothesis testing</a:t>
            </a:r>
            <a:endParaRPr dirty="0">
              <a:latin typeface="Aptos" panose="020B0004020202020204" pitchFamily="34" charset="0"/>
            </a:endParaRPr>
          </a:p>
          <a:p>
            <a:pPr marL="228600" marR="0" lvl="0" indent="-50800" algn="l" rtl="0">
              <a:lnSpc>
                <a:spcPct val="90000"/>
              </a:lnSpc>
              <a:spcBef>
                <a:spcPts val="1000"/>
              </a:spcBef>
              <a:spcAft>
                <a:spcPts val="0"/>
              </a:spcAft>
              <a:buClr>
                <a:schemeClr val="dk1"/>
              </a:buClr>
              <a:buSzPts val="2800"/>
              <a:buFont typeface="Arial"/>
              <a:buNone/>
            </a:pPr>
            <a:endParaRPr sz="2800" dirty="0">
              <a:solidFill>
                <a:schemeClr val="dk1"/>
              </a:solidFill>
              <a:latin typeface="Arial"/>
              <a:ea typeface="Arial"/>
              <a:cs typeface="Arial"/>
              <a:sym typeface="Arial"/>
            </a:endParaRPr>
          </a:p>
        </p:txBody>
      </p:sp>
      <p:sp>
        <p:nvSpPr>
          <p:cNvPr id="2" name="Title 1">
            <a:extLst>
              <a:ext uri="{FF2B5EF4-FFF2-40B4-BE49-F238E27FC236}">
                <a16:creationId xmlns:a16="http://schemas.microsoft.com/office/drawing/2014/main" id="{2CE770F9-D47E-2D48-FB74-B031D469A01A}"/>
              </a:ext>
            </a:extLst>
          </p:cNvPr>
          <p:cNvSpPr txBox="1">
            <a:spLocks/>
          </p:cNvSpPr>
          <p:nvPr/>
        </p:nvSpPr>
        <p:spPr>
          <a:xfrm>
            <a:off x="838200" y="187704"/>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Co-essential GSEA</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763CE-5D8F-19A2-0E7C-CBAEE37A747E}"/>
              </a:ext>
            </a:extLst>
          </p:cNvPr>
          <p:cNvSpPr>
            <a:spLocks noGrp="1"/>
          </p:cNvSpPr>
          <p:nvPr>
            <p:ph type="title"/>
          </p:nvPr>
        </p:nvSpPr>
        <p:spPr/>
        <p:txBody>
          <a:bodyPr/>
          <a:lstStyle/>
          <a:p>
            <a:r>
              <a:rPr lang="en-US" dirty="0"/>
              <a:t>Summary </a:t>
            </a:r>
          </a:p>
        </p:txBody>
      </p:sp>
      <p:sp>
        <p:nvSpPr>
          <p:cNvPr id="3" name="Content Placeholder 2">
            <a:extLst>
              <a:ext uri="{FF2B5EF4-FFF2-40B4-BE49-F238E27FC236}">
                <a16:creationId xmlns:a16="http://schemas.microsoft.com/office/drawing/2014/main" id="{5304572C-573D-3672-9035-30AA01BFAB74}"/>
              </a:ext>
            </a:extLst>
          </p:cNvPr>
          <p:cNvSpPr>
            <a:spLocks noGrp="1"/>
          </p:cNvSpPr>
          <p:nvPr>
            <p:ph idx="1"/>
          </p:nvPr>
        </p:nvSpPr>
        <p:spPr/>
        <p:txBody>
          <a:bodyPr/>
          <a:lstStyle/>
          <a:p>
            <a:r>
              <a:rPr lang="en-US" dirty="0" err="1"/>
              <a:t>MAGeCK</a:t>
            </a:r>
            <a:r>
              <a:rPr lang="en-US" dirty="0"/>
              <a:t> provides a broadly applicable and accessible platform for analyzing CRISPR screen data</a:t>
            </a:r>
          </a:p>
          <a:p>
            <a:r>
              <a:rPr lang="en-US" dirty="0" err="1"/>
              <a:t>MAGeCK</a:t>
            </a:r>
            <a:r>
              <a:rPr lang="en-US" dirty="0"/>
              <a:t> can be used to discover genes and pathways relevant to a biological process of interest</a:t>
            </a:r>
          </a:p>
          <a:p>
            <a:r>
              <a:rPr lang="en-US" dirty="0" err="1"/>
              <a:t>MAGeCK</a:t>
            </a:r>
            <a:r>
              <a:rPr lang="en-US" dirty="0"/>
              <a:t> derived scores can fuel downstream discovery</a:t>
            </a:r>
          </a:p>
        </p:txBody>
      </p:sp>
    </p:spTree>
    <p:extLst>
      <p:ext uri="{BB962C8B-B14F-4D97-AF65-F5344CB8AC3E}">
        <p14:creationId xmlns:p14="http://schemas.microsoft.com/office/powerpoint/2010/main" val="30957793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A1948-6818-6F94-4963-D030C272F35F}"/>
              </a:ext>
            </a:extLst>
          </p:cNvPr>
          <p:cNvSpPr>
            <a:spLocks noGrp="1"/>
          </p:cNvSpPr>
          <p:nvPr>
            <p:ph type="title"/>
          </p:nvPr>
        </p:nvSpPr>
        <p:spPr/>
        <p:txBody>
          <a:bodyPr/>
          <a:lstStyle/>
          <a:p>
            <a:r>
              <a:rPr lang="en-US" dirty="0"/>
              <a:t>Further </a:t>
            </a:r>
            <a:r>
              <a:rPr lang="en-US" dirty="0" err="1"/>
              <a:t>MAGeCK</a:t>
            </a:r>
            <a:r>
              <a:rPr lang="en-US" dirty="0"/>
              <a:t> resources: </a:t>
            </a:r>
          </a:p>
        </p:txBody>
      </p:sp>
      <p:sp>
        <p:nvSpPr>
          <p:cNvPr id="3" name="Content Placeholder 2">
            <a:extLst>
              <a:ext uri="{FF2B5EF4-FFF2-40B4-BE49-F238E27FC236}">
                <a16:creationId xmlns:a16="http://schemas.microsoft.com/office/drawing/2014/main" id="{7578EEB6-F2BC-B092-71A4-486BA6E76705}"/>
              </a:ext>
            </a:extLst>
          </p:cNvPr>
          <p:cNvSpPr>
            <a:spLocks noGrp="1"/>
          </p:cNvSpPr>
          <p:nvPr>
            <p:ph idx="1"/>
          </p:nvPr>
        </p:nvSpPr>
        <p:spPr/>
        <p:txBody>
          <a:bodyPr/>
          <a:lstStyle/>
          <a:p>
            <a:r>
              <a:rPr lang="en-US" dirty="0"/>
              <a:t>Shirley Liu’s lecture on </a:t>
            </a:r>
            <a:r>
              <a:rPr lang="en-US" dirty="0" err="1"/>
              <a:t>MAGeCK</a:t>
            </a:r>
            <a:r>
              <a:rPr lang="en-US" dirty="0"/>
              <a:t>:</a:t>
            </a:r>
          </a:p>
          <a:p>
            <a:pPr lvl="1"/>
            <a:r>
              <a:rPr lang="en-US" dirty="0">
                <a:hlinkClick r:id="rId2"/>
              </a:rPr>
              <a:t>https://www.youtube.com/watch?v=7V-Sjv-uQbk&amp;t=1027s</a:t>
            </a:r>
            <a:endParaRPr lang="en-US" dirty="0"/>
          </a:p>
          <a:p>
            <a:r>
              <a:rPr lang="en-US" dirty="0" err="1"/>
              <a:t>MAGeCK</a:t>
            </a:r>
            <a:r>
              <a:rPr lang="en-US" dirty="0"/>
              <a:t> </a:t>
            </a:r>
            <a:r>
              <a:rPr lang="en-US" dirty="0" err="1"/>
              <a:t>github</a:t>
            </a:r>
            <a:r>
              <a:rPr lang="en-US" dirty="0"/>
              <a:t> repository:</a:t>
            </a:r>
          </a:p>
          <a:p>
            <a:pPr lvl="1"/>
            <a:r>
              <a:rPr lang="en-US" dirty="0">
                <a:hlinkClick r:id="rId3"/>
              </a:rPr>
              <a:t>https://github.com/liulab-dfci/MAGeCK</a:t>
            </a:r>
            <a:r>
              <a:rPr lang="en-US" dirty="0"/>
              <a:t>  </a:t>
            </a:r>
          </a:p>
        </p:txBody>
      </p:sp>
    </p:spTree>
    <p:extLst>
      <p:ext uri="{BB962C8B-B14F-4D97-AF65-F5344CB8AC3E}">
        <p14:creationId xmlns:p14="http://schemas.microsoft.com/office/powerpoint/2010/main" val="41892597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28A7D-E699-F01B-8F4A-ABF80C317ACD}"/>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09C00ED4-8F4D-8A52-6F6D-DD0443CF7A80}"/>
              </a:ext>
            </a:extLst>
          </p:cNvPr>
          <p:cNvSpPr>
            <a:spLocks noGrp="1"/>
          </p:cNvSpPr>
          <p:nvPr>
            <p:ph idx="1"/>
          </p:nvPr>
        </p:nvSpPr>
        <p:spPr/>
        <p:txBody>
          <a:bodyPr/>
          <a:lstStyle/>
          <a:p>
            <a:r>
              <a:rPr lang="en-US" dirty="0">
                <a:hlinkClick r:id="rId2"/>
              </a:rPr>
              <a:t>https://link.springer.com/article/10.1186/gb-2010-11-10-r106#Sec1</a:t>
            </a:r>
            <a:endParaRPr lang="en-US" dirty="0"/>
          </a:p>
          <a:p>
            <a:endParaRPr lang="en-US" dirty="0"/>
          </a:p>
          <a:p>
            <a:r>
              <a:rPr lang="en-US" dirty="0">
                <a:hlinkClick r:id="rId3"/>
              </a:rPr>
              <a:t>https://pubmed.ncbi.nlm.nih.gov/25476604/</a:t>
            </a:r>
            <a:r>
              <a:rPr lang="en-US" dirty="0"/>
              <a:t> </a:t>
            </a:r>
          </a:p>
        </p:txBody>
      </p:sp>
    </p:spTree>
    <p:extLst>
      <p:ext uri="{BB962C8B-B14F-4D97-AF65-F5344CB8AC3E}">
        <p14:creationId xmlns:p14="http://schemas.microsoft.com/office/powerpoint/2010/main" val="17492705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1573</TotalTime>
  <Words>3213</Words>
  <Application>Microsoft Macintosh PowerPoint</Application>
  <PresentationFormat>Widescreen</PresentationFormat>
  <Paragraphs>293</Paragraphs>
  <Slides>30</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Aptos</vt:lpstr>
      <vt:lpstr>Aptos Display</vt:lpstr>
      <vt:lpstr>Arial</vt:lpstr>
      <vt:lpstr>Office Theme</vt:lpstr>
      <vt:lpstr>MAGeCK tutorial</vt:lpstr>
      <vt:lpstr>MAGeCK produces effect sizes given NGS data</vt:lpstr>
      <vt:lpstr>MAGeCK produces effect sizes given NGS data</vt:lpstr>
      <vt:lpstr>MAGeCK produces effect sizes given NGS data</vt:lpstr>
      <vt:lpstr>How MAGeCK works</vt:lpstr>
      <vt:lpstr>How MAGeCK works</vt:lpstr>
      <vt:lpstr>How MAGeCK works</vt:lpstr>
      <vt:lpstr>How MAGeCK works</vt:lpstr>
      <vt:lpstr>How MAGeCK works</vt:lpstr>
      <vt:lpstr>LDL uptake screen workflow</vt:lpstr>
      <vt:lpstr>LDL uptake screen workflow</vt:lpstr>
      <vt:lpstr>LDL uptake screen workflow</vt:lpstr>
      <vt:lpstr>LDL uptake screen workflow</vt:lpstr>
      <vt:lpstr>Running MAGeCK on screen data</vt:lpstr>
      <vt:lpstr>Running MAGeCK on screen data</vt:lpstr>
      <vt:lpstr>Running MAGeCK on screen data</vt:lpstr>
      <vt:lpstr>Running MAGeCK on screen data</vt:lpstr>
      <vt:lpstr>What flags are we using? </vt:lpstr>
      <vt:lpstr>MAGeCK output</vt:lpstr>
      <vt:lpstr>Highlights from MAGeCK output </vt:lpstr>
      <vt:lpstr>Genes: LDLR is strongest positive hit</vt:lpstr>
      <vt:lpstr>Genes: MYLIP is strongest negative hit </vt:lpstr>
      <vt:lpstr>sgRNAs: What are the top hits? </vt:lpstr>
      <vt:lpstr>How could we follow up on our CRISPR screen? </vt:lpstr>
      <vt:lpstr>How could we follow up on our CRISPR screen? </vt:lpstr>
      <vt:lpstr>Volcano plots</vt:lpstr>
      <vt:lpstr>PowerPoint Presentation</vt:lpstr>
      <vt:lpstr>Summary </vt:lpstr>
      <vt:lpstr>Further MAGeCK resources: </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Zhou, Phillip</dc:creator>
  <cp:lastModifiedBy>Zhou, Phillip</cp:lastModifiedBy>
  <cp:revision>182</cp:revision>
  <dcterms:created xsi:type="dcterms:W3CDTF">2026-01-12T06:55:08Z</dcterms:created>
  <dcterms:modified xsi:type="dcterms:W3CDTF">2026-01-13T09:08:33Z</dcterms:modified>
</cp:coreProperties>
</file>